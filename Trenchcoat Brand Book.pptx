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embeddedFontLst>
    <p:embeddedFont>
      <p:font typeface="Inter" panose="02000503000000020004" pitchFamily="34" charset="0"/>
      <p:regular r:id="rId36"/>
      <p:bold r:id="rId37"/>
    </p:embeddedFont>
    <p:embeddedFont>
      <p:font typeface="JetBrains Mono" panose="02000009000000000000" pitchFamily="49" charset="0"/>
      <p:regular r:id="rId38"/>
      <p:bold r:id="rId39"/>
    </p:embeddedFont>
    <p:embeddedFont>
      <p:font typeface="Archivo" pitchFamily="34" charset="0"/>
      <p:regular r:id="rId40"/>
      <p:bold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font" Target="fonts/font5.fntdata"/><Relationship Id="rId4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one design language for every application we ship. This book makes the case (why, and what the industry has proven), then shows what Trenchcoat actually looks like, and ends with three decisions we need from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windows are illustrative, but every leader in this room has seen the real versions. The same action carries five names and five looks across our apps. Each switch forces the user to re-learn the interface, and under mission pressure that translation cost turns into slower work and avoidable errors. Fill in the app count from the Phase 1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opinion; it is our own data. The Phase 1 inventory asked every application team for its colors, type, icons, spacing and framework. Drop in the four headline counts from the consolidated workbooks. If the number of distinct primary colors is larger than the number of apps, say so out loud: it means apps are not even consistent with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costs, in the order leadership feels them. Users relearn. Teams duplicate effort, which is pure engineering waste in a converged org of 200-plus engineers. Accessibility compliance is re-earned app by app. And the one that matters most for our mission: inconsistent interfaces erode trust in the data. When the same status looks different in two places, analysts stop trusting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works on two levels, and it is worth a smile in the room. First the joke: a portfolio of separate apps pretending to be one product, like kids stacked in a trench coat. Then the real meaning: the trench coat is a piece of military design that earned its form in the worst conditions and has stayed essentially unchanged for a hundred years because it works. That is the standard we are setting: durable, functional, timeless, and the same coat on every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because leaders will worry about two things: cost and disruption. Trenchcoat is a living product with a backlog and a team, not a PDF of rules. It is also not a forced rewrite: apps adopt tokens and components as they ship their next releases. Close with where it sits: Stratos is the top-down experience initiative, MACH1 is the bottom-up architecture move, and the SuperApps MACH1 produces need one face. Trenchcoat is that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points, one from each angle. Figma (2019): designers completing a calibrated task were 34% faster with a design system; Figma itself frames this as an upper bound. Sparkbox: eight developers built the same contact form from scratch and with IBM Carbon; average time dropped about 47%, even counting time to learn Carbon. McKinsey (2018): 300 public companies over five years; top-quartile design performers had 32 percentage points higher revenue growth and 56 points higher shareholder returns than industry peers. We are not a revenue business, so translate that last one as: organizations that treat design as a discipline outperform. Be candid about the limits; leadership will trust the case more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 system is now table stakes. The commercial leaders on top show scale. The bottom three are our closest peers. USWDS, created in 2015 by 18F and the U.S. Digital Service, was in use at 94 agencies and 160 websites by September 2023. GOV.UK shows shared patterns across a whole government. Astro, from Rocket Communications, was built from operational UX research for satellite operations, command and control and defense software. Atlassian is the most relevant commercial story for us: like our converged org, it had to unify products that were built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patterns that separate design systems that stick from those that become shelfware. The common failure mode is a beautiful design kit that engineering never adopts, or a component library owned by one team that becomes a bottleneck. Our plan is built around all five: tokens first, code and design released together, a federated model, documentation treated as a product, and adoption measured from the code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are how a design system scales judgment, not just pixels. When two teams disagree, these four settle it. Mission first: optimize for the real task. Calm under load: our users work long shifts on dense data, so the interface stays quiet until something needs attention. Accessible by default: compliance moves from each team’s backlog into the shared components. Human in command: this mirrors the Stratos tenet that the human stays in command of superintelligence (SI), and it gives us a consistent way to present SI output across every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set in exactly these three typefaces, so what you are reading is the specimen. Archivo carries headlines. Inter carries the interface and nearly all reading text. JetBrains Mono is reserved for data that must never be misread: identifiers, coordinates, timestamps. All three are SIL Open Font License, which matters in our restricted environment: we bundle the font files with the code and never call out to a commercial font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named styles replace the dozens of ad hoc sizes the inventory found. Each is a token, so teams pick a role (title, body, label), never a pixel value. Compact is the dense-mode body for expert users working large tables. The data style is monospaced with tabular figures so columns of numbers and timestamps line up and nothing is misread.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comes straight from the garment: ink-dark cloth, bone-colored lining, gabardine khaki. Field is a deeper khaki that passes contrast as text on light surfaces. Signal blue is reserved for anything a user can act on, so blue always means clickable across every app. Contrast ratios are computed against WCAG 2.2; every pairing used for text clears 4.5:1. The proportion rule keeps screens calm: when accent color is rare, it reads as a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consistency becomes safety. Today a Flash message or an Urgent task can look different from app to app; under Trenchcoat each of these fourteen meanings has exactly one color everywhere. Three families, each with its own hue range so they never collide: Status (green, amber, red, blue) for system and asset state; Priority (gray through orange to deep red) for work urgency; Precedence (slate through violet and magenta) for message handling order, intensifying as precedence rises. Priority and precedence values are proposed and need to be confirmed against our current usage. Level names follow standard DoD message precedence; confirm they match ours. Every badge also carries the word, and priority and precedence also carry a level marker, because color never carries meaning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ten-step warm neutral ramp does most of the work on any screen: text, borders, surfaces. It is tinted toward the khaki of the brand rather than a cold blue-gray, which is what makes Trenchcoat apps feel related even before any accent appears. Three rules travel with every color in the system: never rely on color alone, treat contrast as a measured number, and ship light and dark values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found multiple icon libraries in use, often mixed inside a single app. Trenchcoat standardizes on one: Lucide, an open-source outline set under the permissive ISC license, which we can self-host. Anything mission-specific that Lucide lacks gets drawn on the same 24 px grid with the same 1.5 px stroke, so new glyphs are indistinguishable from the base set. The grid on the left is the keyline template every icon is drawn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Spacing is the least visible foundation and the one that makes apps feel related. Every margin and padding comes from eight tokens on a 4 px base, so nothing is ever 13 or 17 pixels. Layout uses a 12-column responsive grid. Density is the feature our users will notice: Comfortable for occasional and touch users, Compact for analysts who need more rows on screen. Density is a user setting, and the components respond to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three foundations are deliberately small sets. Four corner radii, four elevation levels and three motion speeds. Fewer choices means apps cannot drift. Motion is functional only: it shows where something came from or went, it is fast, and it switches off for users who set reduced motion in their operating system. Motion and microcopy will be detailed further in the Phase 3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structure of the system, following the atomic design model most mature systems use. Tokens hold the raw decisions. Primitives handle layout. Components are the parts every app needs. Patterns combine components into proven solutions for our workflows, and templates are full page layouts. The core team owns the first three layers outright, because they must be stable. Patterns and templates are co-owned with app teams, because those teams know the mission workflows best. The Phase 2 component inventory tells us which components to build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slide two: Save, Submit, OK, Apply, Commit. This is the fix. Four button variants, each with every state designed, including a high-visibility focus ring for keyboard users, which is a Section 508 requirement teams often miss. The label rule matters as much as the visuals: a button says exactly what it will do. Teams no longer design or code buttons at all; they import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are where most of our users’ time goes, so this is where consistency pays back fastest. The mock shows a default field with helper text, an error state that explains how to fix the input, a focused select, a checkbox and a density toggle. Required fields are marked with the word, not a lone asterisk. Form patterns get a full treatment in the Phase 3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users live in tables and dashboards, so this is the component family that matters most to them. Everything here is assembled from tokens: the stat tiles use status colors plus a word, the table uses the label style for headers, monospace for IDs and times so they align, and the status badges from the semantic color slide. The data is illustrative. In compact density the same table fits roughly half again as many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sets Trenchcoat apart from commercial design systems. As superintelligence (SI) capabilities arrive through the MACH1 orchestration layer, every app will start showing SI output. If each team invents its own way to present it, users will over-trust it in one app and ignore it in another. Trenchcoat standardizes four things: provenance, confidence stated in words, a direct path to evidence, and human control. This puts the Stratos tenet that the human stays in command into the interface itself, and it draws on the trust calibration research behind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Trenchcoat runs, end to end, and every piece is open source and self-hostable, which is a hard requirement in our environment. Designers work in Penpot, an open-source design tool we host ourselves. Token values live as JSON in Git using the W3C Design Tokens Community Group format, the same DTCG compliance question the Phase 1 inventory asked. Style Dictionary turns that one file into CSS variables and TypeScript for light and dark themes. Components are built once as Web Components, so a team on any framework can use them, with thin wrappers for the frameworks the inventory found. Storybook is the documentation site. Packages flow to apps through Nitro and run on Platforma, so Trenchcoat rides the same rails as MACH1.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where most design systems fail, either by becoming a bottleneck or by becoming optional. The federated model avoids both. A small core team owns the foundations. App teams contribute what they need through a lightweight RFC, so the system grows with real demand instead of waiting on the core team. The AERB, which already governs our engineering standards, ratifies Trenchcoat as a standard and resolves disputes. Releases follow semantic versioning so teams can upgrade without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starting from zero. The inventory phases are already giving us the baseline. Foundations land this quarter, in step with the MACH1 foundation window, so the first user-facing deployments in January can already use Trenchcoat tokens. Core components follow, prioritized by how often they appear in the Phase 2 inventory. Adoption is gradual and tied to normal release cycles, not a forced rewrite. Fill in the 2027 quarters once the team is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is one of the Stratos red lines: measure outcomes, not activity. We will not report how many components we built; we will report whether apps adopted them, whether teams ship faster, whether accessibility defects drop and whether users succeed at their tasks. Adoption and reuse come straight from code scans in the pipeline, velocity from Jira, and experience from our own UX research team’s usability testing. Set the targets once the baseline from the inventory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decisions, not discussion. One: make Trenchcoat the standard for new UI work, through the AERB, so it carries the same weight as our other engineering standards. Two: fund a small dedicated core team; a design system run as a side job is the most common way these efforts fail. Three: commit the MACH1 SuperApps to launch on Trenchcoat. That is the cheapest moment to get unification right, because retrofitting later costs far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where we opened: one coat, worn the same way by every app, built for the conditions our users actually work in. Then open the floor, and steer the discussion back to the three decisions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5181C"/>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5181C"/>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5181C"/>
                </a:solidFill>
                <a:latin typeface="Archivo" pitchFamily="34" charset="0"/>
                <a:ea typeface="Archivo" pitchFamily="34" charset="-122"/>
                <a:cs typeface="Archiv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5181C"/>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2.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C"/>
        </a:solidFill>
      </p:bgPr>
    </p:bg>
    <p:spTree>
      <p:nvGrpSpPr>
        <p:cNvPr id="1" name=""/>
        <p:cNvGrpSpPr/>
        <p:nvPr/>
      </p:nvGrpSpPr>
      <p:grpSpPr>
        <a:xfrm>
          <a:off x="0" y="0"/>
          <a:ext cx="0" cy="0"/>
          <a:chOff x="0" y="0"/>
          <a:chExt cx="0" cy="0"/>
        </a:xfrm>
      </p:grpSpPr>
      <p:pic>
        <p:nvPicPr>
          <p:cNvPr id="2" name="Image 0" descr="Abstract trench coat front: khaki panel with lapels, double-breasted buttons and a belt">    </p:cNvPr>
          <p:cNvPicPr>
            <a:picLocks noChangeAspect="1"/>
          </p:cNvPicPr>
          <p:nvPr/>
        </p:nvPicPr>
        <p:blipFill>
          <a:blip r:embed="rId1"/>
          <a:srcRect l="-12" r="-12" t="0" b="0"/>
          <a:stretch/>
        </p:blipFill>
        <p:spPr>
          <a:xfrm>
            <a:off x="8839200" y="0"/>
            <a:ext cx="33528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BRAND BOOK V0.1 · LEADERSHIP BRIEFING</a:t>
            </a:r>
            <a:endParaRPr lang="en-US" sz="1200" dirty="0"/>
          </a:p>
        </p:txBody>
      </p:sp>
      <p:sp>
        <p:nvSpPr>
          <p:cNvPr id="4" name="Text 1"/>
          <p:cNvSpPr/>
          <p:nvPr>
            <p:ph type="title"/>
          </p:nvPr>
        </p:nvSpPr>
        <p:spPr>
          <a:xfrm>
            <a:off x="812800" y="1962200"/>
            <a:ext cx="7586980" cy="2057400"/>
          </a:xfrm>
          <a:prstGeom prst="rect">
            <a:avLst/>
          </a:prstGeom>
          <a:noFill/>
          <a:ln/>
        </p:spPr>
        <p:txBody>
          <a:bodyPr wrap="square" lIns="0" tIns="0" rIns="0" bIns="0" rtlCol="0" anchor="t">
            <a:normAutofit/>
          </a:bodyPr>
          <a:lstStyle/>
          <a:p>
            <a:pPr algn="l" indent="0" marL="0">
              <a:lnSpc>
                <a:spcPts val="8000"/>
              </a:lnSpc>
              <a:buNone/>
            </a:pPr>
            <a:r>
              <a:rPr lang="en-US" sz="8000" b="1" i="0" spc="-150" kern="0" dirty="0">
                <a:solidFill>
                  <a:srgbClr val="F3EFE6"/>
                </a:solidFill>
                <a:latin typeface="Archivo" pitchFamily="34" charset="0"/>
                <a:ea typeface="Archivo" pitchFamily="34" charset="-122"/>
                <a:cs typeface="Archivo" pitchFamily="34" charset="-120"/>
              </a:rPr>
              <a:t>TRENCHCOAT</a:t>
            </a:r>
            <a:endParaRPr lang="en-US" sz="8000" dirty="0"/>
          </a:p>
        </p:txBody>
      </p:sp>
      <p:sp>
        <p:nvSpPr>
          <p:cNvPr id="5" name="Text 2"/>
          <p:cNvSpPr/>
          <p:nvPr/>
        </p:nvSpPr>
        <p:spPr>
          <a:xfrm>
            <a:off x="812800" y="4197400"/>
            <a:ext cx="7586980"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B4A8"/>
                </a:solidFill>
                <a:latin typeface="Inter" pitchFamily="34" charset="0"/>
                <a:ea typeface="Inter" pitchFamily="34" charset="-122"/>
                <a:cs typeface="Inter" pitchFamily="34" charset="-120"/>
              </a:rPr>
              <a:t>One design language for every application we ship.</a:t>
            </a:r>
            <a:endParaRPr lang="en-US" sz="2200" dirty="0"/>
          </a:p>
        </p:txBody>
      </p:sp>
      <p:sp>
        <p:nvSpPr>
          <p:cNvPr id="6" name="Text 3"/>
          <p:cNvSpPr/>
          <p:nvPr/>
        </p:nvSpPr>
        <p:spPr>
          <a:xfrm>
            <a:off x="812800" y="5496620"/>
            <a:ext cx="75869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EFE6"/>
                </a:solidFill>
                <a:latin typeface="Inter" pitchFamily="34" charset="0"/>
                <a:ea typeface="Inter" pitchFamily="34" charset="-122"/>
                <a:cs typeface="Inter" pitchFamily="34" charset="-120"/>
              </a:rPr>
              <a:t>Adam Z. Stavely, M.S. · Technical Director</a:t>
            </a:r>
            <a:endParaRPr lang="en-US" sz="1600" dirty="0"/>
          </a:p>
        </p:txBody>
      </p:sp>
      <p:sp>
        <p:nvSpPr>
          <p:cNvPr id="7" name="Text 4"/>
          <p:cNvSpPr/>
          <p:nvPr/>
        </p:nvSpPr>
        <p:spPr>
          <a:xfrm>
            <a:off x="812800" y="5831880"/>
            <a:ext cx="75869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8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01 · WHY · THE PROBLEM</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EFE6"/>
                </a:solidFill>
                <a:latin typeface="Archivo" pitchFamily="34" charset="0"/>
                <a:ea typeface="Archivo" pitchFamily="34" charset="-122"/>
                <a:cs typeface="Archivo" pitchFamily="34" charset="-120"/>
              </a:rPr>
              <a:t>Our users don’t experience a portfolio. They experience [__] different products.</a:t>
            </a:r>
            <a:endParaRPr lang="en-US" sz="3600" dirty="0"/>
          </a:p>
        </p:txBody>
      </p:sp>
      <p:sp>
        <p:nvSpPr>
          <p:cNvPr id="4" name="Shape 2"/>
          <p:cNvSpPr/>
          <p:nvPr/>
        </p:nvSpPr>
        <p:spPr>
          <a:xfrm>
            <a:off x="812800" y="3678039"/>
            <a:ext cx="1986260" cy="1290241"/>
          </a:xfrm>
          <a:prstGeom prst="roundRect">
            <a:avLst>
              <a:gd name="adj" fmla="val 984"/>
            </a:avLst>
          </a:prstGeom>
          <a:solidFill>
            <a:srgbClr val="ECEEF1"/>
          </a:solidFill>
          <a:ln/>
        </p:spPr>
      </p:sp>
      <p:sp>
        <p:nvSpPr>
          <p:cNvPr id="5" name="Shape 3"/>
          <p:cNvSpPr/>
          <p:nvPr/>
        </p:nvSpPr>
        <p:spPr>
          <a:xfrm>
            <a:off x="812800" y="3678039"/>
            <a:ext cx="1986260" cy="254000"/>
          </a:xfrm>
          <a:custGeom>
            <a:avLst/>
            <a:gdLst/>
            <a:ahLst/>
            <a:cxnLst/>
            <a:rect l="l" t="t" r="r" b="b"/>
            <a:pathLst>
              <a:path w="1986260" h="254000">
                <a:moveTo>
                  <a:pt x="0" y="12700"/>
                </a:moveTo>
                <a:arcTo hR="12700" wR="12700" stAng="10800000" swAng="5400000"/>
                <a:lnTo>
                  <a:pt x="1973560" y="0"/>
                </a:lnTo>
                <a:arcTo hR="12700" wR="12700" stAng="16200000" swAng="5400000"/>
                <a:lnTo>
                  <a:pt x="1986260" y="254000"/>
                </a:lnTo>
                <a:lnTo>
                  <a:pt x="0" y="254000"/>
                </a:lnTo>
                <a:close/>
              </a:path>
            </a:pathLst>
          </a:custGeom>
          <a:solidFill>
            <a:srgbClr val="2B4A7E"/>
          </a:solidFill>
          <a:ln/>
        </p:spPr>
      </p:sp>
      <p:sp>
        <p:nvSpPr>
          <p:cNvPr id="6" name="Text 4"/>
          <p:cNvSpPr/>
          <p:nvPr/>
        </p:nvSpPr>
        <p:spPr>
          <a:xfrm>
            <a:off x="965200" y="4084439"/>
            <a:ext cx="9995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F24"/>
                </a:solidFill>
                <a:latin typeface="Georgia" pitchFamily="18" charset="0"/>
                <a:ea typeface="Georgia" pitchFamily="18" charset="-122"/>
                <a:cs typeface="Georgia" pitchFamily="18" charset="-120"/>
              </a:rPr>
              <a:t>Record 4471</a:t>
            </a:r>
            <a:endParaRPr lang="en-US" sz="1200" dirty="0"/>
          </a:p>
        </p:txBody>
      </p:sp>
      <p:sp>
        <p:nvSpPr>
          <p:cNvPr id="7" name="Text 5"/>
          <p:cNvSpPr/>
          <p:nvPr/>
        </p:nvSpPr>
        <p:spPr>
          <a:xfrm>
            <a:off x="965200" y="4450159"/>
            <a:ext cx="565646" cy="314920"/>
          </a:xfrm>
          <a:prstGeom prst="rect">
            <a:avLst/>
          </a:prstGeom>
          <a:solidFill>
            <a:srgbClr val="2B4A7E"/>
          </a:solidFill>
          <a:ln/>
        </p:spPr>
        <p:txBody>
          <a:bodyPr wrap="none" lIns="0" tIns="0" rIns="0" bIns="0" rtlCol="0" anchor="ctr">
            <a:normAutofit/>
          </a:bodyPr>
          <a:lstStyle/>
          <a:p>
            <a:pPr algn="ctr" indent="0" marL="0">
              <a:lnSpc>
                <a:spcPts val="1680"/>
              </a:lnSpc>
              <a:buNone/>
            </a:pPr>
            <a:r>
              <a:rPr lang="en-US" sz="1200" dirty="0">
                <a:solidFill>
                  <a:srgbClr val="FFFFFF"/>
                </a:solidFill>
                <a:latin typeface="Georgia" pitchFamily="18" charset="0"/>
                <a:ea typeface="Georgia" pitchFamily="18" charset="-122"/>
                <a:cs typeface="Georgia" pitchFamily="18" charset="-120"/>
              </a:rPr>
              <a:t>Save</a:t>
            </a:r>
            <a:endParaRPr lang="en-US" sz="1200" dirty="0"/>
          </a:p>
        </p:txBody>
      </p:sp>
      <p:sp>
        <p:nvSpPr>
          <p:cNvPr id="8" name="Shape 6"/>
          <p:cNvSpPr/>
          <p:nvPr/>
        </p:nvSpPr>
        <p:spPr>
          <a:xfrm>
            <a:off x="2951460" y="3678039"/>
            <a:ext cx="1986310" cy="1290241"/>
          </a:xfrm>
          <a:prstGeom prst="roundRect">
            <a:avLst>
              <a:gd name="adj" fmla="val 7874"/>
            </a:avLst>
          </a:prstGeom>
          <a:solidFill>
            <a:srgbClr val="F7F2E8"/>
          </a:solidFill>
          <a:ln/>
        </p:spPr>
      </p:sp>
      <p:sp>
        <p:nvSpPr>
          <p:cNvPr id="9" name="Shape 7"/>
          <p:cNvSpPr/>
          <p:nvPr/>
        </p:nvSpPr>
        <p:spPr>
          <a:xfrm>
            <a:off x="2951460" y="3678039"/>
            <a:ext cx="1986310" cy="254000"/>
          </a:xfrm>
          <a:custGeom>
            <a:avLst/>
            <a:gdLst/>
            <a:ahLst/>
            <a:cxnLst/>
            <a:rect l="l" t="t" r="r" b="b"/>
            <a:pathLst>
              <a:path w="1986310" h="254000">
                <a:moveTo>
                  <a:pt x="0" y="101600"/>
                </a:moveTo>
                <a:arcTo hR="101600" wR="101600" stAng="10800000" swAng="5400000"/>
                <a:lnTo>
                  <a:pt x="1884710" y="0"/>
                </a:lnTo>
                <a:arcTo hR="101600" wR="101600" stAng="16200000" swAng="5400000"/>
                <a:lnTo>
                  <a:pt x="1986310" y="254000"/>
                </a:lnTo>
                <a:lnTo>
                  <a:pt x="0" y="254000"/>
                </a:lnTo>
                <a:close/>
              </a:path>
            </a:pathLst>
          </a:custGeom>
          <a:solidFill>
            <a:srgbClr val="3E6B48"/>
          </a:solidFill>
          <a:ln/>
        </p:spPr>
      </p:sp>
      <p:sp>
        <p:nvSpPr>
          <p:cNvPr id="10" name="Text 8"/>
          <p:cNvSpPr/>
          <p:nvPr/>
        </p:nvSpPr>
        <p:spPr>
          <a:xfrm>
            <a:off x="3103860" y="4084439"/>
            <a:ext cx="11902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F24"/>
                </a:solidFill>
                <a:latin typeface="Trebuchet MS" pitchFamily="34" charset="0"/>
                <a:ea typeface="Trebuchet MS" pitchFamily="34" charset="-122"/>
                <a:cs typeface="Trebuchet MS" pitchFamily="34" charset="-120"/>
              </a:rPr>
              <a:t>RECORD #4471</a:t>
            </a:r>
            <a:endParaRPr lang="en-US" sz="1200" dirty="0"/>
          </a:p>
        </p:txBody>
      </p:sp>
      <p:sp>
        <p:nvSpPr>
          <p:cNvPr id="11" name="Text 9"/>
          <p:cNvSpPr/>
          <p:nvPr/>
        </p:nvSpPr>
        <p:spPr>
          <a:xfrm>
            <a:off x="3103860" y="4450159"/>
            <a:ext cx="725884" cy="314920"/>
          </a:xfrm>
          <a:prstGeom prst="roundRect">
            <a:avLst>
              <a:gd name="adj" fmla="val 48393"/>
            </a:avLst>
          </a:prstGeom>
          <a:solidFill>
            <a:srgbClr val="3E6B48"/>
          </a:solidFill>
          <a:ln/>
        </p:spPr>
        <p:txBody>
          <a:bodyPr wrap="none" lIns="0" tIns="0" rIns="0" bIns="0" rtlCol="0" anchor="ctr">
            <a:normAutofit/>
          </a:bodyPr>
          <a:lstStyle/>
          <a:p>
            <a:pPr algn="ctr" indent="0" marL="0">
              <a:lnSpc>
                <a:spcPts val="1680"/>
              </a:lnSpc>
              <a:buNone/>
            </a:pPr>
            <a:r>
              <a:rPr lang="en-US" sz="1200" dirty="0">
                <a:solidFill>
                  <a:srgbClr val="FFFFFF"/>
                </a:solidFill>
                <a:latin typeface="Trebuchet MS" pitchFamily="34" charset="0"/>
                <a:ea typeface="Trebuchet MS" pitchFamily="34" charset="-122"/>
                <a:cs typeface="Trebuchet MS" pitchFamily="34" charset="-120"/>
              </a:rPr>
              <a:t>Submit</a:t>
            </a:r>
            <a:endParaRPr lang="en-US" sz="1200" dirty="0"/>
          </a:p>
        </p:txBody>
      </p:sp>
      <p:sp>
        <p:nvSpPr>
          <p:cNvPr id="12" name="Shape 10"/>
          <p:cNvSpPr/>
          <p:nvPr/>
        </p:nvSpPr>
        <p:spPr>
          <a:xfrm>
            <a:off x="5096520" y="3684389"/>
            <a:ext cx="1998960" cy="1277541"/>
          </a:xfrm>
          <a:prstGeom prst="roundRect">
            <a:avLst>
              <a:gd name="adj" fmla="val 2485"/>
            </a:avLst>
          </a:prstGeom>
          <a:solidFill>
            <a:srgbClr val="262B33"/>
          </a:solidFill>
          <a:ln w="12700">
            <a:solidFill>
              <a:srgbClr val="4A5159"/>
            </a:solidFill>
            <a:prstDash val="solid"/>
          </a:ln>
        </p:spPr>
      </p:sp>
      <p:sp>
        <p:nvSpPr>
          <p:cNvPr id="13" name="Shape 11"/>
          <p:cNvSpPr/>
          <p:nvPr/>
        </p:nvSpPr>
        <p:spPr>
          <a:xfrm>
            <a:off x="5102870" y="3690739"/>
            <a:ext cx="1986260" cy="254000"/>
          </a:xfrm>
          <a:custGeom>
            <a:avLst/>
            <a:gdLst/>
            <a:ahLst/>
            <a:cxnLst/>
            <a:rect l="l" t="t" r="r" b="b"/>
            <a:pathLst>
              <a:path w="1986260" h="254000">
                <a:moveTo>
                  <a:pt x="0" y="25400"/>
                </a:moveTo>
                <a:arcTo hR="25400" wR="25400" stAng="10800000" swAng="5400000"/>
                <a:lnTo>
                  <a:pt x="1960860" y="0"/>
                </a:lnTo>
                <a:arcTo hR="25400" wR="25400" stAng="16200000" swAng="5400000"/>
                <a:lnTo>
                  <a:pt x="1986260" y="254000"/>
                </a:lnTo>
                <a:lnTo>
                  <a:pt x="0" y="254000"/>
                </a:lnTo>
                <a:close/>
              </a:path>
            </a:pathLst>
          </a:custGeom>
          <a:solidFill>
            <a:srgbClr val="6B2E8F"/>
          </a:solidFill>
          <a:ln/>
        </p:spPr>
      </p:sp>
      <p:sp>
        <p:nvSpPr>
          <p:cNvPr id="14" name="Text 12"/>
          <p:cNvSpPr/>
          <p:nvPr/>
        </p:nvSpPr>
        <p:spPr>
          <a:xfrm>
            <a:off x="5255270" y="4097139"/>
            <a:ext cx="8779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6E6"/>
                </a:solidFill>
                <a:latin typeface="Courier New" pitchFamily="49" charset="0"/>
                <a:ea typeface="Courier New" pitchFamily="49" charset="-122"/>
                <a:cs typeface="Courier New" pitchFamily="49" charset="-120"/>
              </a:rPr>
              <a:t>rec_4471</a:t>
            </a:r>
            <a:endParaRPr lang="en-US" sz="1200" dirty="0"/>
          </a:p>
        </p:txBody>
      </p:sp>
      <p:sp>
        <p:nvSpPr>
          <p:cNvPr id="15" name="Text 13"/>
          <p:cNvSpPr/>
          <p:nvPr/>
        </p:nvSpPr>
        <p:spPr>
          <a:xfrm>
            <a:off x="5261620" y="4469209"/>
            <a:ext cx="449610" cy="327620"/>
          </a:xfrm>
          <a:prstGeom prst="rect">
            <a:avLst/>
          </a:prstGeom>
          <a:noFill/>
          <a:ln w="12700">
            <a:solidFill>
              <a:srgbClr val="E6E6E6"/>
            </a:solidFill>
            <a:prstDash val="solid"/>
          </a:ln>
        </p:spPr>
        <p:txBody>
          <a:bodyPr wrap="none" lIns="0" tIns="0" rIns="0" bIns="0" rtlCol="0" anchor="ctr">
            <a:normAutofit/>
          </a:bodyPr>
          <a:lstStyle/>
          <a:p>
            <a:pPr algn="ctr" indent="0" marL="0">
              <a:lnSpc>
                <a:spcPts val="1680"/>
              </a:lnSpc>
              <a:buNone/>
            </a:pPr>
            <a:r>
              <a:rPr lang="en-US" sz="1200" dirty="0">
                <a:solidFill>
                  <a:srgbClr val="E6E6E6"/>
                </a:solidFill>
                <a:latin typeface="Courier New" pitchFamily="49" charset="0"/>
                <a:ea typeface="Courier New" pitchFamily="49" charset="-122"/>
                <a:cs typeface="Courier New" pitchFamily="49" charset="-120"/>
              </a:rPr>
              <a:t>OK</a:t>
            </a:r>
            <a:endParaRPr lang="en-US" sz="1200" dirty="0"/>
          </a:p>
        </p:txBody>
      </p:sp>
      <p:sp>
        <p:nvSpPr>
          <p:cNvPr id="16" name="Shape 14"/>
          <p:cNvSpPr/>
          <p:nvPr/>
        </p:nvSpPr>
        <p:spPr>
          <a:xfrm>
            <a:off x="7254230" y="3678039"/>
            <a:ext cx="1986310" cy="1290241"/>
          </a:xfrm>
          <a:prstGeom prst="roundRect">
            <a:avLst>
              <a:gd name="adj" fmla="val 4922"/>
            </a:avLst>
          </a:prstGeom>
          <a:solidFill>
            <a:srgbClr val="FFFFFF"/>
          </a:solidFill>
          <a:ln/>
        </p:spPr>
      </p:sp>
      <p:sp>
        <p:nvSpPr>
          <p:cNvPr id="17" name="Shape 15"/>
          <p:cNvSpPr/>
          <p:nvPr/>
        </p:nvSpPr>
        <p:spPr>
          <a:xfrm>
            <a:off x="7254230" y="3678039"/>
            <a:ext cx="1986310" cy="254000"/>
          </a:xfrm>
          <a:custGeom>
            <a:avLst/>
            <a:gdLst/>
            <a:ahLst/>
            <a:cxnLst/>
            <a:rect l="l" t="t" r="r" b="b"/>
            <a:pathLst>
              <a:path w="1986310" h="254000">
                <a:moveTo>
                  <a:pt x="0" y="63500"/>
                </a:moveTo>
                <a:arcTo hR="63500" wR="63500" stAng="10800000" swAng="5400000"/>
                <a:lnTo>
                  <a:pt x="1922810" y="0"/>
                </a:lnTo>
                <a:arcTo hR="63500" wR="63500" stAng="16200000" swAng="5400000"/>
                <a:lnTo>
                  <a:pt x="1986310" y="254000"/>
                </a:lnTo>
                <a:lnTo>
                  <a:pt x="0" y="254000"/>
                </a:lnTo>
                <a:close/>
              </a:path>
            </a:pathLst>
          </a:custGeom>
          <a:solidFill>
            <a:srgbClr val="B23A2E"/>
          </a:solidFill>
          <a:ln/>
        </p:spPr>
      </p:sp>
      <p:sp>
        <p:nvSpPr>
          <p:cNvPr id="18" name="Text 16"/>
          <p:cNvSpPr/>
          <p:nvPr/>
        </p:nvSpPr>
        <p:spPr>
          <a:xfrm>
            <a:off x="7406630" y="4084439"/>
            <a:ext cx="12422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F24"/>
                </a:solidFill>
                <a:latin typeface="Verdana" pitchFamily="34" charset="0"/>
                <a:ea typeface="Verdana" pitchFamily="34" charset="-122"/>
                <a:cs typeface="Verdana" pitchFamily="34" charset="-120"/>
              </a:rPr>
              <a:t>Record: 4471</a:t>
            </a:r>
            <a:endParaRPr lang="en-US" sz="1200" dirty="0"/>
          </a:p>
        </p:txBody>
      </p:sp>
      <p:sp>
        <p:nvSpPr>
          <p:cNvPr id="19" name="Text 17"/>
          <p:cNvSpPr/>
          <p:nvPr/>
        </p:nvSpPr>
        <p:spPr>
          <a:xfrm>
            <a:off x="7406630" y="4500959"/>
            <a:ext cx="511314"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23A2E"/>
                </a:solidFill>
                <a:latin typeface="Verdana" pitchFamily="34" charset="0"/>
                <a:ea typeface="Verdana" pitchFamily="34" charset="-122"/>
                <a:cs typeface="Verdana" pitchFamily="34" charset="-120"/>
              </a:rPr>
              <a:t>Apply</a:t>
            </a:r>
            <a:endParaRPr lang="en-US" sz="1200" dirty="0"/>
          </a:p>
        </p:txBody>
      </p:sp>
      <p:sp>
        <p:nvSpPr>
          <p:cNvPr id="20" name="Shape 18"/>
          <p:cNvSpPr/>
          <p:nvPr/>
        </p:nvSpPr>
        <p:spPr>
          <a:xfrm>
            <a:off x="9392940" y="3678039"/>
            <a:ext cx="1986260" cy="1290241"/>
          </a:xfrm>
          <a:prstGeom prst="roundRect">
            <a:avLst>
              <a:gd name="adj" fmla="val 1969"/>
            </a:avLst>
          </a:prstGeom>
          <a:solidFill>
            <a:srgbClr val="E9F1F4"/>
          </a:solidFill>
          <a:ln/>
        </p:spPr>
      </p:sp>
      <p:sp>
        <p:nvSpPr>
          <p:cNvPr id="21" name="Shape 19"/>
          <p:cNvSpPr/>
          <p:nvPr/>
        </p:nvSpPr>
        <p:spPr>
          <a:xfrm>
            <a:off x="9392940" y="3678039"/>
            <a:ext cx="1986260" cy="254000"/>
          </a:xfrm>
          <a:custGeom>
            <a:avLst/>
            <a:gdLst/>
            <a:ahLst/>
            <a:cxnLst/>
            <a:rect l="l" t="t" r="r" b="b"/>
            <a:pathLst>
              <a:path w="1986260" h="254000">
                <a:moveTo>
                  <a:pt x="0" y="25400"/>
                </a:moveTo>
                <a:arcTo hR="25400" wR="25400" stAng="10800000" swAng="5400000"/>
                <a:lnTo>
                  <a:pt x="1960860" y="0"/>
                </a:lnTo>
                <a:arcTo hR="25400" wR="25400" stAng="16200000" swAng="5400000"/>
                <a:lnTo>
                  <a:pt x="1986260" y="254000"/>
                </a:lnTo>
                <a:lnTo>
                  <a:pt x="0" y="254000"/>
                </a:lnTo>
                <a:close/>
              </a:path>
            </a:pathLst>
          </a:custGeom>
          <a:solidFill>
            <a:srgbClr val="0E7C86"/>
          </a:solidFill>
          <a:ln/>
        </p:spPr>
      </p:sp>
      <p:sp>
        <p:nvSpPr>
          <p:cNvPr id="22" name="Text 20"/>
          <p:cNvSpPr/>
          <p:nvPr/>
        </p:nvSpPr>
        <p:spPr>
          <a:xfrm>
            <a:off x="9545340" y="4084439"/>
            <a:ext cx="10877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1F24"/>
                </a:solidFill>
                <a:latin typeface="Arial" pitchFamily="34" charset="0"/>
                <a:ea typeface="Arial" pitchFamily="34" charset="-122"/>
                <a:cs typeface="Arial" pitchFamily="34" charset="-120"/>
              </a:rPr>
              <a:t>Record 4471</a:t>
            </a:r>
            <a:endParaRPr lang="en-US" sz="1200" dirty="0"/>
          </a:p>
        </p:txBody>
      </p:sp>
      <p:sp>
        <p:nvSpPr>
          <p:cNvPr id="23" name="Text 21"/>
          <p:cNvSpPr/>
          <p:nvPr/>
        </p:nvSpPr>
        <p:spPr>
          <a:xfrm>
            <a:off x="9545340" y="4450159"/>
            <a:ext cx="778917" cy="314920"/>
          </a:xfrm>
          <a:prstGeom prst="roundRect">
            <a:avLst>
              <a:gd name="adj" fmla="val 8066"/>
            </a:avLst>
          </a:prstGeom>
          <a:solidFill>
            <a:srgbClr val="0E7C86"/>
          </a:solidFill>
          <a:ln/>
        </p:spPr>
        <p:txBody>
          <a:bodyPr wrap="none" lIns="0" tIns="0" rIns="0" bIns="0" rtlCol="0" anchor="ctr">
            <a:normAutofit/>
          </a:bodyPr>
          <a:lstStyle/>
          <a:p>
            <a:pPr algn="ctr" indent="0" marL="0">
              <a:lnSpc>
                <a:spcPts val="1680"/>
              </a:lnSpc>
              <a:buNone/>
            </a:pPr>
            <a:r>
              <a:rPr lang="en-US" sz="1200" dirty="0">
                <a:solidFill>
                  <a:srgbClr val="FFFFFF"/>
                </a:solidFill>
                <a:latin typeface="Arial" pitchFamily="34" charset="0"/>
                <a:ea typeface="Arial" pitchFamily="34" charset="-122"/>
                <a:cs typeface="Arial" pitchFamily="34" charset="-120"/>
              </a:rPr>
              <a:t>Commit</a:t>
            </a:r>
            <a:endParaRPr lang="en-US" sz="1200" dirty="0"/>
          </a:p>
        </p:txBody>
      </p:sp>
      <p:sp>
        <p:nvSpPr>
          <p:cNvPr id="24" name="Text 22"/>
          <p:cNvSpPr/>
          <p:nvPr/>
        </p:nvSpPr>
        <p:spPr>
          <a:xfrm>
            <a:off x="812800" y="527308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4A8"/>
                </a:solidFill>
                <a:latin typeface="Inter" pitchFamily="34" charset="0"/>
                <a:ea typeface="Inter" pitchFamily="34" charset="-122"/>
                <a:cs typeface="Inter" pitchFamily="34" charset="-120"/>
              </a:rPr>
              <a:t>One action, five apps: </a:t>
            </a:r>
            <a:r>
              <a:rPr lang="en-US" sz="1600" dirty="0">
                <a:solidFill>
                  <a:srgbClr val="F3EFE6"/>
                </a:solidFill>
                <a:latin typeface="Inter" pitchFamily="34" charset="0"/>
                <a:ea typeface="Inter" pitchFamily="34" charset="-122"/>
                <a:cs typeface="Inter" pitchFamily="34" charset="-120"/>
              </a:rPr>
              <a:t>Save, Submit, OK, Apply, Commit.</a:t>
            </a:r>
            <a:r>
              <a:rPr lang="en-US" sz="1600" dirty="0">
                <a:solidFill>
                  <a:srgbClr val="B9B4A8"/>
                </a:solidFill>
                <a:latin typeface="Inter" pitchFamily="34" charset="0"/>
                <a:ea typeface="Inter" pitchFamily="34" charset="-122"/>
                <a:cs typeface="Inter" pitchFamily="34" charset="-120"/>
              </a:rPr>
              <a:t> Five typefaces, five colors, five shapes. Users pay the translation cost every time they switch.</a:t>
            </a:r>
            <a:endParaRPr lang="en-US" sz="1600" dirty="0"/>
          </a:p>
        </p:txBody>
      </p:sp>
      <p:sp>
        <p:nvSpPr>
          <p:cNvPr id="25" name="Text 2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01 · WHY · THE EVIDENCE AT HOME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Our own inventory measures the drift.</a:t>
            </a:r>
            <a:endParaRPr lang="en-US" sz="3600" dirty="0"/>
          </a:p>
        </p:txBody>
      </p:sp>
      <p:sp>
        <p:nvSpPr>
          <p:cNvPr id="4" name="Shape 2"/>
          <p:cNvSpPr/>
          <p:nvPr/>
        </p:nvSpPr>
        <p:spPr>
          <a:xfrm>
            <a:off x="812800" y="2606030"/>
            <a:ext cx="2489200" cy="0"/>
          </a:xfrm>
          <a:prstGeom prst="line">
            <a:avLst/>
          </a:prstGeom>
          <a:noFill/>
          <a:ln w="25400">
            <a:solidFill>
              <a:srgbClr val="15181C"/>
            </a:solidFill>
            <a:prstDash val="solid"/>
          </a:ln>
        </p:spPr>
      </p:sp>
      <p:sp>
        <p:nvSpPr>
          <p:cNvPr id="5" name="Text 3"/>
          <p:cNvSpPr/>
          <p:nvPr/>
        </p:nvSpPr>
        <p:spPr>
          <a:xfrm>
            <a:off x="812800" y="2771130"/>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7A5C30"/>
                </a:solidFill>
                <a:latin typeface="Archivo" pitchFamily="34" charset="0"/>
                <a:ea typeface="Archivo" pitchFamily="34" charset="-122"/>
                <a:cs typeface="Archivo" pitchFamily="34" charset="-120"/>
              </a:rPr>
              <a:t>[__]</a:t>
            </a:r>
            <a:endParaRPr lang="en-US" sz="8000" dirty="0"/>
          </a:p>
        </p:txBody>
      </p:sp>
      <p:sp>
        <p:nvSpPr>
          <p:cNvPr id="6" name="Text 4"/>
          <p:cNvSpPr/>
          <p:nvPr/>
        </p:nvSpPr>
        <p:spPr>
          <a:xfrm>
            <a:off x="812800" y="388873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5181C"/>
                </a:solidFill>
                <a:latin typeface="Inter" pitchFamily="34" charset="0"/>
                <a:ea typeface="Inter" pitchFamily="34" charset="-122"/>
                <a:cs typeface="Inter" pitchFamily="34" charset="-120"/>
              </a:rPr>
              <a:t>distinct primary colors across the portfolio</a:t>
            </a:r>
            <a:endParaRPr lang="en-US" sz="1600" dirty="0"/>
          </a:p>
        </p:txBody>
      </p:sp>
      <p:sp>
        <p:nvSpPr>
          <p:cNvPr id="7" name="Shape 5"/>
          <p:cNvSpPr/>
          <p:nvPr/>
        </p:nvSpPr>
        <p:spPr>
          <a:xfrm>
            <a:off x="3505200" y="2606030"/>
            <a:ext cx="2489200" cy="0"/>
          </a:xfrm>
          <a:prstGeom prst="line">
            <a:avLst/>
          </a:prstGeom>
          <a:noFill/>
          <a:ln w="25400">
            <a:solidFill>
              <a:srgbClr val="15181C"/>
            </a:solidFill>
            <a:prstDash val="solid"/>
          </a:ln>
        </p:spPr>
      </p:sp>
      <p:sp>
        <p:nvSpPr>
          <p:cNvPr id="8" name="Text 6"/>
          <p:cNvSpPr/>
          <p:nvPr/>
        </p:nvSpPr>
        <p:spPr>
          <a:xfrm>
            <a:off x="3505200" y="2771130"/>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7A5C30"/>
                </a:solidFill>
                <a:latin typeface="Archivo" pitchFamily="34" charset="0"/>
                <a:ea typeface="Archivo" pitchFamily="34" charset="-122"/>
                <a:cs typeface="Archivo" pitchFamily="34" charset="-120"/>
              </a:rPr>
              <a:t>[__]</a:t>
            </a:r>
            <a:endParaRPr lang="en-US" sz="8000" dirty="0"/>
          </a:p>
        </p:txBody>
      </p:sp>
      <p:sp>
        <p:nvSpPr>
          <p:cNvPr id="9" name="Text 7"/>
          <p:cNvSpPr/>
          <p:nvPr/>
        </p:nvSpPr>
        <p:spPr>
          <a:xfrm>
            <a:off x="3505200" y="388873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5181C"/>
                </a:solidFill>
                <a:latin typeface="Inter" pitchFamily="34" charset="0"/>
                <a:ea typeface="Inter" pitchFamily="34" charset="-122"/>
                <a:cs typeface="Inter" pitchFamily="34" charset="-120"/>
              </a:rPr>
              <a:t>icon libraries and styles in use</a:t>
            </a:r>
            <a:endParaRPr lang="en-US" sz="1600" dirty="0"/>
          </a:p>
        </p:txBody>
      </p:sp>
      <p:sp>
        <p:nvSpPr>
          <p:cNvPr id="10" name="Shape 8"/>
          <p:cNvSpPr/>
          <p:nvPr/>
        </p:nvSpPr>
        <p:spPr>
          <a:xfrm>
            <a:off x="6197600" y="2606030"/>
            <a:ext cx="2489200" cy="0"/>
          </a:xfrm>
          <a:prstGeom prst="line">
            <a:avLst/>
          </a:prstGeom>
          <a:noFill/>
          <a:ln w="25400">
            <a:solidFill>
              <a:srgbClr val="15181C"/>
            </a:solidFill>
            <a:prstDash val="solid"/>
          </a:ln>
        </p:spPr>
      </p:sp>
      <p:sp>
        <p:nvSpPr>
          <p:cNvPr id="11" name="Text 9"/>
          <p:cNvSpPr/>
          <p:nvPr/>
        </p:nvSpPr>
        <p:spPr>
          <a:xfrm>
            <a:off x="6197600" y="2771130"/>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7A5C30"/>
                </a:solidFill>
                <a:latin typeface="Archivo" pitchFamily="34" charset="0"/>
                <a:ea typeface="Archivo" pitchFamily="34" charset="-122"/>
                <a:cs typeface="Archivo" pitchFamily="34" charset="-120"/>
              </a:rPr>
              <a:t>[__]</a:t>
            </a:r>
            <a:endParaRPr lang="en-US" sz="8000" dirty="0"/>
          </a:p>
        </p:txBody>
      </p:sp>
      <p:sp>
        <p:nvSpPr>
          <p:cNvPr id="12" name="Text 10"/>
          <p:cNvSpPr/>
          <p:nvPr/>
        </p:nvSpPr>
        <p:spPr>
          <a:xfrm>
            <a:off x="6197600" y="388873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5181C"/>
                </a:solidFill>
                <a:latin typeface="Inter" pitchFamily="34" charset="0"/>
                <a:ea typeface="Inter" pitchFamily="34" charset="-122"/>
                <a:cs typeface="Inter" pitchFamily="34" charset="-120"/>
              </a:rPr>
              <a:t>type families and type scales</a:t>
            </a:r>
            <a:endParaRPr lang="en-US" sz="1600" dirty="0"/>
          </a:p>
        </p:txBody>
      </p:sp>
      <p:sp>
        <p:nvSpPr>
          <p:cNvPr id="13" name="Shape 11"/>
          <p:cNvSpPr/>
          <p:nvPr/>
        </p:nvSpPr>
        <p:spPr>
          <a:xfrm>
            <a:off x="8890000" y="2606030"/>
            <a:ext cx="2489200" cy="0"/>
          </a:xfrm>
          <a:prstGeom prst="line">
            <a:avLst/>
          </a:prstGeom>
          <a:noFill/>
          <a:ln w="25400">
            <a:solidFill>
              <a:srgbClr val="15181C"/>
            </a:solidFill>
            <a:prstDash val="solid"/>
          </a:ln>
        </p:spPr>
      </p:sp>
      <p:sp>
        <p:nvSpPr>
          <p:cNvPr id="14" name="Text 12"/>
          <p:cNvSpPr/>
          <p:nvPr/>
        </p:nvSpPr>
        <p:spPr>
          <a:xfrm>
            <a:off x="8890000" y="2771130"/>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7A5C30"/>
                </a:solidFill>
                <a:latin typeface="Archivo" pitchFamily="34" charset="0"/>
                <a:ea typeface="Archivo" pitchFamily="34" charset="-122"/>
                <a:cs typeface="Archivo" pitchFamily="34" charset="-120"/>
              </a:rPr>
              <a:t>[__]</a:t>
            </a:r>
            <a:endParaRPr lang="en-US" sz="8000" dirty="0"/>
          </a:p>
        </p:txBody>
      </p:sp>
      <p:sp>
        <p:nvSpPr>
          <p:cNvPr id="15" name="Text 13"/>
          <p:cNvSpPr/>
          <p:nvPr/>
        </p:nvSpPr>
        <p:spPr>
          <a:xfrm>
            <a:off x="8890000" y="388873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5181C"/>
                </a:solidFill>
                <a:latin typeface="Inter" pitchFamily="34" charset="0"/>
                <a:ea typeface="Inter" pitchFamily="34" charset="-122"/>
                <a:cs typeface="Inter" pitchFamily="34" charset="-120"/>
              </a:rPr>
              <a:t>front end frameworks and versions</a:t>
            </a:r>
            <a:endParaRPr lang="en-US" sz="1600" dirty="0"/>
          </a:p>
        </p:txBody>
      </p:sp>
      <p:sp>
        <p:nvSpPr>
          <p:cNvPr id="16" name="Text 14"/>
          <p:cNvSpPr/>
          <p:nvPr/>
        </p:nvSpPr>
        <p:spPr>
          <a:xfrm>
            <a:off x="812800" y="5400080"/>
            <a:ext cx="108833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Source: Phase 1 interface inventory (one workbook per application: color, type, iconography, spacing and framework). Figures to be filled from the consolidated workbooks.</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01 · WHY · THE COST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Fragmentation is a tax we pay four ways.</a:t>
            </a:r>
            <a:endParaRPr lang="en-US" sz="3600" dirty="0"/>
          </a:p>
        </p:txBody>
      </p:sp>
      <p:sp>
        <p:nvSpPr>
          <p:cNvPr id="4" name="Shape 2"/>
          <p:cNvSpPr/>
          <p:nvPr/>
        </p:nvSpPr>
        <p:spPr>
          <a:xfrm>
            <a:off x="815975" y="2402185"/>
            <a:ext cx="2482850" cy="2383730"/>
          </a:xfrm>
          <a:prstGeom prst="roundRect">
            <a:avLst>
              <a:gd name="adj" fmla="val 3063"/>
            </a:avLst>
          </a:prstGeom>
          <a:solidFill>
            <a:srgbClr val="FBF9F4"/>
          </a:solidFill>
          <a:ln w="6350">
            <a:solidFill>
              <a:srgbClr val="DCDAD3"/>
            </a:solidFill>
            <a:prstDash val="solid"/>
          </a:ln>
        </p:spPr>
      </p:sp>
      <p:sp>
        <p:nvSpPr>
          <p:cNvPr id="5" name="Text 3"/>
          <p:cNvSpPr/>
          <p:nvPr/>
        </p:nvSpPr>
        <p:spPr>
          <a:xfrm>
            <a:off x="1073150" y="2659360"/>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01 · Users</a:t>
            </a:r>
            <a:endParaRPr lang="en-US" sz="1200" dirty="0"/>
          </a:p>
        </p:txBody>
      </p:sp>
      <p:sp>
        <p:nvSpPr>
          <p:cNvPr id="6" name="Text 4"/>
          <p:cNvSpPr/>
          <p:nvPr/>
        </p:nvSpPr>
        <p:spPr>
          <a:xfrm>
            <a:off x="1073150" y="2999680"/>
            <a:ext cx="2027555"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Users relearn every app</a:t>
            </a:r>
            <a:endParaRPr lang="en-US" sz="1600" dirty="0"/>
          </a:p>
        </p:txBody>
      </p:sp>
      <p:sp>
        <p:nvSpPr>
          <p:cNvPr id="7" name="Text 5"/>
          <p:cNvSpPr/>
          <p:nvPr/>
        </p:nvSpPr>
        <p:spPr>
          <a:xfrm>
            <a:off x="1073150" y="3614341"/>
            <a:ext cx="2027555"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159"/>
                </a:solidFill>
                <a:latin typeface="Inter" pitchFamily="34" charset="0"/>
                <a:ea typeface="Inter" pitchFamily="34" charset="-122"/>
                <a:cs typeface="Inter" pitchFamily="34" charset="-120"/>
              </a:rPr>
              <a:t>Same task, different controls. Every switch costs time and invites error under pressure.</a:t>
            </a:r>
            <a:endParaRPr lang="en-US" sz="1200" dirty="0"/>
          </a:p>
        </p:txBody>
      </p:sp>
      <p:sp>
        <p:nvSpPr>
          <p:cNvPr id="8" name="Shape 6"/>
          <p:cNvSpPr/>
          <p:nvPr/>
        </p:nvSpPr>
        <p:spPr>
          <a:xfrm>
            <a:off x="3508375" y="2402185"/>
            <a:ext cx="2482850" cy="2383730"/>
          </a:xfrm>
          <a:prstGeom prst="roundRect">
            <a:avLst>
              <a:gd name="adj" fmla="val 3063"/>
            </a:avLst>
          </a:prstGeom>
          <a:solidFill>
            <a:srgbClr val="FBF9F4"/>
          </a:solidFill>
          <a:ln w="6350">
            <a:solidFill>
              <a:srgbClr val="DCDAD3"/>
            </a:solidFill>
            <a:prstDash val="solid"/>
          </a:ln>
        </p:spPr>
      </p:sp>
      <p:sp>
        <p:nvSpPr>
          <p:cNvPr id="9" name="Text 7"/>
          <p:cNvSpPr/>
          <p:nvPr/>
        </p:nvSpPr>
        <p:spPr>
          <a:xfrm>
            <a:off x="3765550" y="2659360"/>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02 · Teams</a:t>
            </a:r>
            <a:endParaRPr lang="en-US" sz="1200" dirty="0"/>
          </a:p>
        </p:txBody>
      </p:sp>
      <p:sp>
        <p:nvSpPr>
          <p:cNvPr id="10" name="Text 8"/>
          <p:cNvSpPr/>
          <p:nvPr/>
        </p:nvSpPr>
        <p:spPr>
          <a:xfrm>
            <a:off x="3765550" y="2999680"/>
            <a:ext cx="2027555"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Teams rebuild the same parts</a:t>
            </a:r>
            <a:endParaRPr lang="en-US" sz="1600" dirty="0"/>
          </a:p>
        </p:txBody>
      </p:sp>
      <p:sp>
        <p:nvSpPr>
          <p:cNvPr id="11" name="Text 9"/>
          <p:cNvSpPr/>
          <p:nvPr/>
        </p:nvSpPr>
        <p:spPr>
          <a:xfrm>
            <a:off x="3765550" y="3614341"/>
            <a:ext cx="2027555"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159"/>
                </a:solidFill>
                <a:latin typeface="Inter" pitchFamily="34" charset="0"/>
                <a:ea typeface="Inter" pitchFamily="34" charset="-122"/>
                <a:cs typeface="Inter" pitchFamily="34" charset="-120"/>
              </a:rPr>
              <a:t>Each team designs, codes, tests and maintains its own buttons, tables and forms.</a:t>
            </a:r>
            <a:endParaRPr lang="en-US" sz="1200" dirty="0"/>
          </a:p>
        </p:txBody>
      </p:sp>
      <p:sp>
        <p:nvSpPr>
          <p:cNvPr id="12" name="Shape 10"/>
          <p:cNvSpPr/>
          <p:nvPr/>
        </p:nvSpPr>
        <p:spPr>
          <a:xfrm>
            <a:off x="6200775" y="2402185"/>
            <a:ext cx="2482850" cy="2383730"/>
          </a:xfrm>
          <a:prstGeom prst="roundRect">
            <a:avLst>
              <a:gd name="adj" fmla="val 3063"/>
            </a:avLst>
          </a:prstGeom>
          <a:solidFill>
            <a:srgbClr val="FBF9F4"/>
          </a:solidFill>
          <a:ln w="6350">
            <a:solidFill>
              <a:srgbClr val="DCDAD3"/>
            </a:solidFill>
            <a:prstDash val="solid"/>
          </a:ln>
        </p:spPr>
      </p:sp>
      <p:sp>
        <p:nvSpPr>
          <p:cNvPr id="13" name="Text 11"/>
          <p:cNvSpPr/>
          <p:nvPr/>
        </p:nvSpPr>
        <p:spPr>
          <a:xfrm>
            <a:off x="6457950" y="2659360"/>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03 · Compliance</a:t>
            </a:r>
            <a:endParaRPr lang="en-US" sz="1200" dirty="0"/>
          </a:p>
        </p:txBody>
      </p:sp>
      <p:sp>
        <p:nvSpPr>
          <p:cNvPr id="14" name="Text 12"/>
          <p:cNvSpPr/>
          <p:nvPr/>
        </p:nvSpPr>
        <p:spPr>
          <a:xfrm>
            <a:off x="6457950" y="2999680"/>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Accessibility drifts</a:t>
            </a:r>
            <a:endParaRPr lang="en-US" sz="1600" dirty="0"/>
          </a:p>
        </p:txBody>
      </p:sp>
      <p:sp>
        <p:nvSpPr>
          <p:cNvPr id="15" name="Text 13"/>
          <p:cNvSpPr/>
          <p:nvPr/>
        </p:nvSpPr>
        <p:spPr>
          <a:xfrm>
            <a:off x="6457950" y="3370511"/>
            <a:ext cx="2027555"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159"/>
                </a:solidFill>
                <a:latin typeface="Inter" pitchFamily="34" charset="0"/>
                <a:ea typeface="Inter" pitchFamily="34" charset="-122"/>
                <a:cs typeface="Inter" pitchFamily="34" charset="-120"/>
              </a:rPr>
              <a:t>Section 508 compliance is re-earned app by app, so gaps open wherever a team runs short.</a:t>
            </a:r>
            <a:endParaRPr lang="en-US" sz="1200" dirty="0"/>
          </a:p>
        </p:txBody>
      </p:sp>
      <p:sp>
        <p:nvSpPr>
          <p:cNvPr id="16" name="Shape 14"/>
          <p:cNvSpPr/>
          <p:nvPr/>
        </p:nvSpPr>
        <p:spPr>
          <a:xfrm>
            <a:off x="8893175" y="2402185"/>
            <a:ext cx="2482850" cy="2383730"/>
          </a:xfrm>
          <a:prstGeom prst="roundRect">
            <a:avLst>
              <a:gd name="adj" fmla="val 3063"/>
            </a:avLst>
          </a:prstGeom>
          <a:solidFill>
            <a:srgbClr val="FBF9F4"/>
          </a:solidFill>
          <a:ln w="6350">
            <a:solidFill>
              <a:srgbClr val="DCDAD3"/>
            </a:solidFill>
            <a:prstDash val="solid"/>
          </a:ln>
        </p:spPr>
      </p:sp>
      <p:sp>
        <p:nvSpPr>
          <p:cNvPr id="17" name="Text 15"/>
          <p:cNvSpPr/>
          <p:nvPr/>
        </p:nvSpPr>
        <p:spPr>
          <a:xfrm>
            <a:off x="9150350" y="2659360"/>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04 · Mission</a:t>
            </a:r>
            <a:endParaRPr lang="en-US" sz="1200" dirty="0"/>
          </a:p>
        </p:txBody>
      </p:sp>
      <p:sp>
        <p:nvSpPr>
          <p:cNvPr id="18" name="Text 16"/>
          <p:cNvSpPr/>
          <p:nvPr/>
        </p:nvSpPr>
        <p:spPr>
          <a:xfrm>
            <a:off x="9150350" y="2999680"/>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Trust erodes</a:t>
            </a:r>
            <a:endParaRPr lang="en-US" sz="1600" dirty="0"/>
          </a:p>
        </p:txBody>
      </p:sp>
      <p:sp>
        <p:nvSpPr>
          <p:cNvPr id="19" name="Text 17"/>
          <p:cNvSpPr/>
          <p:nvPr/>
        </p:nvSpPr>
        <p:spPr>
          <a:xfrm>
            <a:off x="9150350" y="3370511"/>
            <a:ext cx="2027555"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159"/>
                </a:solidFill>
                <a:latin typeface="Inter" pitchFamily="34" charset="0"/>
                <a:ea typeface="Inter" pitchFamily="34" charset="-122"/>
                <a:cs typeface="Inter" pitchFamily="34" charset="-120"/>
              </a:rPr>
              <a:t>When two screens disagree on how to show status, users start to second-guess the data itself.</a:t>
            </a:r>
            <a:endParaRPr lang="en-US" sz="1200" dirty="0"/>
          </a:p>
        </p:txBody>
      </p:sp>
      <p:sp>
        <p:nvSpPr>
          <p:cNvPr id="20" name="Text 18"/>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5181C"/>
                </a:solidFill>
                <a:latin typeface="Inter" pitchFamily="34" charset="0"/>
                <a:ea typeface="Inter" pitchFamily="34" charset="-122"/>
                <a:cs typeface="Inter" pitchFamily="34" charset="-120"/>
              </a:rPr>
              <a:t>Every new app we ship without a shared language makes all four costs </a:t>
            </a:r>
            <a:r>
              <a:rPr lang="en-US" sz="1600" b="1" dirty="0">
                <a:solidFill>
                  <a:srgbClr val="15181C"/>
                </a:solidFill>
                <a:latin typeface="Inter" pitchFamily="34" charset="0"/>
                <a:ea typeface="Inter" pitchFamily="34" charset="-122"/>
                <a:cs typeface="Inter" pitchFamily="34" charset="-120"/>
              </a:rPr>
              <a:t>larger</a:t>
            </a:r>
            <a:r>
              <a:rPr lang="en-US" sz="1600" dirty="0">
                <a:solidFill>
                  <a:srgbClr val="15181C"/>
                </a:solidFill>
                <a:latin typeface="Inter" pitchFamily="34" charset="0"/>
                <a:ea typeface="Inter" pitchFamily="34" charset="-122"/>
                <a:cs typeface="Inter" pitchFamily="34" charset="-120"/>
              </a:rPr>
              <a:t>, not smaller.</a:t>
            </a:r>
            <a:endParaRPr lang="en-US" sz="16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4A57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5181C"/>
                </a:solidFill>
                <a:latin typeface="JetBrains Mono" pitchFamily="49" charset="0"/>
                <a:ea typeface="JetBrains Mono" pitchFamily="49" charset="-122"/>
                <a:cs typeface="JetBrains Mono" pitchFamily="49" charset="-120"/>
              </a:rPr>
              <a:t>01 · WHY · THE NAME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Why “Trenchcoat”?</a:t>
            </a:r>
            <a:endParaRPr lang="en-US" sz="3600" dirty="0"/>
          </a:p>
        </p:txBody>
      </p:sp>
      <p:sp>
        <p:nvSpPr>
          <p:cNvPr id="4" name="Shape 2"/>
          <p:cNvSpPr/>
          <p:nvPr/>
        </p:nvSpPr>
        <p:spPr>
          <a:xfrm>
            <a:off x="812800" y="1948111"/>
            <a:ext cx="5080000" cy="0"/>
          </a:xfrm>
          <a:prstGeom prst="line">
            <a:avLst/>
          </a:prstGeom>
          <a:noFill/>
          <a:ln w="25400">
            <a:solidFill>
              <a:srgbClr val="15181C"/>
            </a:solidFill>
            <a:prstDash val="solid"/>
          </a:ln>
        </p:spPr>
      </p:sp>
      <p:sp>
        <p:nvSpPr>
          <p:cNvPr id="5" name="Text 3"/>
          <p:cNvSpPr/>
          <p:nvPr/>
        </p:nvSpPr>
        <p:spPr>
          <a:xfrm>
            <a:off x="812800" y="2164011"/>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5181C"/>
                </a:solidFill>
                <a:latin typeface="JetBrains Mono" pitchFamily="49" charset="0"/>
                <a:ea typeface="JetBrains Mono" pitchFamily="49" charset="-122"/>
                <a:cs typeface="JetBrains Mono" pitchFamily="49" charset="-120"/>
              </a:rPr>
              <a:t>THE JOKE</a:t>
            </a:r>
            <a:endParaRPr lang="en-US" sz="1200" dirty="0"/>
          </a:p>
        </p:txBody>
      </p:sp>
      <p:sp>
        <p:nvSpPr>
          <p:cNvPr id="6" name="Text 4"/>
          <p:cNvSpPr/>
          <p:nvPr/>
        </p:nvSpPr>
        <p:spPr>
          <a:xfrm>
            <a:off x="812800" y="2504331"/>
            <a:ext cx="5232400"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5181C"/>
                </a:solidFill>
                <a:latin typeface="Inter" pitchFamily="34" charset="0"/>
                <a:ea typeface="Inter" pitchFamily="34" charset="-122"/>
                <a:cs typeface="Inter" pitchFamily="34" charset="-120"/>
              </a:rPr>
              <a:t>Today our portfolio is the old sight gag: several kids stacked inside one trench coat, hoping to pass as a single grown-up. Our users can see the seams.</a:t>
            </a:r>
            <a:endParaRPr lang="en-US" sz="1600" dirty="0"/>
          </a:p>
        </p:txBody>
      </p:sp>
      <p:sp>
        <p:nvSpPr>
          <p:cNvPr id="7" name="Shape 5"/>
          <p:cNvSpPr/>
          <p:nvPr/>
        </p:nvSpPr>
        <p:spPr>
          <a:xfrm>
            <a:off x="6299200" y="1948111"/>
            <a:ext cx="5080000" cy="0"/>
          </a:xfrm>
          <a:prstGeom prst="line">
            <a:avLst/>
          </a:prstGeom>
          <a:noFill/>
          <a:ln w="25400">
            <a:solidFill>
              <a:srgbClr val="15181C"/>
            </a:solidFill>
            <a:prstDash val="solid"/>
          </a:ln>
        </p:spPr>
      </p:sp>
      <p:sp>
        <p:nvSpPr>
          <p:cNvPr id="8" name="Text 6"/>
          <p:cNvSpPr/>
          <p:nvPr/>
        </p:nvSpPr>
        <p:spPr>
          <a:xfrm>
            <a:off x="6299200" y="2164011"/>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5181C"/>
                </a:solidFill>
                <a:latin typeface="JetBrains Mono" pitchFamily="49" charset="0"/>
                <a:ea typeface="JetBrains Mono" pitchFamily="49" charset="-122"/>
                <a:cs typeface="JetBrains Mono" pitchFamily="49" charset="-120"/>
              </a:rPr>
              <a:t>THE GARMENT</a:t>
            </a:r>
            <a:endParaRPr lang="en-US" sz="1200" dirty="0"/>
          </a:p>
        </p:txBody>
      </p:sp>
      <p:sp>
        <p:nvSpPr>
          <p:cNvPr id="9" name="Text 7"/>
          <p:cNvSpPr/>
          <p:nvPr/>
        </p:nvSpPr>
        <p:spPr>
          <a:xfrm>
            <a:off x="6299200" y="2504331"/>
            <a:ext cx="5232400" cy="12039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5181C"/>
                </a:solidFill>
                <a:latin typeface="Inter" pitchFamily="34" charset="0"/>
                <a:ea typeface="Inter" pitchFamily="34" charset="-122"/>
                <a:cs typeface="Inter" pitchFamily="34" charset="-120"/>
              </a:rPr>
              <a:t>The trench coat was built for the trenches of the First World War: weatherproof, functional, every strap and pocket earning its place. A century later, the design has barely changed.</a:t>
            </a:r>
            <a:endParaRPr lang="en-US" sz="1600" dirty="0"/>
          </a:p>
        </p:txBody>
      </p:sp>
      <p:sp>
        <p:nvSpPr>
          <p:cNvPr id="10" name="Text 8"/>
          <p:cNvSpPr/>
          <p:nvPr/>
        </p:nvSpPr>
        <p:spPr>
          <a:xfrm>
            <a:off x="812800" y="5143500"/>
            <a:ext cx="10883392"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15181C"/>
                </a:solidFill>
                <a:latin typeface="Archivo" pitchFamily="34" charset="0"/>
                <a:ea typeface="Archivo" pitchFamily="34" charset="-122"/>
                <a:cs typeface="Archivo" pitchFamily="34" charset="-120"/>
              </a:rPr>
              <a:t>One coat. Built for hard conditions, made to last, and worn the same way by every app we ship.</a:t>
            </a:r>
            <a:endParaRPr lang="en-US" sz="22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TRENCHCOAT · BRAND BOOK v0.1</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01 · WHY · DEFINITION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Trenchcoat is a product, not a style guide.</a:t>
            </a:r>
            <a:endParaRPr lang="en-US" sz="3600" dirty="0"/>
          </a:p>
        </p:txBody>
      </p:sp>
      <p:sp>
        <p:nvSpPr>
          <p:cNvPr id="4" name="Text 2"/>
          <p:cNvSpPr/>
          <p:nvPr/>
        </p:nvSpPr>
        <p:spPr>
          <a:xfrm>
            <a:off x="812800" y="1935411"/>
            <a:ext cx="5232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7A4C"/>
                </a:solidFill>
                <a:latin typeface="Archivo" pitchFamily="34" charset="0"/>
                <a:ea typeface="Archivo" pitchFamily="34" charset="-122"/>
                <a:cs typeface="Archivo" pitchFamily="34" charset="-120"/>
              </a:rPr>
              <a:t>Trenchcoat is</a:t>
            </a:r>
            <a:endParaRPr lang="en-US" sz="1600" dirty="0"/>
          </a:p>
        </p:txBody>
      </p:sp>
      <p:sp>
        <p:nvSpPr>
          <p:cNvPr id="5" name="Shape 3"/>
          <p:cNvSpPr/>
          <p:nvPr/>
        </p:nvSpPr>
        <p:spPr>
          <a:xfrm>
            <a:off x="812800" y="2309416"/>
            <a:ext cx="5080000" cy="0"/>
          </a:xfrm>
          <a:prstGeom prst="line">
            <a:avLst/>
          </a:prstGeom>
          <a:noFill/>
          <a:ln w="6350">
            <a:solidFill>
              <a:srgbClr val="C9C5BA"/>
            </a:solidFill>
            <a:prstDash val="solid"/>
          </a:ln>
        </p:spPr>
      </p:sp>
      <p:sp>
        <p:nvSpPr>
          <p:cNvPr id="6" name="Text 4"/>
          <p:cNvSpPr/>
          <p:nvPr/>
        </p:nvSpPr>
        <p:spPr>
          <a:xfrm>
            <a:off x="812800" y="2401491"/>
            <a:ext cx="5232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Design tokens: one source for color, type, space and motion</a:t>
            </a:r>
            <a:endParaRPr lang="en-US" sz="1400" dirty="0"/>
          </a:p>
        </p:txBody>
      </p:sp>
      <p:sp>
        <p:nvSpPr>
          <p:cNvPr id="7" name="Shape 5"/>
          <p:cNvSpPr/>
          <p:nvPr/>
        </p:nvSpPr>
        <p:spPr>
          <a:xfrm>
            <a:off x="812800" y="2742456"/>
            <a:ext cx="5080000" cy="0"/>
          </a:xfrm>
          <a:prstGeom prst="line">
            <a:avLst/>
          </a:prstGeom>
          <a:noFill/>
          <a:ln w="6350">
            <a:solidFill>
              <a:srgbClr val="C9C5BA"/>
            </a:solidFill>
            <a:prstDash val="solid"/>
          </a:ln>
        </p:spPr>
      </p:sp>
      <p:sp>
        <p:nvSpPr>
          <p:cNvPr id="8" name="Text 6"/>
          <p:cNvSpPr/>
          <p:nvPr/>
        </p:nvSpPr>
        <p:spPr>
          <a:xfrm>
            <a:off x="812800" y="2834531"/>
            <a:ext cx="52324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A coded component library that works in every framework we run</a:t>
            </a:r>
            <a:endParaRPr lang="en-US" sz="1400" dirty="0"/>
          </a:p>
        </p:txBody>
      </p:sp>
      <p:sp>
        <p:nvSpPr>
          <p:cNvPr id="9" name="Shape 7"/>
          <p:cNvSpPr/>
          <p:nvPr/>
        </p:nvSpPr>
        <p:spPr>
          <a:xfrm>
            <a:off x="812800" y="3424386"/>
            <a:ext cx="5080000" cy="0"/>
          </a:xfrm>
          <a:prstGeom prst="line">
            <a:avLst/>
          </a:prstGeom>
          <a:noFill/>
          <a:ln w="6350">
            <a:solidFill>
              <a:srgbClr val="C9C5BA"/>
            </a:solidFill>
            <a:prstDash val="solid"/>
          </a:ln>
        </p:spPr>
      </p:sp>
      <p:sp>
        <p:nvSpPr>
          <p:cNvPr id="10" name="Text 8"/>
          <p:cNvSpPr/>
          <p:nvPr/>
        </p:nvSpPr>
        <p:spPr>
          <a:xfrm>
            <a:off x="812800" y="3516461"/>
            <a:ext cx="5232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Patterns for real mission workflows, including SI</a:t>
            </a:r>
            <a:endParaRPr lang="en-US" sz="1400" dirty="0"/>
          </a:p>
        </p:txBody>
      </p:sp>
      <p:sp>
        <p:nvSpPr>
          <p:cNvPr id="11" name="Shape 9"/>
          <p:cNvSpPr/>
          <p:nvPr/>
        </p:nvSpPr>
        <p:spPr>
          <a:xfrm>
            <a:off x="812800" y="3857427"/>
            <a:ext cx="5080000" cy="0"/>
          </a:xfrm>
          <a:prstGeom prst="line">
            <a:avLst/>
          </a:prstGeom>
          <a:noFill/>
          <a:ln w="6350">
            <a:solidFill>
              <a:srgbClr val="C9C5BA"/>
            </a:solidFill>
            <a:prstDash val="solid"/>
          </a:ln>
        </p:spPr>
      </p:sp>
      <p:sp>
        <p:nvSpPr>
          <p:cNvPr id="12" name="Shape 10"/>
          <p:cNvSpPr/>
          <p:nvPr/>
        </p:nvSpPr>
        <p:spPr>
          <a:xfrm>
            <a:off x="812800" y="4290467"/>
            <a:ext cx="5080000" cy="0"/>
          </a:xfrm>
          <a:prstGeom prst="line">
            <a:avLst/>
          </a:prstGeom>
          <a:noFill/>
          <a:ln w="6350">
            <a:solidFill>
              <a:srgbClr val="C9C5BA"/>
            </a:solidFill>
            <a:prstDash val="solid"/>
          </a:ln>
        </p:spPr>
      </p:sp>
      <p:sp>
        <p:nvSpPr>
          <p:cNvPr id="13" name="Text 11"/>
          <p:cNvSpPr/>
          <p:nvPr/>
        </p:nvSpPr>
        <p:spPr>
          <a:xfrm>
            <a:off x="812800" y="3949502"/>
            <a:ext cx="5232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Documentation, governance and a contribution model</a:t>
            </a:r>
            <a:endParaRPr lang="en-US" sz="1400" dirty="0"/>
          </a:p>
        </p:txBody>
      </p:sp>
      <p:sp>
        <p:nvSpPr>
          <p:cNvPr id="14" name="Text 12"/>
          <p:cNvSpPr/>
          <p:nvPr/>
        </p:nvSpPr>
        <p:spPr>
          <a:xfrm>
            <a:off x="6299200" y="1935411"/>
            <a:ext cx="5232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362B"/>
                </a:solidFill>
                <a:latin typeface="Archivo" pitchFamily="34" charset="0"/>
                <a:ea typeface="Archivo" pitchFamily="34" charset="-122"/>
                <a:cs typeface="Archivo" pitchFamily="34" charset="-120"/>
              </a:rPr>
              <a:t>Trenchcoat is not</a:t>
            </a:r>
            <a:endParaRPr lang="en-US" sz="1600" dirty="0"/>
          </a:p>
        </p:txBody>
      </p:sp>
      <p:sp>
        <p:nvSpPr>
          <p:cNvPr id="15" name="Shape 13"/>
          <p:cNvSpPr/>
          <p:nvPr/>
        </p:nvSpPr>
        <p:spPr>
          <a:xfrm>
            <a:off x="6299200" y="2309416"/>
            <a:ext cx="5080000" cy="0"/>
          </a:xfrm>
          <a:prstGeom prst="line">
            <a:avLst/>
          </a:prstGeom>
          <a:noFill/>
          <a:ln w="6350">
            <a:solidFill>
              <a:srgbClr val="C9C5BA"/>
            </a:solidFill>
            <a:prstDash val="solid"/>
          </a:ln>
        </p:spPr>
      </p:sp>
      <p:sp>
        <p:nvSpPr>
          <p:cNvPr id="16" name="Text 14"/>
          <p:cNvSpPr/>
          <p:nvPr/>
        </p:nvSpPr>
        <p:spPr>
          <a:xfrm>
            <a:off x="6299200" y="2401491"/>
            <a:ext cx="5232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An overnight reskin of every existing app</a:t>
            </a:r>
            <a:endParaRPr lang="en-US" sz="1400" dirty="0"/>
          </a:p>
        </p:txBody>
      </p:sp>
      <p:sp>
        <p:nvSpPr>
          <p:cNvPr id="17" name="Shape 15"/>
          <p:cNvSpPr/>
          <p:nvPr/>
        </p:nvSpPr>
        <p:spPr>
          <a:xfrm>
            <a:off x="6299200" y="2742456"/>
            <a:ext cx="5080000" cy="0"/>
          </a:xfrm>
          <a:prstGeom prst="line">
            <a:avLst/>
          </a:prstGeom>
          <a:noFill/>
          <a:ln w="6350">
            <a:solidFill>
              <a:srgbClr val="C9C5BA"/>
            </a:solidFill>
            <a:prstDash val="solid"/>
          </a:ln>
        </p:spPr>
      </p:sp>
      <p:sp>
        <p:nvSpPr>
          <p:cNvPr id="18" name="Text 16"/>
          <p:cNvSpPr/>
          <p:nvPr/>
        </p:nvSpPr>
        <p:spPr>
          <a:xfrm>
            <a:off x="6299200" y="2834531"/>
            <a:ext cx="5232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A mandate to rewrite every front end</a:t>
            </a:r>
            <a:endParaRPr lang="en-US" sz="1400" dirty="0"/>
          </a:p>
        </p:txBody>
      </p:sp>
      <p:sp>
        <p:nvSpPr>
          <p:cNvPr id="19" name="Shape 17"/>
          <p:cNvSpPr/>
          <p:nvPr/>
        </p:nvSpPr>
        <p:spPr>
          <a:xfrm>
            <a:off x="6299200" y="3175496"/>
            <a:ext cx="5080000" cy="0"/>
          </a:xfrm>
          <a:prstGeom prst="line">
            <a:avLst/>
          </a:prstGeom>
          <a:noFill/>
          <a:ln w="6350">
            <a:solidFill>
              <a:srgbClr val="C9C5BA"/>
            </a:solidFill>
            <a:prstDash val="solid"/>
          </a:ln>
        </p:spPr>
      </p:sp>
      <p:sp>
        <p:nvSpPr>
          <p:cNvPr id="20" name="Text 18"/>
          <p:cNvSpPr/>
          <p:nvPr/>
        </p:nvSpPr>
        <p:spPr>
          <a:xfrm>
            <a:off x="6299200" y="3267571"/>
            <a:ext cx="5232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A review board that polices pixels</a:t>
            </a:r>
            <a:endParaRPr lang="en-US" sz="1400" dirty="0"/>
          </a:p>
        </p:txBody>
      </p:sp>
      <p:sp>
        <p:nvSpPr>
          <p:cNvPr id="21" name="Shape 19"/>
          <p:cNvSpPr/>
          <p:nvPr/>
        </p:nvSpPr>
        <p:spPr>
          <a:xfrm>
            <a:off x="6299200" y="3608536"/>
            <a:ext cx="5080000" cy="0"/>
          </a:xfrm>
          <a:prstGeom prst="line">
            <a:avLst/>
          </a:prstGeom>
          <a:noFill/>
          <a:ln w="6350">
            <a:solidFill>
              <a:srgbClr val="C9C5BA"/>
            </a:solidFill>
            <a:prstDash val="solid"/>
          </a:ln>
        </p:spPr>
      </p:sp>
      <p:sp>
        <p:nvSpPr>
          <p:cNvPr id="22" name="Shape 20"/>
          <p:cNvSpPr/>
          <p:nvPr/>
        </p:nvSpPr>
        <p:spPr>
          <a:xfrm>
            <a:off x="6299200" y="4041577"/>
            <a:ext cx="5080000" cy="0"/>
          </a:xfrm>
          <a:prstGeom prst="line">
            <a:avLst/>
          </a:prstGeom>
          <a:noFill/>
          <a:ln w="6350">
            <a:solidFill>
              <a:srgbClr val="C9C5BA"/>
            </a:solidFill>
            <a:prstDash val="solid"/>
          </a:ln>
        </p:spPr>
      </p:sp>
      <p:sp>
        <p:nvSpPr>
          <p:cNvPr id="23" name="Text 21"/>
          <p:cNvSpPr/>
          <p:nvPr/>
        </p:nvSpPr>
        <p:spPr>
          <a:xfrm>
            <a:off x="6299200" y="3700611"/>
            <a:ext cx="5232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181C"/>
                </a:solidFill>
                <a:latin typeface="Inter" pitchFamily="34" charset="0"/>
                <a:ea typeface="Inter" pitchFamily="34" charset="-122"/>
                <a:cs typeface="Inter" pitchFamily="34" charset="-120"/>
              </a:rPr>
              <a:t>A one-time project with an end date</a:t>
            </a:r>
            <a:endParaRPr lang="en-US" sz="1400" dirty="0"/>
          </a:p>
        </p:txBody>
      </p:sp>
      <p:sp>
        <p:nvSpPr>
          <p:cNvPr id="24" name="Shape 22"/>
          <p:cNvSpPr/>
          <p:nvPr/>
        </p:nvSpPr>
        <p:spPr>
          <a:xfrm>
            <a:off x="812800" y="4937820"/>
            <a:ext cx="10566400" cy="904180"/>
          </a:xfrm>
          <a:prstGeom prst="roundRect">
            <a:avLst>
              <a:gd name="adj" fmla="val 8428"/>
            </a:avLst>
          </a:prstGeom>
          <a:solidFill>
            <a:srgbClr val="15181C"/>
          </a:solidFill>
          <a:ln/>
        </p:spPr>
      </p:sp>
      <p:sp>
        <p:nvSpPr>
          <p:cNvPr id="25" name="Text 23"/>
          <p:cNvSpPr/>
          <p:nvPr/>
        </p:nvSpPr>
        <p:spPr>
          <a:xfrm>
            <a:off x="1066800" y="5283250"/>
            <a:ext cx="1309291" cy="238720"/>
          </a:xfrm>
          <a:prstGeom prst="rect">
            <a:avLst/>
          </a:prstGeom>
          <a:noFill/>
          <a:ln/>
        </p:spPr>
        <p:txBody>
          <a:bodyPr wrap="non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WHERE IT FITS</a:t>
            </a:r>
            <a:endParaRPr lang="en-US" sz="1200" dirty="0"/>
          </a:p>
        </p:txBody>
      </p:sp>
      <p:sp>
        <p:nvSpPr>
          <p:cNvPr id="26" name="Text 24"/>
          <p:cNvSpPr/>
          <p:nvPr/>
        </p:nvSpPr>
        <p:spPr>
          <a:xfrm>
            <a:off x="2528491" y="5141020"/>
            <a:ext cx="88546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Inter" pitchFamily="34" charset="0"/>
                <a:ea typeface="Inter" pitchFamily="34" charset="-122"/>
                <a:cs typeface="Inter" pitchFamily="34" charset="-120"/>
              </a:rPr>
              <a:t>Stratos fixes the experience top down. MACH1 fixes the architecture bottom up. Trenchcoat is the surface where they meet.</a:t>
            </a:r>
            <a:endParaRPr lang="en-US" sz="14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09203"/>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7A5C30"/>
                </a:solidFill>
                <a:latin typeface="JetBrains Mono" pitchFamily="49" charset="0"/>
                <a:ea typeface="JetBrains Mono" pitchFamily="49" charset="-122"/>
                <a:cs typeface="JetBrains Mono" pitchFamily="49" charset="-120"/>
              </a:rPr>
              <a:t>02 · INDUSTRY RESEARCH · EVIDENCE</a:t>
            </a:r>
            <a:endParaRPr lang="en-US" sz="1050" dirty="0"/>
          </a:p>
        </p:txBody>
      </p:sp>
      <p:sp>
        <p:nvSpPr>
          <p:cNvPr id="3" name="Text 1"/>
          <p:cNvSpPr/>
          <p:nvPr>
            <p:ph type="title"/>
          </p:nvPr>
        </p:nvSpPr>
        <p:spPr>
          <a:xfrm>
            <a:off x="812800" y="1098203"/>
            <a:ext cx="11379200" cy="891877"/>
          </a:xfrm>
          <a:prstGeom prst="rect">
            <a:avLst/>
          </a:prstGeom>
          <a:noFill/>
          <a:ln/>
        </p:spPr>
        <p:txBody>
          <a:bodyPr wrap="square" lIns="0" tIns="0" rIns="0" bIns="0" rtlCol="0" anchor="t">
            <a:normAutofit/>
          </a:bodyPr>
          <a:lstStyle/>
          <a:p>
            <a:pPr algn="l" indent="0" marL="0">
              <a:lnSpc>
                <a:spcPts val="3601"/>
              </a:lnSpc>
              <a:buNone/>
            </a:pPr>
            <a:r>
              <a:rPr lang="en-US" sz="3274" b="1" i="0" spc="-50" kern="0" dirty="0">
                <a:solidFill>
                  <a:srgbClr val="15181C"/>
                </a:solidFill>
                <a:latin typeface="Archivo" pitchFamily="34" charset="0"/>
                <a:ea typeface="Archivo" pitchFamily="34" charset="-122"/>
                <a:cs typeface="Archivo" pitchFamily="34" charset="-120"/>
              </a:rPr>
              <a:t>Shared systems make teams faster, and design pays.</a:t>
            </a:r>
            <a:endParaRPr lang="en-US" sz="3274" dirty="0"/>
          </a:p>
        </p:txBody>
      </p:sp>
      <p:sp>
        <p:nvSpPr>
          <p:cNvPr id="4" name="Shape 2"/>
          <p:cNvSpPr/>
          <p:nvPr/>
        </p:nvSpPr>
        <p:spPr>
          <a:xfrm>
            <a:off x="812800" y="2586980"/>
            <a:ext cx="3318917" cy="0"/>
          </a:xfrm>
          <a:prstGeom prst="line">
            <a:avLst/>
          </a:prstGeom>
          <a:noFill/>
          <a:ln w="25400">
            <a:solidFill>
              <a:srgbClr val="15181C"/>
            </a:solidFill>
            <a:prstDash val="solid"/>
          </a:ln>
        </p:spPr>
      </p:sp>
      <p:sp>
        <p:nvSpPr>
          <p:cNvPr id="5" name="Text 3"/>
          <p:cNvSpPr/>
          <p:nvPr/>
        </p:nvSpPr>
        <p:spPr>
          <a:xfrm>
            <a:off x="812800" y="2752080"/>
            <a:ext cx="3418484" cy="998041"/>
          </a:xfrm>
          <a:prstGeom prst="rect">
            <a:avLst/>
          </a:prstGeom>
          <a:noFill/>
          <a:ln/>
        </p:spPr>
        <p:txBody>
          <a:bodyPr wrap="square" lIns="0" tIns="0" rIns="0" bIns="0" rtlCol="0" anchor="t">
            <a:normAutofit/>
          </a:bodyPr>
          <a:lstStyle/>
          <a:p>
            <a:pPr algn="l" indent="0" marL="0">
              <a:lnSpc>
                <a:spcPts val="7650"/>
              </a:lnSpc>
              <a:buNone/>
            </a:pPr>
            <a:r>
              <a:rPr lang="en-US" sz="7650" b="1" dirty="0">
                <a:solidFill>
                  <a:srgbClr val="7A5C30"/>
                </a:solidFill>
                <a:latin typeface="Archivo" pitchFamily="34" charset="0"/>
                <a:ea typeface="Archivo" pitchFamily="34" charset="-122"/>
                <a:cs typeface="Archivo" pitchFamily="34" charset="-120"/>
              </a:rPr>
              <a:t>34%</a:t>
            </a:r>
            <a:endParaRPr lang="en-US" sz="7650" dirty="0"/>
          </a:p>
        </p:txBody>
      </p:sp>
      <p:sp>
        <p:nvSpPr>
          <p:cNvPr id="6" name="Text 4"/>
          <p:cNvSpPr/>
          <p:nvPr/>
        </p:nvSpPr>
        <p:spPr>
          <a:xfrm>
            <a:off x="812800" y="3826321"/>
            <a:ext cx="3418484" cy="740221"/>
          </a:xfrm>
          <a:prstGeom prst="rect">
            <a:avLst/>
          </a:prstGeom>
          <a:noFill/>
          <a:ln/>
        </p:spPr>
        <p:txBody>
          <a:bodyPr wrap="square" lIns="0" tIns="0" rIns="0" bIns="0" rtlCol="0" anchor="t">
            <a:normAutofit/>
          </a:bodyPr>
          <a:lstStyle/>
          <a:p>
            <a:pPr algn="l" indent="0" marL="0">
              <a:lnSpc>
                <a:spcPts val="1886"/>
              </a:lnSpc>
              <a:buNone/>
            </a:pPr>
            <a:r>
              <a:rPr lang="en-US" sz="1347" b="1" dirty="0">
                <a:solidFill>
                  <a:srgbClr val="15181C"/>
                </a:solidFill>
                <a:latin typeface="Inter" pitchFamily="34" charset="0"/>
                <a:ea typeface="Inter" pitchFamily="34" charset="-122"/>
                <a:cs typeface="Inter" pitchFamily="34" charset="-120"/>
              </a:rPr>
              <a:t>faster design work.</a:t>
            </a:r>
            <a:r>
              <a:rPr lang="en-US" sz="1347" dirty="0">
                <a:solidFill>
                  <a:srgbClr val="15181C"/>
                </a:solidFill>
                <a:latin typeface="Inter" pitchFamily="34" charset="0"/>
                <a:ea typeface="Inter" pitchFamily="34" charset="-122"/>
                <a:cs typeface="Inter" pitchFamily="34" charset="-120"/>
              </a:rPr>
              <a:t> Designers finished a task 34% faster with a design system than without one.</a:t>
            </a:r>
            <a:endParaRPr lang="en-US" sz="1347" dirty="0"/>
          </a:p>
        </p:txBody>
      </p:sp>
      <p:sp>
        <p:nvSpPr>
          <p:cNvPr id="7" name="Text 5"/>
          <p:cNvSpPr/>
          <p:nvPr/>
        </p:nvSpPr>
        <p:spPr>
          <a:xfrm>
            <a:off x="812800" y="4642743"/>
            <a:ext cx="3418484" cy="22964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5F666E"/>
                </a:solidFill>
                <a:latin typeface="JetBrains Mono" pitchFamily="49" charset="0"/>
                <a:ea typeface="JetBrains Mono" pitchFamily="49" charset="-122"/>
                <a:cs typeface="JetBrains Mono" pitchFamily="49" charset="-120"/>
              </a:rPr>
              <a:t>Figma, controlled study, 2019</a:t>
            </a:r>
            <a:endParaRPr lang="en-US" sz="1159" dirty="0"/>
          </a:p>
        </p:txBody>
      </p:sp>
      <p:sp>
        <p:nvSpPr>
          <p:cNvPr id="8" name="Shape 6"/>
          <p:cNvSpPr/>
          <p:nvPr/>
        </p:nvSpPr>
        <p:spPr>
          <a:xfrm>
            <a:off x="4436517" y="2586980"/>
            <a:ext cx="3318966" cy="0"/>
          </a:xfrm>
          <a:prstGeom prst="line">
            <a:avLst/>
          </a:prstGeom>
          <a:noFill/>
          <a:ln w="25400">
            <a:solidFill>
              <a:srgbClr val="15181C"/>
            </a:solidFill>
            <a:prstDash val="solid"/>
          </a:ln>
        </p:spPr>
      </p:sp>
      <p:sp>
        <p:nvSpPr>
          <p:cNvPr id="9" name="Text 7"/>
          <p:cNvSpPr/>
          <p:nvPr/>
        </p:nvSpPr>
        <p:spPr>
          <a:xfrm>
            <a:off x="4436517" y="2752080"/>
            <a:ext cx="3418535" cy="998041"/>
          </a:xfrm>
          <a:prstGeom prst="rect">
            <a:avLst/>
          </a:prstGeom>
          <a:noFill/>
          <a:ln/>
        </p:spPr>
        <p:txBody>
          <a:bodyPr wrap="square" lIns="0" tIns="0" rIns="0" bIns="0" rtlCol="0" anchor="t">
            <a:normAutofit/>
          </a:bodyPr>
          <a:lstStyle/>
          <a:p>
            <a:pPr algn="l" indent="0" marL="0">
              <a:lnSpc>
                <a:spcPts val="7650"/>
              </a:lnSpc>
              <a:buNone/>
            </a:pPr>
            <a:r>
              <a:rPr lang="en-US" sz="7650" b="1" dirty="0">
                <a:solidFill>
                  <a:srgbClr val="7A5C30"/>
                </a:solidFill>
                <a:latin typeface="Archivo" pitchFamily="34" charset="0"/>
                <a:ea typeface="Archivo" pitchFamily="34" charset="-122"/>
                <a:cs typeface="Archivo" pitchFamily="34" charset="-120"/>
              </a:rPr>
              <a:t>47%</a:t>
            </a:r>
            <a:endParaRPr lang="en-US" sz="7650" dirty="0"/>
          </a:p>
        </p:txBody>
      </p:sp>
      <p:sp>
        <p:nvSpPr>
          <p:cNvPr id="10" name="Text 8"/>
          <p:cNvSpPr/>
          <p:nvPr/>
        </p:nvSpPr>
        <p:spPr>
          <a:xfrm>
            <a:off x="4436517" y="3826321"/>
            <a:ext cx="3418535" cy="740221"/>
          </a:xfrm>
          <a:prstGeom prst="rect">
            <a:avLst/>
          </a:prstGeom>
          <a:noFill/>
          <a:ln/>
        </p:spPr>
        <p:txBody>
          <a:bodyPr wrap="square" lIns="0" tIns="0" rIns="0" bIns="0" rtlCol="0" anchor="t">
            <a:normAutofit/>
          </a:bodyPr>
          <a:lstStyle/>
          <a:p>
            <a:pPr algn="l" indent="0" marL="0">
              <a:lnSpc>
                <a:spcPts val="1886"/>
              </a:lnSpc>
              <a:buNone/>
            </a:pPr>
            <a:r>
              <a:rPr lang="en-US" sz="1347" b="1" dirty="0">
                <a:solidFill>
                  <a:srgbClr val="15181C"/>
                </a:solidFill>
                <a:latin typeface="Inter" pitchFamily="34" charset="0"/>
                <a:ea typeface="Inter" pitchFamily="34" charset="-122"/>
                <a:cs typeface="Inter" pitchFamily="34" charset="-120"/>
              </a:rPr>
              <a:t>faster development.</a:t>
            </a:r>
            <a:r>
              <a:rPr lang="en-US" sz="1347" dirty="0">
                <a:solidFill>
                  <a:srgbClr val="15181C"/>
                </a:solidFill>
                <a:latin typeface="Inter" pitchFamily="34" charset="0"/>
                <a:ea typeface="Inter" pitchFamily="34" charset="-122"/>
                <a:cs typeface="Inter" pitchFamily="34" charset="-120"/>
              </a:rPr>
              <a:t> Developers built the same form 47% faster with IBM’s Carbon than from scratch.</a:t>
            </a:r>
            <a:endParaRPr lang="en-US" sz="1347" dirty="0"/>
          </a:p>
        </p:txBody>
      </p:sp>
      <p:sp>
        <p:nvSpPr>
          <p:cNvPr id="11" name="Text 9"/>
          <p:cNvSpPr/>
          <p:nvPr/>
        </p:nvSpPr>
        <p:spPr>
          <a:xfrm>
            <a:off x="4436517" y="4642743"/>
            <a:ext cx="3418535" cy="22964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5F666E"/>
                </a:solidFill>
                <a:latin typeface="JetBrains Mono" pitchFamily="49" charset="0"/>
                <a:ea typeface="JetBrains Mono" pitchFamily="49" charset="-122"/>
                <a:cs typeface="JetBrains Mono" pitchFamily="49" charset="-120"/>
              </a:rPr>
              <a:t>Sparkbox, Carbon study</a:t>
            </a:r>
            <a:endParaRPr lang="en-US" sz="1159" dirty="0"/>
          </a:p>
        </p:txBody>
      </p:sp>
      <p:sp>
        <p:nvSpPr>
          <p:cNvPr id="12" name="Shape 10"/>
          <p:cNvSpPr/>
          <p:nvPr/>
        </p:nvSpPr>
        <p:spPr>
          <a:xfrm>
            <a:off x="8060283" y="2586980"/>
            <a:ext cx="3318917" cy="0"/>
          </a:xfrm>
          <a:prstGeom prst="line">
            <a:avLst/>
          </a:prstGeom>
          <a:noFill/>
          <a:ln w="25400">
            <a:solidFill>
              <a:srgbClr val="15181C"/>
            </a:solidFill>
            <a:prstDash val="solid"/>
          </a:ln>
        </p:spPr>
      </p:sp>
      <p:sp>
        <p:nvSpPr>
          <p:cNvPr id="13" name="Text 11"/>
          <p:cNvSpPr/>
          <p:nvPr/>
        </p:nvSpPr>
        <p:spPr>
          <a:xfrm>
            <a:off x="8060283" y="2752080"/>
            <a:ext cx="3418484" cy="889298"/>
          </a:xfrm>
          <a:prstGeom prst="rect">
            <a:avLst/>
          </a:prstGeom>
          <a:noFill/>
          <a:ln/>
        </p:spPr>
        <p:txBody>
          <a:bodyPr wrap="square" lIns="0" tIns="0" rIns="0" bIns="0" rtlCol="0" anchor="t">
            <a:normAutofit/>
          </a:bodyPr>
          <a:lstStyle/>
          <a:p>
            <a:pPr algn="l" indent="0" marL="0">
              <a:lnSpc>
                <a:spcPts val="6800"/>
              </a:lnSpc>
              <a:buNone/>
            </a:pPr>
            <a:r>
              <a:rPr lang="en-US" sz="6800" b="1" dirty="0">
                <a:solidFill>
                  <a:srgbClr val="7A5C30"/>
                </a:solidFill>
                <a:latin typeface="Archivo" pitchFamily="34" charset="0"/>
                <a:ea typeface="Archivo" pitchFamily="34" charset="-122"/>
                <a:cs typeface="Archivo" pitchFamily="34" charset="-120"/>
              </a:rPr>
              <a:t>+32</a:t>
            </a:r>
            <a:endParaRPr lang="en-US" sz="6800" dirty="0"/>
          </a:p>
        </p:txBody>
      </p:sp>
      <p:sp>
        <p:nvSpPr>
          <p:cNvPr id="14" name="Text 12"/>
          <p:cNvSpPr/>
          <p:nvPr/>
        </p:nvSpPr>
        <p:spPr>
          <a:xfrm>
            <a:off x="8060283" y="3717578"/>
            <a:ext cx="3418484" cy="871835"/>
          </a:xfrm>
          <a:prstGeom prst="rect">
            <a:avLst/>
          </a:prstGeom>
          <a:noFill/>
          <a:ln/>
        </p:spPr>
        <p:txBody>
          <a:bodyPr wrap="square" lIns="0" tIns="0" rIns="0" bIns="0" rtlCol="0" anchor="t">
            <a:normAutofit/>
          </a:bodyPr>
          <a:lstStyle/>
          <a:p>
            <a:pPr algn="l" indent="0" marL="0">
              <a:lnSpc>
                <a:spcPts val="1831"/>
              </a:lnSpc>
              <a:buNone/>
            </a:pPr>
            <a:r>
              <a:rPr lang="en-US" sz="1308" b="1" dirty="0">
                <a:solidFill>
                  <a:srgbClr val="15181C"/>
                </a:solidFill>
                <a:latin typeface="Inter" pitchFamily="34" charset="0"/>
                <a:ea typeface="Inter" pitchFamily="34" charset="-122"/>
                <a:cs typeface="Inter" pitchFamily="34" charset="-120"/>
              </a:rPr>
              <a:t>points of revenue growth.</a:t>
            </a:r>
            <a:r>
              <a:rPr lang="en-US" sz="1308" dirty="0">
                <a:solidFill>
                  <a:srgbClr val="15181C"/>
                </a:solidFill>
                <a:latin typeface="Inter" pitchFamily="34" charset="0"/>
                <a:ea typeface="Inter" pitchFamily="34" charset="-122"/>
                <a:cs typeface="Inter" pitchFamily="34" charset="-120"/>
              </a:rPr>
              <a:t> Top-quartile design performers outgrew industry peers over five years, across 300 companies.</a:t>
            </a:r>
            <a:endParaRPr lang="en-US" sz="1308" dirty="0"/>
          </a:p>
        </p:txBody>
      </p:sp>
      <p:sp>
        <p:nvSpPr>
          <p:cNvPr id="15" name="Text 13"/>
          <p:cNvSpPr/>
          <p:nvPr/>
        </p:nvSpPr>
        <p:spPr>
          <a:xfrm>
            <a:off x="8060283" y="4665613"/>
            <a:ext cx="3418484" cy="20677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F666E"/>
                </a:solidFill>
                <a:latin typeface="JetBrains Mono" pitchFamily="49" charset="0"/>
                <a:ea typeface="JetBrains Mono" pitchFamily="49" charset="-122"/>
                <a:cs typeface="JetBrains Mono" pitchFamily="49" charset="-120"/>
              </a:rPr>
              <a:t>McKinsey Design Index, 2018</a:t>
            </a:r>
            <a:endParaRPr lang="en-US" sz="1050" dirty="0"/>
          </a:p>
        </p:txBody>
      </p:sp>
      <p:sp>
        <p:nvSpPr>
          <p:cNvPr id="16" name="Text 14"/>
          <p:cNvSpPr/>
          <p:nvPr/>
        </p:nvSpPr>
        <p:spPr>
          <a:xfrm>
            <a:off x="812800" y="5456585"/>
            <a:ext cx="10883392" cy="410815"/>
          </a:xfrm>
          <a:prstGeom prst="rect">
            <a:avLst/>
          </a:prstGeom>
          <a:noFill/>
          <a:ln/>
        </p:spPr>
        <p:txBody>
          <a:bodyPr wrap="square" lIns="0" tIns="0" rIns="0" bIns="0" rtlCol="0" anchor="t">
            <a:normAutofit/>
          </a:bodyPr>
          <a:lstStyle/>
          <a:p>
            <a:pPr algn="l" indent="0" marL="0">
              <a:lnSpc>
                <a:spcPts val="1533"/>
              </a:lnSpc>
              <a:buNone/>
            </a:pPr>
            <a:r>
              <a:rPr lang="en-US" sz="1058" b="1" dirty="0">
                <a:solidFill>
                  <a:srgbClr val="4A5159"/>
                </a:solidFill>
                <a:latin typeface="Inter" pitchFamily="34" charset="0"/>
                <a:ea typeface="Inter" pitchFamily="34" charset="-122"/>
                <a:cs typeface="Inter" pitchFamily="34" charset="-120"/>
              </a:rPr>
              <a:t>Read with care:</a:t>
            </a:r>
            <a:r>
              <a:rPr lang="en-US" sz="1058" dirty="0">
                <a:solidFill>
                  <a:srgbClr val="4A5159"/>
                </a:solidFill>
                <a:latin typeface="Inter" pitchFamily="34" charset="0"/>
                <a:ea typeface="Inter" pitchFamily="34" charset="-122"/>
                <a:cs typeface="Inter" pitchFamily="34" charset="-120"/>
              </a:rPr>
              <a:t> the Figma and Sparkbox results are small controlled studies (Figma calls 34% an upper bound), and McKinsey shows correlation, not causation. The direction is consistent across all three.</a:t>
            </a:r>
            <a:endParaRPr lang="en-US" sz="1058"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02 · INDUSTRY RESEARCH · LANDSCAPE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Every serious software organization runs one.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3634085"/>
        </p:xfrm>
        <a:graphic>
          <a:graphicData uri="http://schemas.openxmlformats.org/drawingml/2006/table">
            <a:tbl>
              <a:tblPr/>
              <a:tblGrid>
                <a:gridCol w="2321814"/>
                <a:gridCol w="2743962"/>
                <a:gridCol w="5487924"/>
              </a:tblGrid>
              <a:tr h="332680">
                <a:tc>
                  <a:txBody>
                    <a:bodyPr/>
                    <a:lstStyle/>
                    <a:p>
                      <a:pPr indent="0" marL="0">
                        <a:lnSpc>
                          <a:spcPts val="1680"/>
                        </a:lnSpc>
                        <a:buNone/>
                      </a:pPr>
                      <a:r>
                        <a:rPr lang="en-US" sz="1200" b="1" dirty="0">
                          <a:solidFill>
                            <a:srgbClr val="F3EFE6"/>
                          </a:solidFill>
                          <a:latin typeface="Inter" pitchFamily="34" charset="0"/>
                          <a:ea typeface="Inter" pitchFamily="34" charset="-122"/>
                          <a:cs typeface="Inter" pitchFamily="34" charset="-120"/>
                        </a:rPr>
                        <a:t>Organization</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5171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5171A"/>
                      </a:solidFill>
                      <a:prstDash val="solid"/>
                      <a:round/>
                      <a:headEnd type="none" w="med" len="med"/>
                      <a:tailEnd type="none" w="med" len="med"/>
                    </a:lnB>
                    <a:solidFill>
                      <a:srgbClr val="15181C"/>
                    </a:solidFill>
                  </a:tcPr>
                </a:tc>
                <a:tc>
                  <a:txBody>
                    <a:bodyPr/>
                    <a:lstStyle/>
                    <a:p>
                      <a:pPr indent="0" marL="0">
                        <a:lnSpc>
                          <a:spcPts val="1680"/>
                        </a:lnSpc>
                        <a:buNone/>
                      </a:pPr>
                      <a:r>
                        <a:rPr lang="en-US" sz="1200" b="1" dirty="0">
                          <a:solidFill>
                            <a:srgbClr val="F3EFE6"/>
                          </a:solidFill>
                          <a:latin typeface="Inter" pitchFamily="34" charset="0"/>
                          <a:ea typeface="Inter" pitchFamily="34" charset="-122"/>
                          <a:cs typeface="Inter" pitchFamily="34" charset="-120"/>
                        </a:rPr>
                        <a:t>System</a:t>
                      </a:r>
                      <a:endParaRPr lang="en-US" sz="1200" dirty="0">
                        <a:latin typeface="Inter" charset="0"/>
                        <a:ea typeface="Inter" charset="0"/>
                        <a:cs typeface="Inter" charset="0"/>
                      </a:endParaRPr>
                    </a:p>
                  </a:txBody>
                  <a:tcPr marL="53340" marR="53340" marT="53340" marB="53340" anchor="t">
                    <a:lnL w="12700" cap="flat" cmpd="sng" algn="ctr">
                      <a:solidFill>
                        <a:srgbClr val="15171A"/>
                      </a:solidFill>
                      <a:prstDash val="solid"/>
                      <a:round/>
                      <a:headEnd type="none" w="med" len="med"/>
                      <a:tailEnd type="none" w="med" len="med"/>
                    </a:lnL>
                    <a:lnR w="12700" cap="flat" cmpd="sng" algn="ctr">
                      <a:solidFill>
                        <a:srgbClr val="15171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5171A"/>
                      </a:solidFill>
                      <a:prstDash val="solid"/>
                      <a:round/>
                      <a:headEnd type="none" w="med" len="med"/>
                      <a:tailEnd type="none" w="med" len="med"/>
                    </a:lnB>
                    <a:solidFill>
                      <a:srgbClr val="15181C"/>
                    </a:solidFill>
                  </a:tcPr>
                </a:tc>
                <a:tc>
                  <a:txBody>
                    <a:bodyPr/>
                    <a:lstStyle/>
                    <a:p>
                      <a:pPr indent="0" marL="0">
                        <a:lnSpc>
                          <a:spcPts val="1680"/>
                        </a:lnSpc>
                        <a:buNone/>
                      </a:pPr>
                      <a:r>
                        <a:rPr lang="en-US" sz="1200" b="1" dirty="0">
                          <a:solidFill>
                            <a:srgbClr val="F3EFE6"/>
                          </a:solidFill>
                          <a:latin typeface="Inter" pitchFamily="34" charset="0"/>
                          <a:ea typeface="Inter" pitchFamily="34" charset="-122"/>
                          <a:cs typeface="Inter" pitchFamily="34" charset="-120"/>
                        </a:rPr>
                        <a:t>What it proves</a:t>
                      </a:r>
                      <a:endParaRPr lang="en-US" sz="1200" dirty="0">
                        <a:latin typeface="Inter" charset="0"/>
                        <a:ea typeface="Inter" charset="0"/>
                        <a:cs typeface="Inter" charset="0"/>
                      </a:endParaRPr>
                    </a:p>
                  </a:txBody>
                  <a:tcPr marL="53340" marR="53340" marT="53340" marB="53340" anchor="t">
                    <a:lnL w="12700" cap="flat" cmpd="sng" algn="ctr">
                      <a:solidFill>
                        <a:srgbClr val="15171A"/>
                      </a:solidFill>
                      <a:prstDash val="solid"/>
                      <a:round/>
                      <a:headEnd type="none" w="med" len="med"/>
                      <a:tailEnd type="none" w="med" len="med"/>
                    </a:lnL>
                    <a:lnR w="12700" cap="flat" cmpd="sng" algn="ctr">
                      <a:solidFill>
                        <a:srgbClr val="15171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5171A"/>
                      </a:solidFill>
                      <a:prstDash val="solid"/>
                      <a:round/>
                      <a:headEnd type="none" w="med" len="med"/>
                      <a:tailEnd type="none" w="med" len="med"/>
                    </a:lnB>
                    <a:solidFill>
                      <a:srgbClr val="15181C"/>
                    </a:solidFill>
                  </a:tcPr>
                </a:tc>
              </a:tr>
              <a:tr h="332680">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Google</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5171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Material Design</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5171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One language can span phones, web, desktop and partner products.</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5171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IBM</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Carbon</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Open source code plus design kits can serve a large enterprise portfolio.</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r>
              <a:tr h="332680">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Microsoft</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Fluent</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A single system can unify web, desktop and mobile apps.</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Salesforce</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Lightning Design System</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Design tokens, which Salesforce pioneered, keep one look across platforms.</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r>
              <a:tr h="332680">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Atlassian</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Atlassian Design System</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Separately built products can converge into one family experience.</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U.S. Government</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USWDS</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Used by 94 agencies and 160 websites (2023): government can do this.</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r>
              <a:tr h="546001">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UK Government</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GOV.UK Design System</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Research-backed patterns can be shared across departments and services.</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Rocket Communications</a:t>
                      </a:r>
                      <a:endParaRPr lang="en-US" sz="1200" dirty="0">
                        <a:latin typeface="Inter" charset="0"/>
                        <a:ea typeface="Inter" charset="0"/>
                        <a:cs typeface="Inter"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Astro UXDS</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indent="0" marL="0">
                        <a:lnSpc>
                          <a:spcPts val="1680"/>
                        </a:lnSpc>
                        <a:buNone/>
                      </a:pPr>
                      <a:r>
                        <a:rPr lang="en-US" sz="1200" dirty="0">
                          <a:solidFill>
                            <a:srgbClr val="15181C"/>
                          </a:solidFill>
                          <a:latin typeface="Inter" pitchFamily="34" charset="0"/>
                          <a:ea typeface="Inter" pitchFamily="34" charset="-122"/>
                          <a:cs typeface="Inter" pitchFamily="34" charset="-120"/>
                        </a:rPr>
                        <a:t>Mission-critical space and C2 software can have one operational language.</a:t>
                      </a:r>
                      <a:endParaRPr lang="en-US" sz="1200" dirty="0">
                        <a:latin typeface="Inter" charset="0"/>
                        <a:ea typeface="Inter" charset="0"/>
                        <a:cs typeface="Inter" charset="0"/>
                      </a:endParaRPr>
                    </a:p>
                  </a:txBody>
                  <a:tcPr marL="53340" marR="53340" marT="53340" marB="53340" anchor="t">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r>
            </a:tbl>
          </a:graphicData>
        </a:graphic>
      </p:graphicFrame>
      <p:sp>
        <p:nvSpPr>
          <p:cNvPr id="5" name="Text 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02 · INDUSTRY RESEARCH · LESSONS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Five lessons we are taking from the field.</a:t>
            </a:r>
            <a:endParaRPr lang="en-US" sz="3600" dirty="0"/>
          </a:p>
        </p:txBody>
      </p:sp>
      <p:sp>
        <p:nvSpPr>
          <p:cNvPr id="4" name="Shape 2"/>
          <p:cNvSpPr/>
          <p:nvPr/>
        </p:nvSpPr>
        <p:spPr>
          <a:xfrm>
            <a:off x="812800" y="1941761"/>
            <a:ext cx="10566400" cy="0"/>
          </a:xfrm>
          <a:prstGeom prst="line">
            <a:avLst/>
          </a:prstGeom>
          <a:noFill/>
          <a:ln w="12700">
            <a:solidFill>
              <a:srgbClr val="15181C"/>
            </a:solidFill>
            <a:prstDash val="solid"/>
          </a:ln>
        </p:spPr>
      </p:sp>
      <p:sp>
        <p:nvSpPr>
          <p:cNvPr id="5" name="Text 3"/>
          <p:cNvSpPr/>
          <p:nvPr/>
        </p:nvSpPr>
        <p:spPr>
          <a:xfrm>
            <a:off x="812800" y="2125911"/>
            <a:ext cx="685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7A5C30"/>
                </a:solidFill>
                <a:latin typeface="JetBrains Mono" pitchFamily="49" charset="0"/>
                <a:ea typeface="JetBrains Mono" pitchFamily="49" charset="-122"/>
                <a:cs typeface="JetBrains Mono" pitchFamily="49" charset="-120"/>
              </a:rPr>
              <a:t>01</a:t>
            </a:r>
            <a:endParaRPr lang="en-US" sz="2200" dirty="0"/>
          </a:p>
        </p:txBody>
      </p:sp>
      <p:sp>
        <p:nvSpPr>
          <p:cNvPr id="6" name="Text 4"/>
          <p:cNvSpPr/>
          <p:nvPr/>
        </p:nvSpPr>
        <p:spPr>
          <a:xfrm>
            <a:off x="1701800" y="2199531"/>
            <a:ext cx="3008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Tokens before components</a:t>
            </a:r>
            <a:endParaRPr lang="en-US" sz="1600" dirty="0"/>
          </a:p>
        </p:txBody>
      </p:sp>
      <p:sp>
        <p:nvSpPr>
          <p:cNvPr id="7" name="Text 5"/>
          <p:cNvSpPr/>
          <p:nvPr/>
        </p:nvSpPr>
        <p:spPr>
          <a:xfrm>
            <a:off x="4876800" y="2100511"/>
            <a:ext cx="669747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Lock the values first (color, type, space). Components inherit them, so a change lands everywhere at once.</a:t>
            </a:r>
            <a:endParaRPr lang="en-US" sz="1200" dirty="0"/>
          </a:p>
        </p:txBody>
      </p:sp>
      <p:sp>
        <p:nvSpPr>
          <p:cNvPr id="8" name="Shape 6"/>
          <p:cNvSpPr/>
          <p:nvPr/>
        </p:nvSpPr>
        <p:spPr>
          <a:xfrm>
            <a:off x="812800" y="2698006"/>
            <a:ext cx="10566400" cy="0"/>
          </a:xfrm>
          <a:prstGeom prst="line">
            <a:avLst/>
          </a:prstGeom>
          <a:noFill/>
          <a:ln w="6350">
            <a:solidFill>
              <a:srgbClr val="C9C5BA"/>
            </a:solidFill>
            <a:prstDash val="solid"/>
          </a:ln>
        </p:spPr>
      </p:sp>
      <p:sp>
        <p:nvSpPr>
          <p:cNvPr id="9" name="Text 7"/>
          <p:cNvSpPr/>
          <p:nvPr/>
        </p:nvSpPr>
        <p:spPr>
          <a:xfrm>
            <a:off x="812800" y="2878981"/>
            <a:ext cx="685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7A5C30"/>
                </a:solidFill>
                <a:latin typeface="JetBrains Mono" pitchFamily="49" charset="0"/>
                <a:ea typeface="JetBrains Mono" pitchFamily="49" charset="-122"/>
                <a:cs typeface="JetBrains Mono" pitchFamily="49" charset="-120"/>
              </a:rPr>
              <a:t>02</a:t>
            </a:r>
            <a:endParaRPr lang="en-US" sz="2200" dirty="0"/>
          </a:p>
        </p:txBody>
      </p:sp>
      <p:sp>
        <p:nvSpPr>
          <p:cNvPr id="10" name="Text 8"/>
          <p:cNvSpPr/>
          <p:nvPr/>
        </p:nvSpPr>
        <p:spPr>
          <a:xfrm>
            <a:off x="1701800" y="2952601"/>
            <a:ext cx="3008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Ship code, not pictures</a:t>
            </a:r>
            <a:endParaRPr lang="en-US" sz="1600" dirty="0"/>
          </a:p>
        </p:txBody>
      </p:sp>
      <p:sp>
        <p:nvSpPr>
          <p:cNvPr id="11" name="Text 9"/>
          <p:cNvSpPr/>
          <p:nvPr/>
        </p:nvSpPr>
        <p:spPr>
          <a:xfrm>
            <a:off x="4876800" y="2853581"/>
            <a:ext cx="669747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A design kit without coded components drifts within months. Design and code release together.</a:t>
            </a:r>
            <a:endParaRPr lang="en-US" sz="1200" dirty="0"/>
          </a:p>
        </p:txBody>
      </p:sp>
      <p:sp>
        <p:nvSpPr>
          <p:cNvPr id="12" name="Shape 10"/>
          <p:cNvSpPr/>
          <p:nvPr/>
        </p:nvSpPr>
        <p:spPr>
          <a:xfrm>
            <a:off x="812800" y="3451076"/>
            <a:ext cx="10566400" cy="0"/>
          </a:xfrm>
          <a:prstGeom prst="line">
            <a:avLst/>
          </a:prstGeom>
          <a:noFill/>
          <a:ln w="6350">
            <a:solidFill>
              <a:srgbClr val="C9C5BA"/>
            </a:solidFill>
            <a:prstDash val="solid"/>
          </a:ln>
        </p:spPr>
      </p:sp>
      <p:sp>
        <p:nvSpPr>
          <p:cNvPr id="13" name="Text 11"/>
          <p:cNvSpPr/>
          <p:nvPr/>
        </p:nvSpPr>
        <p:spPr>
          <a:xfrm>
            <a:off x="812800" y="3632051"/>
            <a:ext cx="685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7A5C30"/>
                </a:solidFill>
                <a:latin typeface="JetBrains Mono" pitchFamily="49" charset="0"/>
                <a:ea typeface="JetBrains Mono" pitchFamily="49" charset="-122"/>
                <a:cs typeface="JetBrains Mono" pitchFamily="49" charset="-120"/>
              </a:rPr>
              <a:t>03</a:t>
            </a:r>
            <a:endParaRPr lang="en-US" sz="2200" dirty="0"/>
          </a:p>
        </p:txBody>
      </p:sp>
      <p:sp>
        <p:nvSpPr>
          <p:cNvPr id="14" name="Text 12"/>
          <p:cNvSpPr/>
          <p:nvPr/>
        </p:nvSpPr>
        <p:spPr>
          <a:xfrm>
            <a:off x="1701800" y="3705671"/>
            <a:ext cx="3008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Federate contribution</a:t>
            </a:r>
            <a:endParaRPr lang="en-US" sz="1600" dirty="0"/>
          </a:p>
        </p:txBody>
      </p:sp>
      <p:sp>
        <p:nvSpPr>
          <p:cNvPr id="15" name="Text 13"/>
          <p:cNvSpPr/>
          <p:nvPr/>
        </p:nvSpPr>
        <p:spPr>
          <a:xfrm>
            <a:off x="4876800" y="3606651"/>
            <a:ext cx="669747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A small core team plus contributions from app teams beats both a central bottleneck and a free-for-all.</a:t>
            </a:r>
            <a:endParaRPr lang="en-US" sz="1200" dirty="0"/>
          </a:p>
        </p:txBody>
      </p:sp>
      <p:sp>
        <p:nvSpPr>
          <p:cNvPr id="16" name="Shape 14"/>
          <p:cNvSpPr/>
          <p:nvPr/>
        </p:nvSpPr>
        <p:spPr>
          <a:xfrm>
            <a:off x="812800" y="4204146"/>
            <a:ext cx="10566400" cy="0"/>
          </a:xfrm>
          <a:prstGeom prst="line">
            <a:avLst/>
          </a:prstGeom>
          <a:noFill/>
          <a:ln w="6350">
            <a:solidFill>
              <a:srgbClr val="C9C5BA"/>
            </a:solidFill>
            <a:prstDash val="solid"/>
          </a:ln>
        </p:spPr>
      </p:sp>
      <p:sp>
        <p:nvSpPr>
          <p:cNvPr id="17" name="Text 15"/>
          <p:cNvSpPr/>
          <p:nvPr/>
        </p:nvSpPr>
        <p:spPr>
          <a:xfrm>
            <a:off x="812800" y="4385121"/>
            <a:ext cx="685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7A5C30"/>
                </a:solidFill>
                <a:latin typeface="JetBrains Mono" pitchFamily="49" charset="0"/>
                <a:ea typeface="JetBrains Mono" pitchFamily="49" charset="-122"/>
                <a:cs typeface="JetBrains Mono" pitchFamily="49" charset="-120"/>
              </a:rPr>
              <a:t>04</a:t>
            </a:r>
            <a:endParaRPr lang="en-US" sz="2200" dirty="0"/>
          </a:p>
        </p:txBody>
      </p:sp>
      <p:sp>
        <p:nvSpPr>
          <p:cNvPr id="18" name="Text 16"/>
          <p:cNvSpPr/>
          <p:nvPr/>
        </p:nvSpPr>
        <p:spPr>
          <a:xfrm>
            <a:off x="1701800" y="4458742"/>
            <a:ext cx="3008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Treat docs as product</a:t>
            </a:r>
            <a:endParaRPr lang="en-US" sz="1600" dirty="0"/>
          </a:p>
        </p:txBody>
      </p:sp>
      <p:sp>
        <p:nvSpPr>
          <p:cNvPr id="19" name="Text 17"/>
          <p:cNvSpPr/>
          <p:nvPr/>
        </p:nvSpPr>
        <p:spPr>
          <a:xfrm>
            <a:off x="4876800" y="4359721"/>
            <a:ext cx="669747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Usage guidance, do and don’t examples and live demos drive adoption further than mandates do.</a:t>
            </a:r>
            <a:endParaRPr lang="en-US" sz="1200" dirty="0"/>
          </a:p>
        </p:txBody>
      </p:sp>
      <p:sp>
        <p:nvSpPr>
          <p:cNvPr id="20" name="Shape 18"/>
          <p:cNvSpPr/>
          <p:nvPr/>
        </p:nvSpPr>
        <p:spPr>
          <a:xfrm>
            <a:off x="812800" y="4957217"/>
            <a:ext cx="10566400" cy="0"/>
          </a:xfrm>
          <a:prstGeom prst="line">
            <a:avLst/>
          </a:prstGeom>
          <a:noFill/>
          <a:ln w="6350">
            <a:solidFill>
              <a:srgbClr val="C9C5BA"/>
            </a:solidFill>
            <a:prstDash val="solid"/>
          </a:ln>
        </p:spPr>
      </p:sp>
      <p:sp>
        <p:nvSpPr>
          <p:cNvPr id="21" name="Shape 19"/>
          <p:cNvSpPr/>
          <p:nvPr/>
        </p:nvSpPr>
        <p:spPr>
          <a:xfrm>
            <a:off x="812800" y="5710287"/>
            <a:ext cx="10566400" cy="0"/>
          </a:xfrm>
          <a:prstGeom prst="line">
            <a:avLst/>
          </a:prstGeom>
          <a:noFill/>
          <a:ln w="6350">
            <a:solidFill>
              <a:srgbClr val="C9C5BA"/>
            </a:solidFill>
            <a:prstDash val="solid"/>
          </a:ln>
        </p:spPr>
      </p:sp>
      <p:sp>
        <p:nvSpPr>
          <p:cNvPr id="22" name="Text 20"/>
          <p:cNvSpPr/>
          <p:nvPr/>
        </p:nvSpPr>
        <p:spPr>
          <a:xfrm>
            <a:off x="812800" y="5138192"/>
            <a:ext cx="685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7A5C30"/>
                </a:solidFill>
                <a:latin typeface="JetBrains Mono" pitchFamily="49" charset="0"/>
                <a:ea typeface="JetBrains Mono" pitchFamily="49" charset="-122"/>
                <a:cs typeface="JetBrains Mono" pitchFamily="49" charset="-120"/>
              </a:rPr>
              <a:t>05</a:t>
            </a:r>
            <a:endParaRPr lang="en-US" sz="2200" dirty="0"/>
          </a:p>
        </p:txBody>
      </p:sp>
      <p:sp>
        <p:nvSpPr>
          <p:cNvPr id="23" name="Text 21"/>
          <p:cNvSpPr/>
          <p:nvPr/>
        </p:nvSpPr>
        <p:spPr>
          <a:xfrm>
            <a:off x="1701800" y="5211812"/>
            <a:ext cx="30086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Measure adoption in code</a:t>
            </a:r>
            <a:endParaRPr lang="en-US" sz="1600" dirty="0"/>
          </a:p>
        </p:txBody>
      </p:sp>
      <p:sp>
        <p:nvSpPr>
          <p:cNvPr id="24" name="Text 22"/>
          <p:cNvSpPr/>
          <p:nvPr/>
        </p:nvSpPr>
        <p:spPr>
          <a:xfrm>
            <a:off x="4876800" y="5112792"/>
            <a:ext cx="669747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Track token and component coverage straight from the codebase, not from surveys or self-reporting.</a:t>
            </a:r>
            <a:endParaRPr lang="en-US" sz="1200" dirty="0"/>
          </a:p>
        </p:txBody>
      </p:sp>
      <p:sp>
        <p:nvSpPr>
          <p:cNvPr id="25" name="Text 2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8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03 · FOUNDATIONS · PRINCIPLES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EFE6"/>
                </a:solidFill>
                <a:latin typeface="Archivo" pitchFamily="34" charset="0"/>
                <a:ea typeface="Archivo" pitchFamily="34" charset="-122"/>
                <a:cs typeface="Archivo" pitchFamily="34" charset="-120"/>
              </a:rPr>
              <a:t>Four principles decide every design call.</a:t>
            </a:r>
            <a:endParaRPr lang="en-US" sz="3600" dirty="0"/>
          </a:p>
        </p:txBody>
      </p:sp>
      <p:sp>
        <p:nvSpPr>
          <p:cNvPr id="4" name="Shape 2"/>
          <p:cNvSpPr/>
          <p:nvPr/>
        </p:nvSpPr>
        <p:spPr>
          <a:xfrm>
            <a:off x="812800" y="2661890"/>
            <a:ext cx="2489200" cy="2453580"/>
          </a:xfrm>
          <a:prstGeom prst="roundRect">
            <a:avLst>
              <a:gd name="adj" fmla="val 1035"/>
            </a:avLst>
          </a:prstGeom>
          <a:solidFill>
            <a:srgbClr val="22262B"/>
          </a:solidFill>
          <a:ln/>
        </p:spPr>
      </p:sp>
      <p:sp>
        <p:nvSpPr>
          <p:cNvPr id="5" name="Shape 3"/>
          <p:cNvSpPr/>
          <p:nvPr/>
        </p:nvSpPr>
        <p:spPr>
          <a:xfrm>
            <a:off x="812800" y="2661890"/>
            <a:ext cx="2489200" cy="2453580"/>
          </a:xfrm>
          <a:custGeom>
            <a:avLst/>
            <a:gdLst/>
            <a:ahLst/>
            <a:cxnLst/>
            <a:rect l="l" t="t" r="r" b="b"/>
            <a:pathLst>
              <a:path w="2489200" h="2453580">
                <a:moveTo>
                  <a:pt x="0" y="25400"/>
                </a:moveTo>
                <a:lnTo>
                  <a:pt x="0" y="25400"/>
                </a:lnTo>
                <a:arcTo hR="25400" wR="25400" stAng="10800000" swAng="5400000"/>
                <a:lnTo>
                  <a:pt x="2463800" y="0"/>
                </a:lnTo>
                <a:arcTo hR="25400" wR="25400" stAng="16200000" swAng="5400000"/>
                <a:lnTo>
                  <a:pt x="2489200" y="25400"/>
                </a:lnTo>
                <a:lnTo>
                  <a:pt x="0" y="25400"/>
                </a:lnTo>
                <a:close/>
              </a:path>
            </a:pathLst>
          </a:custGeom>
          <a:solidFill>
            <a:srgbClr val="C4A57A"/>
          </a:solidFill>
          <a:ln/>
        </p:spPr>
      </p:sp>
      <p:sp>
        <p:nvSpPr>
          <p:cNvPr id="6" name="Text 4"/>
          <p:cNvSpPr/>
          <p:nvPr/>
        </p:nvSpPr>
        <p:spPr>
          <a:xfrm>
            <a:off x="1066800" y="29412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1066800" y="3307011"/>
            <a:ext cx="20406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Mission first</a:t>
            </a:r>
            <a:endParaRPr lang="en-US" sz="1600" dirty="0"/>
          </a:p>
        </p:txBody>
      </p:sp>
      <p:sp>
        <p:nvSpPr>
          <p:cNvPr id="8" name="Text 6"/>
          <p:cNvSpPr/>
          <p:nvPr/>
        </p:nvSpPr>
        <p:spPr>
          <a:xfrm>
            <a:off x="1066800" y="3703241"/>
            <a:ext cx="2040636"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9B4A8"/>
                </a:solidFill>
                <a:latin typeface="Inter" pitchFamily="34" charset="0"/>
                <a:ea typeface="Inter" pitchFamily="34" charset="-122"/>
                <a:cs typeface="Inter" pitchFamily="34" charset="-120"/>
              </a:rPr>
              <a:t>Design for the task under pressure, not the demo. Every element earns its place.</a:t>
            </a:r>
            <a:endParaRPr lang="en-US" sz="1200" dirty="0"/>
          </a:p>
        </p:txBody>
      </p:sp>
      <p:sp>
        <p:nvSpPr>
          <p:cNvPr id="9" name="Shape 7"/>
          <p:cNvSpPr/>
          <p:nvPr/>
        </p:nvSpPr>
        <p:spPr>
          <a:xfrm>
            <a:off x="3505200" y="2661890"/>
            <a:ext cx="2489200" cy="2453580"/>
          </a:xfrm>
          <a:prstGeom prst="roundRect">
            <a:avLst>
              <a:gd name="adj" fmla="val 1035"/>
            </a:avLst>
          </a:prstGeom>
          <a:solidFill>
            <a:srgbClr val="22262B"/>
          </a:solidFill>
          <a:ln/>
        </p:spPr>
      </p:sp>
      <p:sp>
        <p:nvSpPr>
          <p:cNvPr id="10" name="Shape 8"/>
          <p:cNvSpPr/>
          <p:nvPr/>
        </p:nvSpPr>
        <p:spPr>
          <a:xfrm>
            <a:off x="3505200" y="2661890"/>
            <a:ext cx="2489200" cy="2453580"/>
          </a:xfrm>
          <a:custGeom>
            <a:avLst/>
            <a:gdLst/>
            <a:ahLst/>
            <a:cxnLst/>
            <a:rect l="l" t="t" r="r" b="b"/>
            <a:pathLst>
              <a:path w="2489200" h="2453580">
                <a:moveTo>
                  <a:pt x="0" y="25400"/>
                </a:moveTo>
                <a:lnTo>
                  <a:pt x="0" y="25400"/>
                </a:lnTo>
                <a:arcTo hR="25400" wR="25400" stAng="10800000" swAng="5400000"/>
                <a:lnTo>
                  <a:pt x="2463800" y="0"/>
                </a:lnTo>
                <a:arcTo hR="25400" wR="25400" stAng="16200000" swAng="5400000"/>
                <a:lnTo>
                  <a:pt x="2489200" y="25400"/>
                </a:lnTo>
                <a:lnTo>
                  <a:pt x="0" y="25400"/>
                </a:lnTo>
                <a:close/>
              </a:path>
            </a:pathLst>
          </a:custGeom>
          <a:solidFill>
            <a:srgbClr val="C4A57A"/>
          </a:solidFill>
          <a:ln/>
        </p:spPr>
      </p:sp>
      <p:sp>
        <p:nvSpPr>
          <p:cNvPr id="11" name="Text 9"/>
          <p:cNvSpPr/>
          <p:nvPr/>
        </p:nvSpPr>
        <p:spPr>
          <a:xfrm>
            <a:off x="3759200" y="29412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02</a:t>
            </a:r>
            <a:endParaRPr lang="en-US" sz="1200" dirty="0"/>
          </a:p>
        </p:txBody>
      </p:sp>
      <p:sp>
        <p:nvSpPr>
          <p:cNvPr id="12" name="Text 10"/>
          <p:cNvSpPr/>
          <p:nvPr/>
        </p:nvSpPr>
        <p:spPr>
          <a:xfrm>
            <a:off x="3759200" y="3307011"/>
            <a:ext cx="204063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Calm under load</a:t>
            </a:r>
            <a:endParaRPr lang="en-US" sz="1600" dirty="0"/>
          </a:p>
        </p:txBody>
      </p:sp>
      <p:sp>
        <p:nvSpPr>
          <p:cNvPr id="13" name="Text 11"/>
          <p:cNvSpPr/>
          <p:nvPr/>
        </p:nvSpPr>
        <p:spPr>
          <a:xfrm>
            <a:off x="3759200" y="3703241"/>
            <a:ext cx="2040636"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9B4A8"/>
                </a:solidFill>
                <a:latin typeface="Inter" pitchFamily="34" charset="0"/>
                <a:ea typeface="Inter" pitchFamily="34" charset="-122"/>
                <a:cs typeface="Inter" pitchFamily="34" charset="-120"/>
              </a:rPr>
              <a:t>Quiet by default, loud only when it matters. Color and motion are signals, never decoration.</a:t>
            </a:r>
            <a:endParaRPr lang="en-US" sz="1200" dirty="0"/>
          </a:p>
        </p:txBody>
      </p:sp>
      <p:sp>
        <p:nvSpPr>
          <p:cNvPr id="14" name="Shape 12"/>
          <p:cNvSpPr/>
          <p:nvPr/>
        </p:nvSpPr>
        <p:spPr>
          <a:xfrm>
            <a:off x="6197600" y="2661890"/>
            <a:ext cx="2489200" cy="2453580"/>
          </a:xfrm>
          <a:prstGeom prst="roundRect">
            <a:avLst>
              <a:gd name="adj" fmla="val 1035"/>
            </a:avLst>
          </a:prstGeom>
          <a:solidFill>
            <a:srgbClr val="22262B"/>
          </a:solidFill>
          <a:ln/>
        </p:spPr>
      </p:sp>
      <p:sp>
        <p:nvSpPr>
          <p:cNvPr id="15" name="Shape 13"/>
          <p:cNvSpPr/>
          <p:nvPr/>
        </p:nvSpPr>
        <p:spPr>
          <a:xfrm>
            <a:off x="6197600" y="2661890"/>
            <a:ext cx="2489200" cy="2453580"/>
          </a:xfrm>
          <a:custGeom>
            <a:avLst/>
            <a:gdLst/>
            <a:ahLst/>
            <a:cxnLst/>
            <a:rect l="l" t="t" r="r" b="b"/>
            <a:pathLst>
              <a:path w="2489200" h="2453580">
                <a:moveTo>
                  <a:pt x="0" y="25400"/>
                </a:moveTo>
                <a:lnTo>
                  <a:pt x="0" y="25400"/>
                </a:lnTo>
                <a:arcTo hR="25400" wR="25400" stAng="10800000" swAng="5400000"/>
                <a:lnTo>
                  <a:pt x="2463800" y="0"/>
                </a:lnTo>
                <a:arcTo hR="25400" wR="25400" stAng="16200000" swAng="5400000"/>
                <a:lnTo>
                  <a:pt x="2489200" y="25400"/>
                </a:lnTo>
                <a:lnTo>
                  <a:pt x="0" y="25400"/>
                </a:lnTo>
                <a:close/>
              </a:path>
            </a:pathLst>
          </a:custGeom>
          <a:solidFill>
            <a:srgbClr val="C4A57A"/>
          </a:solidFill>
          <a:ln/>
        </p:spPr>
      </p:sp>
      <p:sp>
        <p:nvSpPr>
          <p:cNvPr id="16" name="Text 14"/>
          <p:cNvSpPr/>
          <p:nvPr/>
        </p:nvSpPr>
        <p:spPr>
          <a:xfrm>
            <a:off x="6451600" y="29412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03</a:t>
            </a:r>
            <a:endParaRPr lang="en-US" sz="1200" dirty="0"/>
          </a:p>
        </p:txBody>
      </p:sp>
      <p:sp>
        <p:nvSpPr>
          <p:cNvPr id="17" name="Text 15"/>
          <p:cNvSpPr/>
          <p:nvPr/>
        </p:nvSpPr>
        <p:spPr>
          <a:xfrm>
            <a:off x="6451600" y="3307011"/>
            <a:ext cx="2040636"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Accessible by default</a:t>
            </a:r>
            <a:endParaRPr lang="en-US" sz="1600" dirty="0"/>
          </a:p>
        </p:txBody>
      </p:sp>
      <p:sp>
        <p:nvSpPr>
          <p:cNvPr id="18" name="Text 16"/>
          <p:cNvSpPr/>
          <p:nvPr/>
        </p:nvSpPr>
        <p:spPr>
          <a:xfrm>
            <a:off x="6451600" y="3947071"/>
            <a:ext cx="2040636"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9B4A8"/>
                </a:solidFill>
                <a:latin typeface="Inter" pitchFamily="34" charset="0"/>
                <a:ea typeface="Inter" pitchFamily="34" charset="-122"/>
                <a:cs typeface="Inter" pitchFamily="34" charset="-120"/>
              </a:rPr>
              <a:t>WCAG 2.2 AA and Section 508 are built into every component, so every team inherits compliance.</a:t>
            </a:r>
            <a:endParaRPr lang="en-US" sz="1200" dirty="0"/>
          </a:p>
        </p:txBody>
      </p:sp>
      <p:sp>
        <p:nvSpPr>
          <p:cNvPr id="19" name="Shape 17"/>
          <p:cNvSpPr/>
          <p:nvPr/>
        </p:nvSpPr>
        <p:spPr>
          <a:xfrm>
            <a:off x="8890000" y="2661890"/>
            <a:ext cx="2489200" cy="2453580"/>
          </a:xfrm>
          <a:prstGeom prst="roundRect">
            <a:avLst>
              <a:gd name="adj" fmla="val 1035"/>
            </a:avLst>
          </a:prstGeom>
          <a:solidFill>
            <a:srgbClr val="22262B"/>
          </a:solidFill>
          <a:ln/>
        </p:spPr>
      </p:sp>
      <p:sp>
        <p:nvSpPr>
          <p:cNvPr id="20" name="Shape 18"/>
          <p:cNvSpPr/>
          <p:nvPr/>
        </p:nvSpPr>
        <p:spPr>
          <a:xfrm>
            <a:off x="8890000" y="2661890"/>
            <a:ext cx="2489200" cy="2453580"/>
          </a:xfrm>
          <a:custGeom>
            <a:avLst/>
            <a:gdLst/>
            <a:ahLst/>
            <a:cxnLst/>
            <a:rect l="l" t="t" r="r" b="b"/>
            <a:pathLst>
              <a:path w="2489200" h="2453580">
                <a:moveTo>
                  <a:pt x="0" y="25400"/>
                </a:moveTo>
                <a:lnTo>
                  <a:pt x="0" y="25400"/>
                </a:lnTo>
                <a:arcTo hR="25400" wR="25400" stAng="10800000" swAng="5400000"/>
                <a:lnTo>
                  <a:pt x="2463800" y="0"/>
                </a:lnTo>
                <a:arcTo hR="25400" wR="25400" stAng="16200000" swAng="5400000"/>
                <a:lnTo>
                  <a:pt x="2489200" y="25400"/>
                </a:lnTo>
                <a:lnTo>
                  <a:pt x="0" y="25400"/>
                </a:lnTo>
                <a:close/>
              </a:path>
            </a:pathLst>
          </a:custGeom>
          <a:solidFill>
            <a:srgbClr val="C4A57A"/>
          </a:solidFill>
          <a:ln/>
        </p:spPr>
      </p:sp>
      <p:sp>
        <p:nvSpPr>
          <p:cNvPr id="21" name="Text 19"/>
          <p:cNvSpPr/>
          <p:nvPr/>
        </p:nvSpPr>
        <p:spPr>
          <a:xfrm>
            <a:off x="9144000" y="29412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04</a:t>
            </a:r>
            <a:endParaRPr lang="en-US" sz="1200" dirty="0"/>
          </a:p>
        </p:txBody>
      </p:sp>
      <p:sp>
        <p:nvSpPr>
          <p:cNvPr id="22" name="Text 20"/>
          <p:cNvSpPr/>
          <p:nvPr/>
        </p:nvSpPr>
        <p:spPr>
          <a:xfrm>
            <a:off x="9144000" y="3307011"/>
            <a:ext cx="22352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Human in command</a:t>
            </a:r>
            <a:endParaRPr lang="en-US" sz="1600" dirty="0"/>
          </a:p>
        </p:txBody>
      </p:sp>
      <p:sp>
        <p:nvSpPr>
          <p:cNvPr id="23" name="Text 21"/>
          <p:cNvSpPr/>
          <p:nvPr/>
        </p:nvSpPr>
        <p:spPr>
          <a:xfrm>
            <a:off x="9144000" y="3703241"/>
            <a:ext cx="2040636"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9B4A8"/>
                </a:solidFill>
                <a:latin typeface="Inter" pitchFamily="34" charset="0"/>
                <a:ea typeface="Inter" pitchFamily="34" charset="-122"/>
                <a:cs typeface="Inter" pitchFamily="34" charset="-120"/>
              </a:rPr>
              <a:t>SI suggests; people decide. Every SI output shows its source, its confidence and a way to override.</a:t>
            </a:r>
            <a:endParaRPr lang="en-US" sz="1200" dirty="0"/>
          </a:p>
        </p:txBody>
      </p:sp>
      <p:sp>
        <p:nvSpPr>
          <p:cNvPr id="24"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26318"/>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7A5C30"/>
                </a:solidFill>
                <a:latin typeface="JetBrains Mono" pitchFamily="49" charset="0"/>
                <a:ea typeface="JetBrains Mono" pitchFamily="49" charset="-122"/>
                <a:cs typeface="JetBrains Mono" pitchFamily="49" charset="-120"/>
              </a:rPr>
              <a:t>03 · FOUNDATIONS · TYPOGRAPHY</a:t>
            </a:r>
            <a:endParaRPr lang="en-US" sz="1159" dirty="0"/>
          </a:p>
        </p:txBody>
      </p:sp>
      <p:sp>
        <p:nvSpPr>
          <p:cNvPr id="3" name="Text 1"/>
          <p:cNvSpPr/>
          <p:nvPr>
            <p:ph type="title"/>
          </p:nvPr>
        </p:nvSpPr>
        <p:spPr>
          <a:xfrm>
            <a:off x="812800" y="1115318"/>
            <a:ext cx="10883392" cy="499021"/>
          </a:xfrm>
          <a:prstGeom prst="rect">
            <a:avLst/>
          </a:prstGeom>
          <a:noFill/>
          <a:ln/>
        </p:spPr>
        <p:txBody>
          <a:bodyPr wrap="square" lIns="0" tIns="0" rIns="0" bIns="0" rtlCol="0" anchor="t">
            <a:normAutofit/>
          </a:bodyPr>
          <a:lstStyle/>
          <a:p>
            <a:pPr algn="l" indent="0" marL="0">
              <a:lnSpc>
                <a:spcPts val="3774"/>
              </a:lnSpc>
              <a:buNone/>
            </a:pPr>
            <a:r>
              <a:rPr lang="en-US" sz="3431" b="1" i="0" spc="-50" kern="0" dirty="0">
                <a:solidFill>
                  <a:srgbClr val="15181C"/>
                </a:solidFill>
                <a:latin typeface="Archivo" pitchFamily="34" charset="0"/>
                <a:ea typeface="Archivo" pitchFamily="34" charset="-122"/>
                <a:cs typeface="Archivo" pitchFamily="34" charset="-120"/>
              </a:rPr>
              <a:t>Three typefaces, each with one job.</a:t>
            </a:r>
            <a:endParaRPr lang="en-US" sz="3431" dirty="0"/>
          </a:p>
        </p:txBody>
      </p:sp>
      <p:sp>
        <p:nvSpPr>
          <p:cNvPr id="4" name="Shape 2"/>
          <p:cNvSpPr/>
          <p:nvPr/>
        </p:nvSpPr>
        <p:spPr>
          <a:xfrm>
            <a:off x="815975" y="1896914"/>
            <a:ext cx="3380284" cy="2912914"/>
          </a:xfrm>
          <a:prstGeom prst="roundRect">
            <a:avLst>
              <a:gd name="adj" fmla="val 2507"/>
            </a:avLst>
          </a:prstGeom>
          <a:solidFill>
            <a:srgbClr val="FBF9F4"/>
          </a:solidFill>
          <a:ln w="6350">
            <a:solidFill>
              <a:srgbClr val="DCDAD3"/>
            </a:solidFill>
            <a:prstDash val="solid"/>
          </a:ln>
        </p:spPr>
      </p:sp>
      <p:sp>
        <p:nvSpPr>
          <p:cNvPr id="5" name="Text 3"/>
          <p:cNvSpPr/>
          <p:nvPr/>
        </p:nvSpPr>
        <p:spPr>
          <a:xfrm>
            <a:off x="1073150" y="2154089"/>
            <a:ext cx="2951912" cy="970657"/>
          </a:xfrm>
          <a:prstGeom prst="rect">
            <a:avLst/>
          </a:prstGeom>
          <a:noFill/>
          <a:ln/>
        </p:spPr>
        <p:txBody>
          <a:bodyPr wrap="square" lIns="0" tIns="0" rIns="0" bIns="0" rtlCol="0" anchor="t">
            <a:normAutofit/>
          </a:bodyPr>
          <a:lstStyle/>
          <a:p>
            <a:pPr algn="l" indent="0" marL="0">
              <a:lnSpc>
                <a:spcPts val="7450"/>
              </a:lnSpc>
              <a:buNone/>
            </a:pPr>
            <a:r>
              <a:rPr lang="en-US" sz="7450" b="1" dirty="0">
                <a:solidFill>
                  <a:srgbClr val="15181C"/>
                </a:solidFill>
                <a:latin typeface="Archivo" pitchFamily="34" charset="0"/>
                <a:ea typeface="Archivo" pitchFamily="34" charset="-122"/>
                <a:cs typeface="Archivo" pitchFamily="34" charset="-120"/>
              </a:rPr>
              <a:t>Aa</a:t>
            </a:r>
            <a:endParaRPr lang="en-US" sz="7450" dirty="0"/>
          </a:p>
        </p:txBody>
      </p:sp>
      <p:sp>
        <p:nvSpPr>
          <p:cNvPr id="6" name="Text 4"/>
          <p:cNvSpPr/>
          <p:nvPr/>
        </p:nvSpPr>
        <p:spPr>
          <a:xfrm>
            <a:off x="1073150" y="3200946"/>
            <a:ext cx="2951912" cy="337344"/>
          </a:xfrm>
          <a:prstGeom prst="rect">
            <a:avLst/>
          </a:prstGeom>
          <a:noFill/>
          <a:ln/>
        </p:spPr>
        <p:txBody>
          <a:bodyPr wrap="square" lIns="0" tIns="0" rIns="0" bIns="0" rtlCol="0" anchor="t">
            <a:normAutofit/>
          </a:bodyPr>
          <a:lstStyle/>
          <a:p>
            <a:pPr algn="l" indent="0" marL="0">
              <a:lnSpc>
                <a:spcPts val="2467"/>
              </a:lnSpc>
              <a:buNone/>
            </a:pPr>
            <a:r>
              <a:rPr lang="en-US" sz="2056" b="1" dirty="0">
                <a:solidFill>
                  <a:srgbClr val="15181C"/>
                </a:solidFill>
                <a:latin typeface="Archivo" pitchFamily="34" charset="0"/>
                <a:ea typeface="Archivo" pitchFamily="34" charset="-122"/>
                <a:cs typeface="Archivo" pitchFamily="34" charset="-120"/>
              </a:rPr>
              <a:t>Archivo</a:t>
            </a:r>
            <a:endParaRPr lang="en-US" sz="2056" dirty="0"/>
          </a:p>
        </p:txBody>
      </p:sp>
      <p:sp>
        <p:nvSpPr>
          <p:cNvPr id="7" name="Text 5"/>
          <p:cNvSpPr/>
          <p:nvPr/>
        </p:nvSpPr>
        <p:spPr>
          <a:xfrm>
            <a:off x="1073150" y="3614489"/>
            <a:ext cx="2951912" cy="223887"/>
          </a:xfrm>
          <a:prstGeom prst="rect">
            <a:avLst/>
          </a:prstGeom>
          <a:noFill/>
          <a:ln/>
        </p:spPr>
        <p:txBody>
          <a:bodyPr wrap="square" lIns="0" tIns="0" rIns="0" bIns="0" rtlCol="0" anchor="t">
            <a:normAutofit/>
          </a:bodyPr>
          <a:lstStyle/>
          <a:p>
            <a:pPr algn="l" indent="0" marL="0">
              <a:lnSpc>
                <a:spcPts val="1570"/>
              </a:lnSpc>
              <a:buNone/>
            </a:pPr>
            <a:r>
              <a:rPr lang="en-US" sz="1121" spc="100" kern="0" dirty="0">
                <a:solidFill>
                  <a:srgbClr val="7A5C30"/>
                </a:solidFill>
                <a:latin typeface="JetBrains Mono" pitchFamily="49" charset="0"/>
                <a:ea typeface="JetBrains Mono" pitchFamily="49" charset="-122"/>
                <a:cs typeface="JetBrains Mono" pitchFamily="49" charset="-120"/>
              </a:rPr>
              <a:t>DISPLAY · HEADLINES</a:t>
            </a:r>
            <a:endParaRPr lang="en-US" sz="1121" dirty="0"/>
          </a:p>
        </p:txBody>
      </p:sp>
      <p:sp>
        <p:nvSpPr>
          <p:cNvPr id="8" name="Text 6"/>
          <p:cNvSpPr/>
          <p:nvPr/>
        </p:nvSpPr>
        <p:spPr>
          <a:xfrm>
            <a:off x="1073150" y="3914577"/>
            <a:ext cx="2951912" cy="663476"/>
          </a:xfrm>
          <a:prstGeom prst="rect">
            <a:avLst/>
          </a:prstGeom>
          <a:noFill/>
          <a:ln/>
        </p:spPr>
        <p:txBody>
          <a:bodyPr wrap="square" lIns="0" tIns="0" rIns="0" bIns="0" rtlCol="0" anchor="t">
            <a:normAutofit/>
          </a:bodyPr>
          <a:lstStyle/>
          <a:p>
            <a:pPr algn="l" indent="0" marL="0">
              <a:lnSpc>
                <a:spcPts val="1671"/>
              </a:lnSpc>
              <a:buNone/>
            </a:pPr>
            <a:r>
              <a:rPr lang="en-US" sz="1114" dirty="0">
                <a:solidFill>
                  <a:srgbClr val="4A5159"/>
                </a:solidFill>
                <a:latin typeface="Inter" pitchFamily="34" charset="0"/>
                <a:ea typeface="Inter" pitchFamily="34" charset="-122"/>
                <a:cs typeface="Inter" pitchFamily="34" charset="-120"/>
              </a:rPr>
              <a:t>A sturdy grotesque with a wide weight range. Gives page titles and dashboards a confident voice.</a:t>
            </a:r>
            <a:endParaRPr lang="en-US" sz="1114" dirty="0"/>
          </a:p>
        </p:txBody>
      </p:sp>
      <p:sp>
        <p:nvSpPr>
          <p:cNvPr id="9" name="Shape 7"/>
          <p:cNvSpPr/>
          <p:nvPr/>
        </p:nvSpPr>
        <p:spPr>
          <a:xfrm>
            <a:off x="4405809" y="1896914"/>
            <a:ext cx="3380333" cy="2912914"/>
          </a:xfrm>
          <a:prstGeom prst="roundRect">
            <a:avLst>
              <a:gd name="adj" fmla="val 2507"/>
            </a:avLst>
          </a:prstGeom>
          <a:solidFill>
            <a:srgbClr val="FBF9F4"/>
          </a:solidFill>
          <a:ln w="6350">
            <a:solidFill>
              <a:srgbClr val="DCDAD3"/>
            </a:solidFill>
            <a:prstDash val="solid"/>
          </a:ln>
        </p:spPr>
      </p:sp>
      <p:sp>
        <p:nvSpPr>
          <p:cNvPr id="10" name="Text 8"/>
          <p:cNvSpPr/>
          <p:nvPr/>
        </p:nvSpPr>
        <p:spPr>
          <a:xfrm>
            <a:off x="4662984" y="2154089"/>
            <a:ext cx="2951963" cy="970657"/>
          </a:xfrm>
          <a:prstGeom prst="rect">
            <a:avLst/>
          </a:prstGeom>
          <a:noFill/>
          <a:ln/>
        </p:spPr>
        <p:txBody>
          <a:bodyPr wrap="square" lIns="0" tIns="0" rIns="0" bIns="0" rtlCol="0" anchor="t">
            <a:normAutofit/>
          </a:bodyPr>
          <a:lstStyle/>
          <a:p>
            <a:pPr algn="l" indent="0" marL="0">
              <a:lnSpc>
                <a:spcPts val="7450"/>
              </a:lnSpc>
              <a:buNone/>
            </a:pPr>
            <a:r>
              <a:rPr lang="en-US" sz="7450" dirty="0">
                <a:solidFill>
                  <a:srgbClr val="15181C"/>
                </a:solidFill>
                <a:latin typeface="Inter" pitchFamily="34" charset="0"/>
                <a:ea typeface="Inter" pitchFamily="34" charset="-122"/>
                <a:cs typeface="Inter" pitchFamily="34" charset="-120"/>
              </a:rPr>
              <a:t>Aa</a:t>
            </a:r>
            <a:endParaRPr lang="en-US" sz="7450" dirty="0"/>
          </a:p>
        </p:txBody>
      </p:sp>
      <p:sp>
        <p:nvSpPr>
          <p:cNvPr id="11" name="Text 9"/>
          <p:cNvSpPr/>
          <p:nvPr/>
        </p:nvSpPr>
        <p:spPr>
          <a:xfrm>
            <a:off x="4662984" y="3200946"/>
            <a:ext cx="2951963" cy="337344"/>
          </a:xfrm>
          <a:prstGeom prst="rect">
            <a:avLst/>
          </a:prstGeom>
          <a:noFill/>
          <a:ln/>
        </p:spPr>
        <p:txBody>
          <a:bodyPr wrap="square" lIns="0" tIns="0" rIns="0" bIns="0" rtlCol="0" anchor="t">
            <a:normAutofit/>
          </a:bodyPr>
          <a:lstStyle/>
          <a:p>
            <a:pPr algn="l" indent="0" marL="0">
              <a:lnSpc>
                <a:spcPts val="2467"/>
              </a:lnSpc>
              <a:buNone/>
            </a:pPr>
            <a:r>
              <a:rPr lang="en-US" sz="2056" b="1" dirty="0">
                <a:solidFill>
                  <a:srgbClr val="15181C"/>
                </a:solidFill>
                <a:latin typeface="Inter" pitchFamily="34" charset="0"/>
                <a:ea typeface="Inter" pitchFamily="34" charset="-122"/>
                <a:cs typeface="Inter" pitchFamily="34" charset="-120"/>
              </a:rPr>
              <a:t>Inter</a:t>
            </a:r>
            <a:endParaRPr lang="en-US" sz="2056" dirty="0"/>
          </a:p>
        </p:txBody>
      </p:sp>
      <p:sp>
        <p:nvSpPr>
          <p:cNvPr id="12" name="Text 10"/>
          <p:cNvSpPr/>
          <p:nvPr/>
        </p:nvSpPr>
        <p:spPr>
          <a:xfrm>
            <a:off x="4662984" y="3614489"/>
            <a:ext cx="2951963" cy="223887"/>
          </a:xfrm>
          <a:prstGeom prst="rect">
            <a:avLst/>
          </a:prstGeom>
          <a:noFill/>
          <a:ln/>
        </p:spPr>
        <p:txBody>
          <a:bodyPr wrap="square" lIns="0" tIns="0" rIns="0" bIns="0" rtlCol="0" anchor="t">
            <a:normAutofit/>
          </a:bodyPr>
          <a:lstStyle/>
          <a:p>
            <a:pPr algn="l" indent="0" marL="0">
              <a:lnSpc>
                <a:spcPts val="1570"/>
              </a:lnSpc>
              <a:buNone/>
            </a:pPr>
            <a:r>
              <a:rPr lang="en-US" sz="1121" spc="100" kern="0" dirty="0">
                <a:solidFill>
                  <a:srgbClr val="7A5C30"/>
                </a:solidFill>
                <a:latin typeface="JetBrains Mono" pitchFamily="49" charset="0"/>
                <a:ea typeface="JetBrains Mono" pitchFamily="49" charset="-122"/>
                <a:cs typeface="JetBrains Mono" pitchFamily="49" charset="-120"/>
              </a:rPr>
              <a:t>INTERFACE · BODY</a:t>
            </a:r>
            <a:endParaRPr lang="en-US" sz="1121" dirty="0"/>
          </a:p>
        </p:txBody>
      </p:sp>
      <p:sp>
        <p:nvSpPr>
          <p:cNvPr id="13" name="Text 11"/>
          <p:cNvSpPr/>
          <p:nvPr/>
        </p:nvSpPr>
        <p:spPr>
          <a:xfrm>
            <a:off x="4662984" y="3914577"/>
            <a:ext cx="2951963" cy="663476"/>
          </a:xfrm>
          <a:prstGeom prst="rect">
            <a:avLst/>
          </a:prstGeom>
          <a:noFill/>
          <a:ln/>
        </p:spPr>
        <p:txBody>
          <a:bodyPr wrap="square" lIns="0" tIns="0" rIns="0" bIns="0" rtlCol="0" anchor="t">
            <a:normAutofit/>
          </a:bodyPr>
          <a:lstStyle/>
          <a:p>
            <a:pPr algn="l" indent="0" marL="0">
              <a:lnSpc>
                <a:spcPts val="1671"/>
              </a:lnSpc>
              <a:buNone/>
            </a:pPr>
            <a:r>
              <a:rPr lang="en-US" sz="1114" dirty="0">
                <a:solidFill>
                  <a:srgbClr val="4A5159"/>
                </a:solidFill>
                <a:latin typeface="Inter" pitchFamily="34" charset="0"/>
                <a:ea typeface="Inter" pitchFamily="34" charset="-122"/>
                <a:cs typeface="Inter" pitchFamily="34" charset="-120"/>
              </a:rPr>
              <a:t>Drawn for screens: tall x-height, tabular figures, crisp at 12 to 16 px. The workhorse of every view.</a:t>
            </a:r>
            <a:endParaRPr lang="en-US" sz="1114" dirty="0"/>
          </a:p>
        </p:txBody>
      </p:sp>
      <p:sp>
        <p:nvSpPr>
          <p:cNvPr id="14" name="Shape 12"/>
          <p:cNvSpPr/>
          <p:nvPr/>
        </p:nvSpPr>
        <p:spPr>
          <a:xfrm>
            <a:off x="7995692" y="1896914"/>
            <a:ext cx="3380333" cy="2912914"/>
          </a:xfrm>
          <a:prstGeom prst="roundRect">
            <a:avLst>
              <a:gd name="adj" fmla="val 2507"/>
            </a:avLst>
          </a:prstGeom>
          <a:solidFill>
            <a:srgbClr val="FBF9F4"/>
          </a:solidFill>
          <a:ln w="6350">
            <a:solidFill>
              <a:srgbClr val="DCDAD3"/>
            </a:solidFill>
            <a:prstDash val="solid"/>
          </a:ln>
        </p:spPr>
      </p:sp>
      <p:sp>
        <p:nvSpPr>
          <p:cNvPr id="15" name="Text 13"/>
          <p:cNvSpPr/>
          <p:nvPr/>
        </p:nvSpPr>
        <p:spPr>
          <a:xfrm>
            <a:off x="8252867" y="2154089"/>
            <a:ext cx="2951963" cy="1041400"/>
          </a:xfrm>
          <a:prstGeom prst="rect">
            <a:avLst/>
          </a:prstGeom>
          <a:noFill/>
          <a:ln/>
        </p:spPr>
        <p:txBody>
          <a:bodyPr wrap="square" lIns="0" tIns="0" rIns="0" bIns="0" rtlCol="0" anchor="t">
            <a:normAutofit/>
          </a:bodyPr>
          <a:lstStyle/>
          <a:p>
            <a:pPr algn="l" indent="0" marL="0">
              <a:lnSpc>
                <a:spcPts val="8000"/>
              </a:lnSpc>
              <a:buNone/>
            </a:pPr>
            <a:r>
              <a:rPr lang="en-US" sz="8000" dirty="0">
                <a:solidFill>
                  <a:srgbClr val="15181C"/>
                </a:solidFill>
                <a:latin typeface="JetBrains Mono" pitchFamily="49" charset="0"/>
                <a:ea typeface="JetBrains Mono" pitchFamily="49" charset="-122"/>
                <a:cs typeface="JetBrains Mono" pitchFamily="49" charset="-120"/>
              </a:rPr>
              <a:t>Aa</a:t>
            </a:r>
            <a:endParaRPr lang="en-US" sz="8000" dirty="0"/>
          </a:p>
        </p:txBody>
      </p:sp>
      <p:sp>
        <p:nvSpPr>
          <p:cNvPr id="16" name="Text 14"/>
          <p:cNvSpPr/>
          <p:nvPr/>
        </p:nvSpPr>
        <p:spPr>
          <a:xfrm>
            <a:off x="8252867" y="3271689"/>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181C"/>
                </a:solidFill>
                <a:latin typeface="JetBrains Mono" pitchFamily="49" charset="0"/>
                <a:ea typeface="JetBrains Mono" pitchFamily="49" charset="-122"/>
                <a:cs typeface="JetBrains Mono" pitchFamily="49" charset="-120"/>
              </a:rPr>
              <a:t>JetBrains Mono</a:t>
            </a:r>
            <a:endParaRPr lang="en-US" sz="2200" dirty="0"/>
          </a:p>
        </p:txBody>
      </p:sp>
      <p:sp>
        <p:nvSpPr>
          <p:cNvPr id="17" name="Text 15"/>
          <p:cNvSpPr/>
          <p:nvPr/>
        </p:nvSpPr>
        <p:spPr>
          <a:xfrm>
            <a:off x="8252867" y="3708549"/>
            <a:ext cx="295196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5C30"/>
                </a:solidFill>
                <a:latin typeface="JetBrains Mono" pitchFamily="49" charset="0"/>
                <a:ea typeface="JetBrains Mono" pitchFamily="49" charset="-122"/>
                <a:cs typeface="JetBrains Mono" pitchFamily="49" charset="-120"/>
              </a:rPr>
              <a:t>DATA · IDENTIFIERS</a:t>
            </a:r>
            <a:endParaRPr lang="en-US" sz="1200" dirty="0"/>
          </a:p>
        </p:txBody>
      </p:sp>
      <p:sp>
        <p:nvSpPr>
          <p:cNvPr id="18" name="Text 16"/>
          <p:cNvSpPr/>
          <p:nvPr/>
        </p:nvSpPr>
        <p:spPr>
          <a:xfrm>
            <a:off x="8252867" y="4023469"/>
            <a:ext cx="295196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159"/>
                </a:solidFill>
                <a:latin typeface="Inter" pitchFamily="34" charset="0"/>
                <a:ea typeface="Inter" pitchFamily="34" charset="-122"/>
                <a:cs typeface="Inter" pitchFamily="34" charset="-120"/>
              </a:rPr>
              <a:t>Unambiguous 0 and O, 1 and l, for IDs, coordinates, timestamps and code.</a:t>
            </a:r>
            <a:endParaRPr lang="en-US" sz="1200" dirty="0"/>
          </a:p>
        </p:txBody>
      </p:sp>
      <p:sp>
        <p:nvSpPr>
          <p:cNvPr id="19" name="Text 17"/>
          <p:cNvSpPr/>
          <p:nvPr/>
        </p:nvSpPr>
        <p:spPr>
          <a:xfrm>
            <a:off x="812800" y="5422602"/>
            <a:ext cx="11379200" cy="444798"/>
          </a:xfrm>
          <a:prstGeom prst="rect">
            <a:avLst/>
          </a:prstGeom>
          <a:noFill/>
          <a:ln/>
        </p:spPr>
        <p:txBody>
          <a:bodyPr wrap="square" lIns="0" tIns="0" rIns="0" bIns="0" rtlCol="0" anchor="t">
            <a:normAutofit/>
          </a:bodyPr>
          <a:lstStyle/>
          <a:p>
            <a:pPr algn="l" indent="0" marL="0">
              <a:lnSpc>
                <a:spcPts val="1680"/>
              </a:lnSpc>
              <a:buNone/>
            </a:pPr>
            <a:r>
              <a:rPr lang="en-US" sz="1159" b="1" dirty="0">
                <a:solidFill>
                  <a:srgbClr val="15181C"/>
                </a:solidFill>
                <a:latin typeface="Inter" pitchFamily="34" charset="0"/>
                <a:ea typeface="Inter" pitchFamily="34" charset="-122"/>
                <a:cs typeface="Inter" pitchFamily="34" charset="-120"/>
              </a:rPr>
              <a:t>Built for our environment:</a:t>
            </a:r>
            <a:r>
              <a:rPr lang="en-US" sz="1159" dirty="0">
                <a:solidFill>
                  <a:srgbClr val="4A5159"/>
                </a:solidFill>
                <a:latin typeface="Inter" pitchFamily="34" charset="0"/>
                <a:ea typeface="Inter" pitchFamily="34" charset="-122"/>
                <a:cs typeface="Inter" pitchFamily="34" charset="-120"/>
              </a:rPr>
              <a:t> all three are open source under the SIL Open Font License and ship self-hosted with our code. No external font service, ever.</a:t>
            </a:r>
            <a:endParaRPr lang="en-US" sz="1159"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03 · FOUNDATIONS · TYPE SCALE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Seven styles cover every screen.</a:t>
            </a:r>
            <a:endParaRPr lang="en-US" sz="3600" dirty="0"/>
          </a:p>
        </p:txBody>
      </p:sp>
      <p:sp>
        <p:nvSpPr>
          <p:cNvPr id="4" name="Text 2"/>
          <p:cNvSpPr/>
          <p:nvPr/>
        </p:nvSpPr>
        <p:spPr>
          <a:xfrm>
            <a:off x="812800" y="1884611"/>
            <a:ext cx="3976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Sample</a:t>
            </a:r>
            <a:endParaRPr lang="en-US" sz="1200" dirty="0"/>
          </a:p>
        </p:txBody>
      </p:sp>
      <p:sp>
        <p:nvSpPr>
          <p:cNvPr id="5" name="Text 3"/>
          <p:cNvSpPr/>
          <p:nvPr/>
        </p:nvSpPr>
        <p:spPr>
          <a:xfrm>
            <a:off x="4876800" y="188461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Token</a:t>
            </a:r>
            <a:endParaRPr lang="en-US" sz="1200" dirty="0"/>
          </a:p>
        </p:txBody>
      </p:sp>
      <p:sp>
        <p:nvSpPr>
          <p:cNvPr id="6" name="Text 4"/>
          <p:cNvSpPr/>
          <p:nvPr/>
        </p:nvSpPr>
        <p:spPr>
          <a:xfrm>
            <a:off x="6985000" y="188461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Size / line</a:t>
            </a:r>
            <a:endParaRPr lang="en-US" sz="1200" dirty="0"/>
          </a:p>
        </p:txBody>
      </p:sp>
      <p:sp>
        <p:nvSpPr>
          <p:cNvPr id="7" name="Text 5"/>
          <p:cNvSpPr/>
          <p:nvPr/>
        </p:nvSpPr>
        <p:spPr>
          <a:xfrm>
            <a:off x="8458200" y="1884611"/>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Face · use</a:t>
            </a:r>
            <a:endParaRPr lang="en-US" sz="1200" dirty="0"/>
          </a:p>
        </p:txBody>
      </p:sp>
      <p:sp>
        <p:nvSpPr>
          <p:cNvPr id="8" name="Shape 6"/>
          <p:cNvSpPr/>
          <p:nvPr/>
        </p:nvSpPr>
        <p:spPr>
          <a:xfrm>
            <a:off x="812800" y="2167781"/>
            <a:ext cx="10566400" cy="0"/>
          </a:xfrm>
          <a:prstGeom prst="line">
            <a:avLst/>
          </a:prstGeom>
          <a:noFill/>
          <a:ln w="12700">
            <a:solidFill>
              <a:srgbClr val="15181C"/>
            </a:solidFill>
            <a:prstDash val="solid"/>
          </a:ln>
        </p:spPr>
      </p:sp>
      <p:sp>
        <p:nvSpPr>
          <p:cNvPr id="9" name="Text 7"/>
          <p:cNvSpPr/>
          <p:nvPr/>
        </p:nvSpPr>
        <p:spPr>
          <a:xfrm>
            <a:off x="812800" y="2237631"/>
            <a:ext cx="3976624"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5181C"/>
                </a:solidFill>
                <a:latin typeface="Archivo" pitchFamily="34" charset="0"/>
                <a:ea typeface="Archivo" pitchFamily="34" charset="-122"/>
                <a:cs typeface="Archivo" pitchFamily="34" charset="-120"/>
              </a:rPr>
              <a:t>Mission overview</a:t>
            </a:r>
            <a:endParaRPr lang="en-US" sz="2800" dirty="0"/>
          </a:p>
        </p:txBody>
      </p:sp>
      <p:sp>
        <p:nvSpPr>
          <p:cNvPr id="10" name="Text 8"/>
          <p:cNvSpPr/>
          <p:nvPr/>
        </p:nvSpPr>
        <p:spPr>
          <a:xfrm>
            <a:off x="4876800" y="233541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type.display</a:t>
            </a:r>
            <a:endParaRPr lang="en-US" sz="1200" dirty="0"/>
          </a:p>
        </p:txBody>
      </p:sp>
      <p:sp>
        <p:nvSpPr>
          <p:cNvPr id="11" name="Text 9"/>
          <p:cNvSpPr/>
          <p:nvPr/>
        </p:nvSpPr>
        <p:spPr>
          <a:xfrm>
            <a:off x="6985000" y="233541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40 / 48</a:t>
            </a:r>
            <a:endParaRPr lang="en-US" sz="1200" dirty="0"/>
          </a:p>
        </p:txBody>
      </p:sp>
      <p:sp>
        <p:nvSpPr>
          <p:cNvPr id="12" name="Text 10"/>
          <p:cNvSpPr/>
          <p:nvPr/>
        </p:nvSpPr>
        <p:spPr>
          <a:xfrm>
            <a:off x="8458200" y="2335411"/>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Archivo 800 · dashboard heroes</a:t>
            </a:r>
            <a:endParaRPr lang="en-US" sz="1200" dirty="0"/>
          </a:p>
        </p:txBody>
      </p:sp>
      <p:sp>
        <p:nvSpPr>
          <p:cNvPr id="13" name="Shape 11"/>
          <p:cNvSpPr/>
          <p:nvPr/>
        </p:nvSpPr>
        <p:spPr>
          <a:xfrm>
            <a:off x="812800" y="2713236"/>
            <a:ext cx="10566400" cy="0"/>
          </a:xfrm>
          <a:prstGeom prst="line">
            <a:avLst/>
          </a:prstGeom>
          <a:noFill/>
          <a:ln w="6350">
            <a:solidFill>
              <a:srgbClr val="C9C5BA"/>
            </a:solidFill>
            <a:prstDash val="solid"/>
          </a:ln>
        </p:spPr>
      </p:sp>
      <p:sp>
        <p:nvSpPr>
          <p:cNvPr id="14" name="Text 12"/>
          <p:cNvSpPr/>
          <p:nvPr/>
        </p:nvSpPr>
        <p:spPr>
          <a:xfrm>
            <a:off x="812800" y="2779911"/>
            <a:ext cx="397662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5181C"/>
                </a:solidFill>
                <a:latin typeface="Archivo" pitchFamily="34" charset="0"/>
                <a:ea typeface="Archivo" pitchFamily="34" charset="-122"/>
                <a:cs typeface="Archivo" pitchFamily="34" charset="-120"/>
              </a:rPr>
              <a:t>Asset readiness</a:t>
            </a:r>
            <a:endParaRPr lang="en-US" sz="2200" dirty="0"/>
          </a:p>
        </p:txBody>
      </p:sp>
      <p:sp>
        <p:nvSpPr>
          <p:cNvPr id="15" name="Text 13"/>
          <p:cNvSpPr/>
          <p:nvPr/>
        </p:nvSpPr>
        <p:spPr>
          <a:xfrm>
            <a:off x="4876800" y="2833886"/>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type.title</a:t>
            </a:r>
            <a:endParaRPr lang="en-US" sz="1200" dirty="0"/>
          </a:p>
        </p:txBody>
      </p:sp>
      <p:sp>
        <p:nvSpPr>
          <p:cNvPr id="16" name="Text 14"/>
          <p:cNvSpPr/>
          <p:nvPr/>
        </p:nvSpPr>
        <p:spPr>
          <a:xfrm>
            <a:off x="6985000" y="283388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28 / 36</a:t>
            </a:r>
            <a:endParaRPr lang="en-US" sz="1200" dirty="0"/>
          </a:p>
        </p:txBody>
      </p:sp>
      <p:sp>
        <p:nvSpPr>
          <p:cNvPr id="17" name="Text 15"/>
          <p:cNvSpPr/>
          <p:nvPr/>
        </p:nvSpPr>
        <p:spPr>
          <a:xfrm>
            <a:off x="8458200" y="2833886"/>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Archivo 700 · page titles</a:t>
            </a:r>
            <a:endParaRPr lang="en-US" sz="1200" dirty="0"/>
          </a:p>
        </p:txBody>
      </p:sp>
      <p:sp>
        <p:nvSpPr>
          <p:cNvPr id="18" name="Shape 16"/>
          <p:cNvSpPr/>
          <p:nvPr/>
        </p:nvSpPr>
        <p:spPr>
          <a:xfrm>
            <a:off x="812800" y="3167856"/>
            <a:ext cx="10566400" cy="0"/>
          </a:xfrm>
          <a:prstGeom prst="line">
            <a:avLst/>
          </a:prstGeom>
          <a:noFill/>
          <a:ln w="6350">
            <a:solidFill>
              <a:srgbClr val="C9C5BA"/>
            </a:solidFill>
            <a:prstDash val="solid"/>
          </a:ln>
        </p:spPr>
      </p:sp>
      <p:sp>
        <p:nvSpPr>
          <p:cNvPr id="19" name="Text 17"/>
          <p:cNvSpPr/>
          <p:nvPr/>
        </p:nvSpPr>
        <p:spPr>
          <a:xfrm>
            <a:off x="812800" y="3234531"/>
            <a:ext cx="397662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C"/>
                </a:solidFill>
                <a:latin typeface="Inter" pitchFamily="34" charset="0"/>
                <a:ea typeface="Inter" pitchFamily="34" charset="-122"/>
                <a:cs typeface="Inter" pitchFamily="34" charset="-120"/>
              </a:rPr>
              <a:t>Recent activity</a:t>
            </a:r>
            <a:endParaRPr lang="en-US" sz="1800" dirty="0"/>
          </a:p>
        </p:txBody>
      </p:sp>
      <p:sp>
        <p:nvSpPr>
          <p:cNvPr id="20" name="Text 18"/>
          <p:cNvSpPr/>
          <p:nvPr/>
        </p:nvSpPr>
        <p:spPr>
          <a:xfrm>
            <a:off x="4876800" y="326499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type.heading</a:t>
            </a:r>
            <a:endParaRPr lang="en-US" sz="1200" dirty="0"/>
          </a:p>
        </p:txBody>
      </p:sp>
      <p:sp>
        <p:nvSpPr>
          <p:cNvPr id="21" name="Text 19"/>
          <p:cNvSpPr/>
          <p:nvPr/>
        </p:nvSpPr>
        <p:spPr>
          <a:xfrm>
            <a:off x="6985000" y="326499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20 / 28</a:t>
            </a:r>
            <a:endParaRPr lang="en-US" sz="1200" dirty="0"/>
          </a:p>
        </p:txBody>
      </p:sp>
      <p:sp>
        <p:nvSpPr>
          <p:cNvPr id="22" name="Text 20"/>
          <p:cNvSpPr/>
          <p:nvPr/>
        </p:nvSpPr>
        <p:spPr>
          <a:xfrm>
            <a:off x="8458200" y="3264991"/>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Inter 600 · sections, cards</a:t>
            </a:r>
            <a:endParaRPr lang="en-US" sz="1200" dirty="0"/>
          </a:p>
        </p:txBody>
      </p:sp>
      <p:sp>
        <p:nvSpPr>
          <p:cNvPr id="23" name="Shape 21"/>
          <p:cNvSpPr/>
          <p:nvPr/>
        </p:nvSpPr>
        <p:spPr>
          <a:xfrm>
            <a:off x="812800" y="3575496"/>
            <a:ext cx="10566400" cy="0"/>
          </a:xfrm>
          <a:prstGeom prst="line">
            <a:avLst/>
          </a:prstGeom>
          <a:noFill/>
          <a:ln w="6350">
            <a:solidFill>
              <a:srgbClr val="C9C5BA"/>
            </a:solidFill>
            <a:prstDash val="solid"/>
          </a:ln>
        </p:spPr>
      </p:sp>
      <p:sp>
        <p:nvSpPr>
          <p:cNvPr id="24" name="Text 22"/>
          <p:cNvSpPr/>
          <p:nvPr/>
        </p:nvSpPr>
        <p:spPr>
          <a:xfrm>
            <a:off x="812800" y="3642171"/>
            <a:ext cx="397662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5181C"/>
                </a:solidFill>
                <a:latin typeface="Inter" pitchFamily="34" charset="0"/>
                <a:ea typeface="Inter" pitchFamily="34" charset="-122"/>
                <a:cs typeface="Inter" pitchFamily="34" charset="-120"/>
              </a:rPr>
              <a:t>Last contact 12 minutes ago</a:t>
            </a:r>
            <a:endParaRPr lang="en-US" sz="1600" dirty="0"/>
          </a:p>
        </p:txBody>
      </p:sp>
      <p:sp>
        <p:nvSpPr>
          <p:cNvPr id="25" name="Text 23"/>
          <p:cNvSpPr/>
          <p:nvPr/>
        </p:nvSpPr>
        <p:spPr>
          <a:xfrm>
            <a:off x="4876800" y="366757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type.body</a:t>
            </a:r>
            <a:endParaRPr lang="en-US" sz="1200" dirty="0"/>
          </a:p>
        </p:txBody>
      </p:sp>
      <p:sp>
        <p:nvSpPr>
          <p:cNvPr id="26" name="Text 24"/>
          <p:cNvSpPr/>
          <p:nvPr/>
        </p:nvSpPr>
        <p:spPr>
          <a:xfrm>
            <a:off x="6985000" y="366757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16 / 24</a:t>
            </a:r>
            <a:endParaRPr lang="en-US" sz="1200" dirty="0"/>
          </a:p>
        </p:txBody>
      </p:sp>
      <p:sp>
        <p:nvSpPr>
          <p:cNvPr id="27" name="Text 25"/>
          <p:cNvSpPr/>
          <p:nvPr/>
        </p:nvSpPr>
        <p:spPr>
          <a:xfrm>
            <a:off x="8458200" y="3667571"/>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Inter 400 · default reading text</a:t>
            </a:r>
            <a:endParaRPr lang="en-US" sz="1200" dirty="0"/>
          </a:p>
        </p:txBody>
      </p:sp>
      <p:sp>
        <p:nvSpPr>
          <p:cNvPr id="28" name="Shape 26"/>
          <p:cNvSpPr/>
          <p:nvPr/>
        </p:nvSpPr>
        <p:spPr>
          <a:xfrm>
            <a:off x="812800" y="3972967"/>
            <a:ext cx="10566400" cy="0"/>
          </a:xfrm>
          <a:prstGeom prst="line">
            <a:avLst/>
          </a:prstGeom>
          <a:noFill/>
          <a:ln w="6350">
            <a:solidFill>
              <a:srgbClr val="C9C5BA"/>
            </a:solidFill>
            <a:prstDash val="solid"/>
          </a:ln>
        </p:spPr>
      </p:sp>
      <p:sp>
        <p:nvSpPr>
          <p:cNvPr id="29" name="Text 27"/>
          <p:cNvSpPr/>
          <p:nvPr/>
        </p:nvSpPr>
        <p:spPr>
          <a:xfrm>
            <a:off x="812800" y="4039642"/>
            <a:ext cx="3976624"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5181C"/>
                </a:solidFill>
                <a:latin typeface="Inter" pitchFamily="34" charset="0"/>
                <a:ea typeface="Inter" pitchFamily="34" charset="-122"/>
                <a:cs typeface="Inter" pitchFamily="34" charset="-120"/>
              </a:rPr>
              <a:t>14 of 48 assets reporting</a:t>
            </a:r>
            <a:endParaRPr lang="en-US" sz="1400" dirty="0"/>
          </a:p>
        </p:txBody>
      </p:sp>
      <p:sp>
        <p:nvSpPr>
          <p:cNvPr id="30" name="Text 28"/>
          <p:cNvSpPr/>
          <p:nvPr/>
        </p:nvSpPr>
        <p:spPr>
          <a:xfrm>
            <a:off x="4876800" y="404852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type.compact</a:t>
            </a:r>
            <a:endParaRPr lang="en-US" sz="1200" dirty="0"/>
          </a:p>
        </p:txBody>
      </p:sp>
      <p:sp>
        <p:nvSpPr>
          <p:cNvPr id="31" name="Text 29"/>
          <p:cNvSpPr/>
          <p:nvPr/>
        </p:nvSpPr>
        <p:spPr>
          <a:xfrm>
            <a:off x="6985000" y="404852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14 / 20</a:t>
            </a:r>
            <a:endParaRPr lang="en-US" sz="1200" dirty="0"/>
          </a:p>
        </p:txBody>
      </p:sp>
      <p:sp>
        <p:nvSpPr>
          <p:cNvPr id="32" name="Text 30"/>
          <p:cNvSpPr/>
          <p:nvPr/>
        </p:nvSpPr>
        <p:spPr>
          <a:xfrm>
            <a:off x="8458200" y="4048522"/>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Inter 400 · dense tables, forms</a:t>
            </a:r>
            <a:endParaRPr lang="en-US" sz="1200" dirty="0"/>
          </a:p>
        </p:txBody>
      </p:sp>
      <p:sp>
        <p:nvSpPr>
          <p:cNvPr id="33" name="Shape 31"/>
          <p:cNvSpPr/>
          <p:nvPr/>
        </p:nvSpPr>
        <p:spPr>
          <a:xfrm>
            <a:off x="812800" y="4337447"/>
            <a:ext cx="10566400" cy="0"/>
          </a:xfrm>
          <a:prstGeom prst="line">
            <a:avLst/>
          </a:prstGeom>
          <a:noFill/>
          <a:ln w="6350">
            <a:solidFill>
              <a:srgbClr val="C9C5BA"/>
            </a:solidFill>
            <a:prstDash val="solid"/>
          </a:ln>
        </p:spPr>
      </p:sp>
      <p:sp>
        <p:nvSpPr>
          <p:cNvPr id="34" name="Text 32"/>
          <p:cNvSpPr/>
          <p:nvPr/>
        </p:nvSpPr>
        <p:spPr>
          <a:xfrm>
            <a:off x="812800" y="4404122"/>
            <a:ext cx="39766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181C"/>
                </a:solidFill>
                <a:latin typeface="Inter" pitchFamily="34" charset="0"/>
                <a:ea typeface="Inter" pitchFamily="34" charset="-122"/>
                <a:cs typeface="Inter" pitchFamily="34" charset="-120"/>
              </a:rPr>
              <a:t>STATUS</a:t>
            </a:r>
            <a:endParaRPr lang="en-US" sz="1200" dirty="0"/>
          </a:p>
        </p:txBody>
      </p:sp>
      <p:sp>
        <p:nvSpPr>
          <p:cNvPr id="35" name="Text 33"/>
          <p:cNvSpPr/>
          <p:nvPr/>
        </p:nvSpPr>
        <p:spPr>
          <a:xfrm>
            <a:off x="4876800" y="440412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type.label</a:t>
            </a:r>
            <a:endParaRPr lang="en-US" sz="1200" dirty="0"/>
          </a:p>
        </p:txBody>
      </p:sp>
      <p:sp>
        <p:nvSpPr>
          <p:cNvPr id="36" name="Text 34"/>
          <p:cNvSpPr/>
          <p:nvPr/>
        </p:nvSpPr>
        <p:spPr>
          <a:xfrm>
            <a:off x="6985000" y="440412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12 / 16</a:t>
            </a:r>
            <a:endParaRPr lang="en-US" sz="1200" dirty="0"/>
          </a:p>
        </p:txBody>
      </p:sp>
      <p:sp>
        <p:nvSpPr>
          <p:cNvPr id="37" name="Text 35"/>
          <p:cNvSpPr/>
          <p:nvPr/>
        </p:nvSpPr>
        <p:spPr>
          <a:xfrm>
            <a:off x="8458200" y="4404122"/>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Inter 600 caps · labels, headers</a:t>
            </a:r>
            <a:endParaRPr lang="en-US" sz="1200" dirty="0"/>
          </a:p>
        </p:txBody>
      </p:sp>
      <p:sp>
        <p:nvSpPr>
          <p:cNvPr id="38" name="Shape 36"/>
          <p:cNvSpPr/>
          <p:nvPr/>
        </p:nvSpPr>
        <p:spPr>
          <a:xfrm>
            <a:off x="812800" y="4684117"/>
            <a:ext cx="10566400" cy="0"/>
          </a:xfrm>
          <a:prstGeom prst="line">
            <a:avLst/>
          </a:prstGeom>
          <a:noFill/>
          <a:ln w="6350">
            <a:solidFill>
              <a:srgbClr val="C9C5BA"/>
            </a:solidFill>
            <a:prstDash val="solid"/>
          </a:ln>
        </p:spPr>
      </p:sp>
      <p:sp>
        <p:nvSpPr>
          <p:cNvPr id="39" name="Shape 37"/>
          <p:cNvSpPr/>
          <p:nvPr/>
        </p:nvSpPr>
        <p:spPr>
          <a:xfrm>
            <a:off x="812800" y="5030788"/>
            <a:ext cx="10566400" cy="0"/>
          </a:xfrm>
          <a:prstGeom prst="line">
            <a:avLst/>
          </a:prstGeom>
          <a:noFill/>
          <a:ln w="6350">
            <a:solidFill>
              <a:srgbClr val="C9C5BA"/>
            </a:solidFill>
            <a:prstDash val="solid"/>
          </a:ln>
        </p:spPr>
      </p:sp>
      <p:sp>
        <p:nvSpPr>
          <p:cNvPr id="40" name="Text 38"/>
          <p:cNvSpPr/>
          <p:nvPr/>
        </p:nvSpPr>
        <p:spPr>
          <a:xfrm>
            <a:off x="812800" y="4750792"/>
            <a:ext cx="3976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SAT-0412 · 14:32:07Z</a:t>
            </a:r>
            <a:endParaRPr lang="en-US" sz="1200" dirty="0"/>
          </a:p>
        </p:txBody>
      </p:sp>
      <p:sp>
        <p:nvSpPr>
          <p:cNvPr id="41" name="Text 39"/>
          <p:cNvSpPr/>
          <p:nvPr/>
        </p:nvSpPr>
        <p:spPr>
          <a:xfrm>
            <a:off x="4876800" y="475079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type.data</a:t>
            </a:r>
            <a:endParaRPr lang="en-US" sz="1200" dirty="0"/>
          </a:p>
        </p:txBody>
      </p:sp>
      <p:sp>
        <p:nvSpPr>
          <p:cNvPr id="42" name="Text 40"/>
          <p:cNvSpPr/>
          <p:nvPr/>
        </p:nvSpPr>
        <p:spPr>
          <a:xfrm>
            <a:off x="6985000" y="475079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14 / 20</a:t>
            </a:r>
            <a:endParaRPr lang="en-US" sz="1200" dirty="0"/>
          </a:p>
        </p:txBody>
      </p:sp>
      <p:sp>
        <p:nvSpPr>
          <p:cNvPr id="43" name="Text 41"/>
          <p:cNvSpPr/>
          <p:nvPr/>
        </p:nvSpPr>
        <p:spPr>
          <a:xfrm>
            <a:off x="8458200" y="4750792"/>
            <a:ext cx="30086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JetBrains Mono 500 · IDs, times</a:t>
            </a:r>
            <a:endParaRPr lang="en-US" sz="1200" dirty="0"/>
          </a:p>
        </p:txBody>
      </p:sp>
      <p:sp>
        <p:nvSpPr>
          <p:cNvPr id="44" name="Text 42"/>
          <p:cNvSpPr/>
          <p:nvPr/>
        </p:nvSpPr>
        <p:spPr>
          <a:xfrm>
            <a:off x="812800" y="5287963"/>
            <a:ext cx="1088339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Samples are enlarged for the room. Specs are production sizes in px (font size / line height).</a:t>
            </a:r>
            <a:endParaRPr lang="en-US" sz="1200" dirty="0"/>
          </a:p>
        </p:txBody>
      </p:sp>
      <p:sp>
        <p:nvSpPr>
          <p:cNvPr id="45" name="Text 4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46" name="Text 4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25921"/>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7A5C30"/>
                </a:solidFill>
                <a:latin typeface="JetBrains Mono" pitchFamily="49" charset="0"/>
                <a:ea typeface="JetBrains Mono" pitchFamily="49" charset="-122"/>
                <a:cs typeface="JetBrains Mono" pitchFamily="49" charset="-120"/>
              </a:rPr>
              <a:t>03 · FOUNDATIONS · COLOR</a:t>
            </a:r>
            <a:endParaRPr lang="en-US" sz="1159" dirty="0"/>
          </a:p>
        </p:txBody>
      </p:sp>
      <p:sp>
        <p:nvSpPr>
          <p:cNvPr id="3" name="Text 1"/>
          <p:cNvSpPr/>
          <p:nvPr>
            <p:ph type="title"/>
          </p:nvPr>
        </p:nvSpPr>
        <p:spPr>
          <a:xfrm>
            <a:off x="812800" y="1114921"/>
            <a:ext cx="10883392" cy="498029"/>
          </a:xfrm>
          <a:prstGeom prst="rect">
            <a:avLst/>
          </a:prstGeom>
          <a:noFill/>
          <a:ln/>
        </p:spPr>
        <p:txBody>
          <a:bodyPr wrap="square" lIns="0" tIns="0" rIns="0" bIns="0" rtlCol="0" anchor="t">
            <a:normAutofit/>
          </a:bodyPr>
          <a:lstStyle/>
          <a:p>
            <a:pPr algn="l" indent="0" marL="0">
              <a:lnSpc>
                <a:spcPts val="3725"/>
              </a:lnSpc>
              <a:buNone/>
            </a:pPr>
            <a:r>
              <a:rPr lang="en-US" sz="3386" b="1" i="0" spc="-50" kern="0" dirty="0">
                <a:solidFill>
                  <a:srgbClr val="15181C"/>
                </a:solidFill>
                <a:latin typeface="Archivo" pitchFamily="34" charset="0"/>
                <a:ea typeface="Archivo" pitchFamily="34" charset="-122"/>
                <a:cs typeface="Archivo" pitchFamily="34" charset="-120"/>
              </a:rPr>
              <a:t>Five core colors, cut from the coat.</a:t>
            </a:r>
            <a:endParaRPr lang="en-US" sz="3386" dirty="0"/>
          </a:p>
        </p:txBody>
      </p:sp>
      <p:sp>
        <p:nvSpPr>
          <p:cNvPr id="4" name="Shape 2"/>
          <p:cNvSpPr/>
          <p:nvPr/>
        </p:nvSpPr>
        <p:spPr>
          <a:xfrm>
            <a:off x="812800" y="1892350"/>
            <a:ext cx="1991320" cy="1905000"/>
          </a:xfrm>
          <a:prstGeom prst="roundRect">
            <a:avLst>
              <a:gd name="adj" fmla="val 2667"/>
            </a:avLst>
          </a:prstGeom>
          <a:solidFill>
            <a:srgbClr val="15181C"/>
          </a:solidFill>
          <a:ln/>
        </p:spPr>
      </p:sp>
      <p:sp>
        <p:nvSpPr>
          <p:cNvPr id="5" name="Text 3"/>
          <p:cNvSpPr/>
          <p:nvPr/>
        </p:nvSpPr>
        <p:spPr>
          <a:xfrm>
            <a:off x="812800" y="3924350"/>
            <a:ext cx="2051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Ink</a:t>
            </a:r>
            <a:endParaRPr lang="en-US" sz="1600" dirty="0"/>
          </a:p>
        </p:txBody>
      </p:sp>
      <p:sp>
        <p:nvSpPr>
          <p:cNvPr id="6" name="Text 4"/>
          <p:cNvSpPr/>
          <p:nvPr/>
        </p:nvSpPr>
        <p:spPr>
          <a:xfrm>
            <a:off x="812800" y="4244380"/>
            <a:ext cx="205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#15181C</a:t>
            </a:r>
            <a:endParaRPr lang="en-US" sz="1200" dirty="0"/>
          </a:p>
        </p:txBody>
      </p:sp>
      <p:sp>
        <p:nvSpPr>
          <p:cNvPr id="7" name="Text 5"/>
          <p:cNvSpPr/>
          <p:nvPr/>
        </p:nvSpPr>
        <p:spPr>
          <a:xfrm>
            <a:off x="812800" y="4533900"/>
            <a:ext cx="205106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Primary text and dark surfaces. 15.5:1 on Bone.</a:t>
            </a:r>
            <a:endParaRPr lang="en-US" sz="1200" dirty="0"/>
          </a:p>
        </p:txBody>
      </p:sp>
      <p:sp>
        <p:nvSpPr>
          <p:cNvPr id="8" name="Shape 6"/>
          <p:cNvSpPr/>
          <p:nvPr/>
        </p:nvSpPr>
        <p:spPr>
          <a:xfrm>
            <a:off x="2962870" y="1898700"/>
            <a:ext cx="1978670" cy="1892300"/>
          </a:xfrm>
          <a:prstGeom prst="roundRect">
            <a:avLst>
              <a:gd name="adj" fmla="val 2349"/>
            </a:avLst>
          </a:prstGeom>
          <a:solidFill>
            <a:srgbClr val="F3EFE6"/>
          </a:solidFill>
          <a:ln w="12700">
            <a:solidFill>
              <a:srgbClr val="C9C5BA"/>
            </a:solidFill>
            <a:prstDash val="solid"/>
          </a:ln>
        </p:spPr>
      </p:sp>
      <p:sp>
        <p:nvSpPr>
          <p:cNvPr id="9" name="Text 7"/>
          <p:cNvSpPr/>
          <p:nvPr/>
        </p:nvSpPr>
        <p:spPr>
          <a:xfrm>
            <a:off x="2956520" y="392435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Bone</a:t>
            </a:r>
            <a:endParaRPr lang="en-US" sz="1600" dirty="0"/>
          </a:p>
        </p:txBody>
      </p:sp>
      <p:sp>
        <p:nvSpPr>
          <p:cNvPr id="10" name="Text 8"/>
          <p:cNvSpPr/>
          <p:nvPr/>
        </p:nvSpPr>
        <p:spPr>
          <a:xfrm>
            <a:off x="2956520" y="4244380"/>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#F3EFE6</a:t>
            </a:r>
            <a:endParaRPr lang="en-US" sz="1200" dirty="0"/>
          </a:p>
        </p:txBody>
      </p:sp>
      <p:sp>
        <p:nvSpPr>
          <p:cNvPr id="11" name="Text 9"/>
          <p:cNvSpPr/>
          <p:nvPr/>
        </p:nvSpPr>
        <p:spPr>
          <a:xfrm>
            <a:off x="2956520" y="4533900"/>
            <a:ext cx="205111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Light surfaces, and text on Ink. Never pure white.</a:t>
            </a:r>
            <a:endParaRPr lang="en-US" sz="1200" dirty="0"/>
          </a:p>
        </p:txBody>
      </p:sp>
      <p:sp>
        <p:nvSpPr>
          <p:cNvPr id="12" name="Shape 10"/>
          <p:cNvSpPr/>
          <p:nvPr/>
        </p:nvSpPr>
        <p:spPr>
          <a:xfrm>
            <a:off x="5100290" y="1892350"/>
            <a:ext cx="1991370" cy="1905000"/>
          </a:xfrm>
          <a:prstGeom prst="roundRect">
            <a:avLst>
              <a:gd name="adj" fmla="val 2667"/>
            </a:avLst>
          </a:prstGeom>
          <a:solidFill>
            <a:srgbClr val="C4A57A"/>
          </a:solidFill>
          <a:ln/>
        </p:spPr>
      </p:sp>
      <p:sp>
        <p:nvSpPr>
          <p:cNvPr id="13" name="Text 11"/>
          <p:cNvSpPr/>
          <p:nvPr/>
        </p:nvSpPr>
        <p:spPr>
          <a:xfrm>
            <a:off x="5100290" y="3924350"/>
            <a:ext cx="2051111" cy="231378"/>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5181C"/>
                </a:solidFill>
                <a:latin typeface="Archivo" pitchFamily="34" charset="0"/>
                <a:ea typeface="Archivo" pitchFamily="34" charset="-122"/>
                <a:cs typeface="Archivo" pitchFamily="34" charset="-120"/>
              </a:rPr>
              <a:t>Gabardine</a:t>
            </a:r>
            <a:endParaRPr lang="en-US" sz="1350" dirty="0"/>
          </a:p>
        </p:txBody>
      </p:sp>
      <p:sp>
        <p:nvSpPr>
          <p:cNvPr id="14" name="Text 12"/>
          <p:cNvSpPr/>
          <p:nvPr/>
        </p:nvSpPr>
        <p:spPr>
          <a:xfrm>
            <a:off x="5100290" y="4206528"/>
            <a:ext cx="2051111" cy="205631"/>
          </a:xfrm>
          <a:prstGeom prst="rect">
            <a:avLst/>
          </a:prstGeom>
          <a:noFill/>
          <a:ln/>
        </p:spPr>
        <p:txBody>
          <a:bodyPr wrap="square" lIns="0" tIns="0" rIns="0" bIns="0" rtlCol="0" anchor="t">
            <a:normAutofit/>
          </a:bodyPr>
          <a:lstStyle/>
          <a:p>
            <a:pPr algn="l" indent="0" marL="0">
              <a:lnSpc>
                <a:spcPts val="1423"/>
              </a:lnSpc>
              <a:buNone/>
            </a:pPr>
            <a:r>
              <a:rPr lang="en-US" sz="1016" dirty="0">
                <a:solidFill>
                  <a:srgbClr val="7A5C30"/>
                </a:solidFill>
                <a:latin typeface="JetBrains Mono" pitchFamily="49" charset="0"/>
                <a:ea typeface="JetBrains Mono" pitchFamily="49" charset="-122"/>
                <a:cs typeface="JetBrains Mono" pitchFamily="49" charset="-120"/>
              </a:rPr>
              <a:t>#C4A57A</a:t>
            </a:r>
            <a:endParaRPr lang="en-US" sz="1016" dirty="0"/>
          </a:p>
        </p:txBody>
      </p:sp>
      <p:sp>
        <p:nvSpPr>
          <p:cNvPr id="15" name="Text 13"/>
          <p:cNvSpPr/>
          <p:nvPr/>
        </p:nvSpPr>
        <p:spPr>
          <a:xfrm>
            <a:off x="5100290" y="4462959"/>
            <a:ext cx="2051111" cy="585490"/>
          </a:xfrm>
          <a:prstGeom prst="rect">
            <a:avLst/>
          </a:prstGeom>
          <a:noFill/>
          <a:ln/>
        </p:spPr>
        <p:txBody>
          <a:bodyPr wrap="square" lIns="0" tIns="0" rIns="0" bIns="0" rtlCol="0" anchor="t">
            <a:normAutofit/>
          </a:bodyPr>
          <a:lstStyle/>
          <a:p>
            <a:pPr algn="l" indent="0" marL="0">
              <a:lnSpc>
                <a:spcPts val="1561"/>
              </a:lnSpc>
              <a:buNone/>
            </a:pPr>
            <a:r>
              <a:rPr lang="en-US" sz="1076" dirty="0">
                <a:solidFill>
                  <a:srgbClr val="4A5159"/>
                </a:solidFill>
                <a:latin typeface="Inter" pitchFamily="34" charset="0"/>
                <a:ea typeface="Inter" pitchFamily="34" charset="-122"/>
                <a:cs typeface="Inter" pitchFamily="34" charset="-120"/>
              </a:rPr>
              <a:t>Brand accent. Fills, and text on Ink (7.6:1). Never text on Bone.</a:t>
            </a:r>
            <a:endParaRPr lang="en-US" sz="1076" dirty="0"/>
          </a:p>
        </p:txBody>
      </p:sp>
      <p:sp>
        <p:nvSpPr>
          <p:cNvPr id="16" name="Shape 14"/>
          <p:cNvSpPr/>
          <p:nvPr/>
        </p:nvSpPr>
        <p:spPr>
          <a:xfrm>
            <a:off x="7244060" y="1892350"/>
            <a:ext cx="1991370" cy="1905000"/>
          </a:xfrm>
          <a:prstGeom prst="roundRect">
            <a:avLst>
              <a:gd name="adj" fmla="val 2667"/>
            </a:avLst>
          </a:prstGeom>
          <a:solidFill>
            <a:srgbClr val="7A5C30"/>
          </a:solidFill>
          <a:ln/>
        </p:spPr>
      </p:sp>
      <p:sp>
        <p:nvSpPr>
          <p:cNvPr id="17" name="Text 15"/>
          <p:cNvSpPr/>
          <p:nvPr/>
        </p:nvSpPr>
        <p:spPr>
          <a:xfrm>
            <a:off x="7244060" y="3924350"/>
            <a:ext cx="2051111" cy="231378"/>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5181C"/>
                </a:solidFill>
                <a:latin typeface="Archivo" pitchFamily="34" charset="0"/>
                <a:ea typeface="Archivo" pitchFamily="34" charset="-122"/>
                <a:cs typeface="Archivo" pitchFamily="34" charset="-120"/>
              </a:rPr>
              <a:t>Field</a:t>
            </a:r>
            <a:endParaRPr lang="en-US" sz="1350" dirty="0"/>
          </a:p>
        </p:txBody>
      </p:sp>
      <p:sp>
        <p:nvSpPr>
          <p:cNvPr id="18" name="Text 16"/>
          <p:cNvSpPr/>
          <p:nvPr/>
        </p:nvSpPr>
        <p:spPr>
          <a:xfrm>
            <a:off x="7244060" y="4206528"/>
            <a:ext cx="2051111" cy="205631"/>
          </a:xfrm>
          <a:prstGeom prst="rect">
            <a:avLst/>
          </a:prstGeom>
          <a:noFill/>
          <a:ln/>
        </p:spPr>
        <p:txBody>
          <a:bodyPr wrap="square" lIns="0" tIns="0" rIns="0" bIns="0" rtlCol="0" anchor="t">
            <a:normAutofit/>
          </a:bodyPr>
          <a:lstStyle/>
          <a:p>
            <a:pPr algn="l" indent="0" marL="0">
              <a:lnSpc>
                <a:spcPts val="1423"/>
              </a:lnSpc>
              <a:buNone/>
            </a:pPr>
            <a:r>
              <a:rPr lang="en-US" sz="1016" dirty="0">
                <a:solidFill>
                  <a:srgbClr val="7A5C30"/>
                </a:solidFill>
                <a:latin typeface="JetBrains Mono" pitchFamily="49" charset="0"/>
                <a:ea typeface="JetBrains Mono" pitchFamily="49" charset="-122"/>
                <a:cs typeface="JetBrains Mono" pitchFamily="49" charset="-120"/>
              </a:rPr>
              <a:t>#7A5C30</a:t>
            </a:r>
            <a:endParaRPr lang="en-US" sz="1016" dirty="0"/>
          </a:p>
        </p:txBody>
      </p:sp>
      <p:sp>
        <p:nvSpPr>
          <p:cNvPr id="19" name="Text 17"/>
          <p:cNvSpPr/>
          <p:nvPr/>
        </p:nvSpPr>
        <p:spPr>
          <a:xfrm>
            <a:off x="7244060" y="4462959"/>
            <a:ext cx="2051111" cy="585490"/>
          </a:xfrm>
          <a:prstGeom prst="rect">
            <a:avLst/>
          </a:prstGeom>
          <a:noFill/>
          <a:ln/>
        </p:spPr>
        <p:txBody>
          <a:bodyPr wrap="square" lIns="0" tIns="0" rIns="0" bIns="0" rtlCol="0" anchor="t">
            <a:normAutofit/>
          </a:bodyPr>
          <a:lstStyle/>
          <a:p>
            <a:pPr algn="l" indent="0" marL="0">
              <a:lnSpc>
                <a:spcPts val="1664"/>
              </a:lnSpc>
              <a:buNone/>
            </a:pPr>
            <a:r>
              <a:rPr lang="en-US" sz="1148" dirty="0">
                <a:solidFill>
                  <a:srgbClr val="4A5159"/>
                </a:solidFill>
                <a:latin typeface="Inter" pitchFamily="34" charset="0"/>
                <a:ea typeface="Inter" pitchFamily="34" charset="-122"/>
                <a:cs typeface="Inter" pitchFamily="34" charset="-120"/>
              </a:rPr>
              <a:t>Accent text and icons on light surfaces. 5.4:1 on Bone.</a:t>
            </a:r>
            <a:endParaRPr lang="en-US" sz="1148" dirty="0"/>
          </a:p>
        </p:txBody>
      </p:sp>
      <p:sp>
        <p:nvSpPr>
          <p:cNvPr id="20" name="Shape 18"/>
          <p:cNvSpPr/>
          <p:nvPr/>
        </p:nvSpPr>
        <p:spPr>
          <a:xfrm>
            <a:off x="9387830" y="1892350"/>
            <a:ext cx="1991370" cy="1905000"/>
          </a:xfrm>
          <a:prstGeom prst="roundRect">
            <a:avLst>
              <a:gd name="adj" fmla="val 2667"/>
            </a:avLst>
          </a:prstGeom>
          <a:solidFill>
            <a:srgbClr val="2F5FD0"/>
          </a:solidFill>
          <a:ln/>
        </p:spPr>
      </p:sp>
      <p:sp>
        <p:nvSpPr>
          <p:cNvPr id="21" name="Text 19"/>
          <p:cNvSpPr/>
          <p:nvPr/>
        </p:nvSpPr>
        <p:spPr>
          <a:xfrm>
            <a:off x="9387830" y="3924350"/>
            <a:ext cx="2051111" cy="231378"/>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5181C"/>
                </a:solidFill>
                <a:latin typeface="Archivo" pitchFamily="34" charset="0"/>
                <a:ea typeface="Archivo" pitchFamily="34" charset="-122"/>
                <a:cs typeface="Archivo" pitchFamily="34" charset="-120"/>
              </a:rPr>
              <a:t>Signal</a:t>
            </a:r>
            <a:endParaRPr lang="en-US" sz="1350" dirty="0"/>
          </a:p>
        </p:txBody>
      </p:sp>
      <p:sp>
        <p:nvSpPr>
          <p:cNvPr id="22" name="Text 20"/>
          <p:cNvSpPr/>
          <p:nvPr/>
        </p:nvSpPr>
        <p:spPr>
          <a:xfrm>
            <a:off x="9387830" y="4206528"/>
            <a:ext cx="2051111" cy="205631"/>
          </a:xfrm>
          <a:prstGeom prst="rect">
            <a:avLst/>
          </a:prstGeom>
          <a:noFill/>
          <a:ln/>
        </p:spPr>
        <p:txBody>
          <a:bodyPr wrap="square" lIns="0" tIns="0" rIns="0" bIns="0" rtlCol="0" anchor="t">
            <a:normAutofit/>
          </a:bodyPr>
          <a:lstStyle/>
          <a:p>
            <a:pPr algn="l" indent="0" marL="0">
              <a:lnSpc>
                <a:spcPts val="1423"/>
              </a:lnSpc>
              <a:buNone/>
            </a:pPr>
            <a:r>
              <a:rPr lang="en-US" sz="1016" dirty="0">
                <a:solidFill>
                  <a:srgbClr val="7A5C30"/>
                </a:solidFill>
                <a:latin typeface="JetBrains Mono" pitchFamily="49" charset="0"/>
                <a:ea typeface="JetBrains Mono" pitchFamily="49" charset="-122"/>
                <a:cs typeface="JetBrains Mono" pitchFamily="49" charset="-120"/>
              </a:rPr>
              <a:t>#2F5FD0</a:t>
            </a:r>
            <a:endParaRPr lang="en-US" sz="1016" dirty="0"/>
          </a:p>
        </p:txBody>
      </p:sp>
      <p:sp>
        <p:nvSpPr>
          <p:cNvPr id="23" name="Text 21"/>
          <p:cNvSpPr/>
          <p:nvPr/>
        </p:nvSpPr>
        <p:spPr>
          <a:xfrm>
            <a:off x="9387830" y="4462959"/>
            <a:ext cx="2051111" cy="585490"/>
          </a:xfrm>
          <a:prstGeom prst="rect">
            <a:avLst/>
          </a:prstGeom>
          <a:noFill/>
          <a:ln/>
        </p:spPr>
        <p:txBody>
          <a:bodyPr wrap="square" lIns="0" tIns="0" rIns="0" bIns="0" rtlCol="0" anchor="t">
            <a:normAutofit/>
          </a:bodyPr>
          <a:lstStyle/>
          <a:p>
            <a:pPr algn="l" indent="0" marL="0">
              <a:lnSpc>
                <a:spcPts val="1561"/>
              </a:lnSpc>
              <a:buNone/>
            </a:pPr>
            <a:r>
              <a:rPr lang="en-US" sz="1076" dirty="0">
                <a:solidFill>
                  <a:srgbClr val="4A5159"/>
                </a:solidFill>
                <a:latin typeface="Inter" pitchFamily="34" charset="0"/>
                <a:ea typeface="Inter" pitchFamily="34" charset="-122"/>
                <a:cs typeface="Inter" pitchFamily="34" charset="-120"/>
              </a:rPr>
              <a:t>Interactive only: links, focus, primary actions. 5.0:1 on Bone.</a:t>
            </a:r>
            <a:endParaRPr lang="en-US" sz="1076" dirty="0"/>
          </a:p>
        </p:txBody>
      </p:sp>
      <p:sp>
        <p:nvSpPr>
          <p:cNvPr id="24" name="Text 22"/>
          <p:cNvSpPr/>
          <p:nvPr/>
        </p:nvSpPr>
        <p:spPr>
          <a:xfrm>
            <a:off x="812800" y="5632648"/>
            <a:ext cx="10883392" cy="234752"/>
          </a:xfrm>
          <a:prstGeom prst="rect">
            <a:avLst/>
          </a:prstGeom>
          <a:noFill/>
          <a:ln/>
        </p:spPr>
        <p:txBody>
          <a:bodyPr wrap="square" lIns="0" tIns="0" rIns="0" bIns="0" rtlCol="0" anchor="t">
            <a:normAutofit/>
          </a:bodyPr>
          <a:lstStyle/>
          <a:p>
            <a:pPr algn="l" indent="0" marL="0">
              <a:lnSpc>
                <a:spcPts val="1675"/>
              </a:lnSpc>
              <a:buNone/>
            </a:pPr>
            <a:r>
              <a:rPr lang="en-US" sz="1155" b="1" dirty="0">
                <a:solidFill>
                  <a:srgbClr val="15181C"/>
                </a:solidFill>
                <a:latin typeface="Inter" pitchFamily="34" charset="0"/>
                <a:ea typeface="Inter" pitchFamily="34" charset="-122"/>
                <a:cs typeface="Inter" pitchFamily="34" charset="-120"/>
              </a:rPr>
              <a:t>Proportion rule:</a:t>
            </a:r>
            <a:r>
              <a:rPr lang="en-US" sz="1155" dirty="0">
                <a:solidFill>
                  <a:srgbClr val="4A5159"/>
                </a:solidFill>
                <a:latin typeface="Inter" pitchFamily="34" charset="0"/>
                <a:ea typeface="Inter" pitchFamily="34" charset="-122"/>
                <a:cs typeface="Inter" pitchFamily="34" charset="-120"/>
              </a:rPr>
              <a:t> neutrals carry roughly 90% of every screen. Gabardine and Signal stay scarce, so they keep their meaning.</a:t>
            </a:r>
            <a:endParaRPr lang="en-US" sz="1155" dirty="0"/>
          </a:p>
        </p:txBody>
      </p:sp>
      <p:sp>
        <p:nvSpPr>
          <p:cNvPr id="25" name="Text 2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03 · FOUNDATIONS · SEMANTIC COLOR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Fourteen colors, one meaning each.</a:t>
            </a:r>
            <a:endParaRPr lang="en-US" sz="3600" dirty="0"/>
          </a:p>
        </p:txBody>
      </p:sp>
      <p:sp>
        <p:nvSpPr>
          <p:cNvPr id="4" name="Shape 2"/>
          <p:cNvSpPr/>
          <p:nvPr/>
        </p:nvSpPr>
        <p:spPr>
          <a:xfrm>
            <a:off x="812800" y="1890961"/>
            <a:ext cx="10566400" cy="0"/>
          </a:xfrm>
          <a:prstGeom prst="line">
            <a:avLst/>
          </a:prstGeom>
          <a:noFill/>
          <a:ln w="12700">
            <a:solidFill>
              <a:srgbClr val="15181C"/>
            </a:solidFill>
            <a:prstDash val="solid"/>
          </a:ln>
        </p:spPr>
      </p:sp>
      <p:sp>
        <p:nvSpPr>
          <p:cNvPr id="5" name="Text 3"/>
          <p:cNvSpPr/>
          <p:nvPr/>
        </p:nvSpPr>
        <p:spPr>
          <a:xfrm>
            <a:off x="812800" y="2024311"/>
            <a:ext cx="19621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Status</a:t>
            </a:r>
            <a:endParaRPr lang="en-US" sz="1600" dirty="0"/>
          </a:p>
        </p:txBody>
      </p:sp>
      <p:sp>
        <p:nvSpPr>
          <p:cNvPr id="6" name="Text 4"/>
          <p:cNvSpPr/>
          <p:nvPr/>
        </p:nvSpPr>
        <p:spPr>
          <a:xfrm>
            <a:off x="812800" y="2318941"/>
            <a:ext cx="2108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159"/>
                </a:solidFill>
                <a:latin typeface="Inter" pitchFamily="34" charset="0"/>
                <a:ea typeface="Inter" pitchFamily="34" charset="-122"/>
                <a:cs typeface="Inter" pitchFamily="34" charset="-120"/>
              </a:rPr>
              <a:t>4 · system and asset state</a:t>
            </a:r>
            <a:endParaRPr lang="en-US" sz="1200" dirty="0"/>
          </a:p>
        </p:txBody>
      </p:sp>
      <p:sp>
        <p:nvSpPr>
          <p:cNvPr id="7" name="Shape 5"/>
          <p:cNvSpPr/>
          <p:nvPr/>
        </p:nvSpPr>
        <p:spPr>
          <a:xfrm>
            <a:off x="2921000" y="2024311"/>
            <a:ext cx="1320800" cy="355600"/>
          </a:xfrm>
          <a:prstGeom prst="roundRect">
            <a:avLst>
              <a:gd name="adj" fmla="val 10714"/>
            </a:avLst>
          </a:prstGeom>
          <a:solidFill>
            <a:srgbClr val="1E7A4C"/>
          </a:solidFill>
          <a:ln/>
        </p:spPr>
      </p:sp>
      <p:sp>
        <p:nvSpPr>
          <p:cNvPr id="8" name="Text 6"/>
          <p:cNvSpPr/>
          <p:nvPr/>
        </p:nvSpPr>
        <p:spPr>
          <a:xfrm>
            <a:off x="2921000" y="243071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Nominal</a:t>
            </a:r>
            <a:endParaRPr lang="en-US" sz="1200" dirty="0"/>
          </a:p>
        </p:txBody>
      </p:sp>
      <p:sp>
        <p:nvSpPr>
          <p:cNvPr id="9" name="Text 7"/>
          <p:cNvSpPr/>
          <p:nvPr/>
        </p:nvSpPr>
        <p:spPr>
          <a:xfrm>
            <a:off x="2921000" y="267201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#1E7A4C</a:t>
            </a:r>
            <a:endParaRPr lang="en-US" sz="1200" dirty="0"/>
          </a:p>
        </p:txBody>
      </p:sp>
      <p:sp>
        <p:nvSpPr>
          <p:cNvPr id="10" name="Shape 8"/>
          <p:cNvSpPr/>
          <p:nvPr/>
        </p:nvSpPr>
        <p:spPr>
          <a:xfrm>
            <a:off x="4343400" y="2024311"/>
            <a:ext cx="1320800" cy="355600"/>
          </a:xfrm>
          <a:prstGeom prst="roundRect">
            <a:avLst>
              <a:gd name="adj" fmla="val 10714"/>
            </a:avLst>
          </a:prstGeom>
          <a:solidFill>
            <a:srgbClr val="9A5B00"/>
          </a:solidFill>
          <a:ln/>
        </p:spPr>
      </p:sp>
      <p:sp>
        <p:nvSpPr>
          <p:cNvPr id="11" name="Text 9"/>
          <p:cNvSpPr/>
          <p:nvPr/>
        </p:nvSpPr>
        <p:spPr>
          <a:xfrm>
            <a:off x="4343400" y="243071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Degraded</a:t>
            </a:r>
            <a:endParaRPr lang="en-US" sz="1200" dirty="0"/>
          </a:p>
        </p:txBody>
      </p:sp>
      <p:sp>
        <p:nvSpPr>
          <p:cNvPr id="12" name="Text 10"/>
          <p:cNvSpPr/>
          <p:nvPr/>
        </p:nvSpPr>
        <p:spPr>
          <a:xfrm>
            <a:off x="4343400" y="267201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#9A5B00</a:t>
            </a:r>
            <a:endParaRPr lang="en-US" sz="1200" dirty="0"/>
          </a:p>
        </p:txBody>
      </p:sp>
      <p:sp>
        <p:nvSpPr>
          <p:cNvPr id="13" name="Shape 11"/>
          <p:cNvSpPr/>
          <p:nvPr/>
        </p:nvSpPr>
        <p:spPr>
          <a:xfrm>
            <a:off x="5765800" y="2024311"/>
            <a:ext cx="1320800" cy="355600"/>
          </a:xfrm>
          <a:prstGeom prst="roundRect">
            <a:avLst>
              <a:gd name="adj" fmla="val 10714"/>
            </a:avLst>
          </a:prstGeom>
          <a:solidFill>
            <a:srgbClr val="C2362B"/>
          </a:solidFill>
          <a:ln/>
        </p:spPr>
      </p:sp>
      <p:sp>
        <p:nvSpPr>
          <p:cNvPr id="14" name="Text 12"/>
          <p:cNvSpPr/>
          <p:nvPr/>
        </p:nvSpPr>
        <p:spPr>
          <a:xfrm>
            <a:off x="5765800" y="243071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Critical</a:t>
            </a:r>
            <a:endParaRPr lang="en-US" sz="1200" dirty="0"/>
          </a:p>
        </p:txBody>
      </p:sp>
      <p:sp>
        <p:nvSpPr>
          <p:cNvPr id="15" name="Text 13"/>
          <p:cNvSpPr/>
          <p:nvPr/>
        </p:nvSpPr>
        <p:spPr>
          <a:xfrm>
            <a:off x="5765800" y="267201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#C2362B</a:t>
            </a:r>
            <a:endParaRPr lang="en-US" sz="1200" dirty="0"/>
          </a:p>
        </p:txBody>
      </p:sp>
      <p:sp>
        <p:nvSpPr>
          <p:cNvPr id="16" name="Shape 14"/>
          <p:cNvSpPr/>
          <p:nvPr/>
        </p:nvSpPr>
        <p:spPr>
          <a:xfrm>
            <a:off x="7188200" y="2024311"/>
            <a:ext cx="1320800" cy="355600"/>
          </a:xfrm>
          <a:prstGeom prst="roundRect">
            <a:avLst>
              <a:gd name="adj" fmla="val 10714"/>
            </a:avLst>
          </a:prstGeom>
          <a:solidFill>
            <a:srgbClr val="2F5FD0"/>
          </a:solidFill>
          <a:ln/>
        </p:spPr>
      </p:sp>
      <p:sp>
        <p:nvSpPr>
          <p:cNvPr id="17" name="Text 15"/>
          <p:cNvSpPr/>
          <p:nvPr/>
        </p:nvSpPr>
        <p:spPr>
          <a:xfrm>
            <a:off x="7188200" y="243071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Advisory</a:t>
            </a:r>
            <a:endParaRPr lang="en-US" sz="1200" dirty="0"/>
          </a:p>
        </p:txBody>
      </p:sp>
      <p:sp>
        <p:nvSpPr>
          <p:cNvPr id="18" name="Text 16"/>
          <p:cNvSpPr/>
          <p:nvPr/>
        </p:nvSpPr>
        <p:spPr>
          <a:xfrm>
            <a:off x="7188200" y="267201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#2F5FD0</a:t>
            </a:r>
            <a:endParaRPr lang="en-US" sz="1200" dirty="0"/>
          </a:p>
        </p:txBody>
      </p:sp>
      <p:sp>
        <p:nvSpPr>
          <p:cNvPr id="19" name="Shape 17"/>
          <p:cNvSpPr/>
          <p:nvPr/>
        </p:nvSpPr>
        <p:spPr>
          <a:xfrm>
            <a:off x="812800" y="3015506"/>
            <a:ext cx="10566400" cy="0"/>
          </a:xfrm>
          <a:prstGeom prst="line">
            <a:avLst/>
          </a:prstGeom>
          <a:noFill/>
          <a:ln w="6350">
            <a:solidFill>
              <a:srgbClr val="C9C5BA"/>
            </a:solidFill>
            <a:prstDash val="solid"/>
          </a:ln>
        </p:spPr>
      </p:sp>
      <p:sp>
        <p:nvSpPr>
          <p:cNvPr id="20" name="Text 18"/>
          <p:cNvSpPr/>
          <p:nvPr/>
        </p:nvSpPr>
        <p:spPr>
          <a:xfrm>
            <a:off x="812800" y="3145681"/>
            <a:ext cx="19621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Priority</a:t>
            </a:r>
            <a:endParaRPr lang="en-US" sz="1600" dirty="0"/>
          </a:p>
        </p:txBody>
      </p:sp>
      <p:sp>
        <p:nvSpPr>
          <p:cNvPr id="21" name="Text 19"/>
          <p:cNvSpPr/>
          <p:nvPr/>
        </p:nvSpPr>
        <p:spPr>
          <a:xfrm>
            <a:off x="812800" y="3440311"/>
            <a:ext cx="2108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159"/>
                </a:solidFill>
                <a:latin typeface="Inter" pitchFamily="34" charset="0"/>
                <a:ea typeface="Inter" pitchFamily="34" charset="-122"/>
                <a:cs typeface="Inter" pitchFamily="34" charset="-120"/>
              </a:rPr>
              <a:t>4 · work and task urgency</a:t>
            </a:r>
            <a:endParaRPr lang="en-US" sz="1200" dirty="0"/>
          </a:p>
        </p:txBody>
      </p:sp>
      <p:sp>
        <p:nvSpPr>
          <p:cNvPr id="22" name="Shape 20"/>
          <p:cNvSpPr/>
          <p:nvPr/>
        </p:nvSpPr>
        <p:spPr>
          <a:xfrm>
            <a:off x="2921000" y="3145681"/>
            <a:ext cx="1320800" cy="355600"/>
          </a:xfrm>
          <a:prstGeom prst="roundRect">
            <a:avLst>
              <a:gd name="adj" fmla="val 10714"/>
            </a:avLst>
          </a:prstGeom>
          <a:solidFill>
            <a:srgbClr val="7D8A96"/>
          </a:solidFill>
          <a:ln/>
        </p:spPr>
      </p:sp>
      <p:sp>
        <p:nvSpPr>
          <p:cNvPr id="23" name="Text 21"/>
          <p:cNvSpPr/>
          <p:nvPr/>
        </p:nvSpPr>
        <p:spPr>
          <a:xfrm>
            <a:off x="2921000" y="355208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Low</a:t>
            </a:r>
            <a:endParaRPr lang="en-US" sz="1200" dirty="0"/>
          </a:p>
        </p:txBody>
      </p:sp>
      <p:sp>
        <p:nvSpPr>
          <p:cNvPr id="24" name="Text 22"/>
          <p:cNvSpPr/>
          <p:nvPr/>
        </p:nvSpPr>
        <p:spPr>
          <a:xfrm>
            <a:off x="2921000" y="379338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#7D8A96</a:t>
            </a:r>
            <a:endParaRPr lang="en-US" sz="1200" dirty="0"/>
          </a:p>
        </p:txBody>
      </p:sp>
      <p:sp>
        <p:nvSpPr>
          <p:cNvPr id="25" name="Shape 23"/>
          <p:cNvSpPr/>
          <p:nvPr/>
        </p:nvSpPr>
        <p:spPr>
          <a:xfrm>
            <a:off x="4343400" y="3145681"/>
            <a:ext cx="1320800" cy="355600"/>
          </a:xfrm>
          <a:prstGeom prst="roundRect">
            <a:avLst>
              <a:gd name="adj" fmla="val 10714"/>
            </a:avLst>
          </a:prstGeom>
          <a:solidFill>
            <a:srgbClr val="C28A1E"/>
          </a:solidFill>
          <a:ln/>
        </p:spPr>
      </p:sp>
      <p:sp>
        <p:nvSpPr>
          <p:cNvPr id="26" name="Text 24"/>
          <p:cNvSpPr/>
          <p:nvPr/>
        </p:nvSpPr>
        <p:spPr>
          <a:xfrm>
            <a:off x="4343400" y="355208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Medium</a:t>
            </a:r>
            <a:endParaRPr lang="en-US" sz="1200" dirty="0"/>
          </a:p>
        </p:txBody>
      </p:sp>
      <p:sp>
        <p:nvSpPr>
          <p:cNvPr id="27" name="Text 25"/>
          <p:cNvSpPr/>
          <p:nvPr/>
        </p:nvSpPr>
        <p:spPr>
          <a:xfrm>
            <a:off x="4343400" y="379338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#C28A1E</a:t>
            </a:r>
            <a:endParaRPr lang="en-US" sz="1200" dirty="0"/>
          </a:p>
        </p:txBody>
      </p:sp>
      <p:sp>
        <p:nvSpPr>
          <p:cNvPr id="28" name="Shape 26"/>
          <p:cNvSpPr/>
          <p:nvPr/>
        </p:nvSpPr>
        <p:spPr>
          <a:xfrm>
            <a:off x="5765800" y="3145681"/>
            <a:ext cx="1320800" cy="355600"/>
          </a:xfrm>
          <a:prstGeom prst="roundRect">
            <a:avLst>
              <a:gd name="adj" fmla="val 10714"/>
            </a:avLst>
          </a:prstGeom>
          <a:solidFill>
            <a:srgbClr val="D2601A"/>
          </a:solidFill>
          <a:ln/>
        </p:spPr>
      </p:sp>
      <p:sp>
        <p:nvSpPr>
          <p:cNvPr id="29" name="Text 27"/>
          <p:cNvSpPr/>
          <p:nvPr/>
        </p:nvSpPr>
        <p:spPr>
          <a:xfrm>
            <a:off x="5765800" y="355208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High</a:t>
            </a:r>
            <a:endParaRPr lang="en-US" sz="1200" dirty="0"/>
          </a:p>
        </p:txBody>
      </p:sp>
      <p:sp>
        <p:nvSpPr>
          <p:cNvPr id="30" name="Text 28"/>
          <p:cNvSpPr/>
          <p:nvPr/>
        </p:nvSpPr>
        <p:spPr>
          <a:xfrm>
            <a:off x="5765800" y="379338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#D2601A</a:t>
            </a:r>
            <a:endParaRPr lang="en-US" sz="1200" dirty="0"/>
          </a:p>
        </p:txBody>
      </p:sp>
      <p:sp>
        <p:nvSpPr>
          <p:cNvPr id="31" name="Shape 29"/>
          <p:cNvSpPr/>
          <p:nvPr/>
        </p:nvSpPr>
        <p:spPr>
          <a:xfrm>
            <a:off x="7188200" y="3145681"/>
            <a:ext cx="1320800" cy="355600"/>
          </a:xfrm>
          <a:prstGeom prst="roundRect">
            <a:avLst>
              <a:gd name="adj" fmla="val 10714"/>
            </a:avLst>
          </a:prstGeom>
          <a:solidFill>
            <a:srgbClr val="A3241B"/>
          </a:solidFill>
          <a:ln/>
        </p:spPr>
      </p:sp>
      <p:sp>
        <p:nvSpPr>
          <p:cNvPr id="32" name="Text 30"/>
          <p:cNvSpPr/>
          <p:nvPr/>
        </p:nvSpPr>
        <p:spPr>
          <a:xfrm>
            <a:off x="7188200" y="355208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Urgent</a:t>
            </a:r>
            <a:endParaRPr lang="en-US" sz="1200" dirty="0"/>
          </a:p>
        </p:txBody>
      </p:sp>
      <p:sp>
        <p:nvSpPr>
          <p:cNvPr id="33" name="Text 31"/>
          <p:cNvSpPr/>
          <p:nvPr/>
        </p:nvSpPr>
        <p:spPr>
          <a:xfrm>
            <a:off x="7188200" y="379338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#A3241B</a:t>
            </a:r>
            <a:endParaRPr lang="en-US" sz="1200" dirty="0"/>
          </a:p>
        </p:txBody>
      </p:sp>
      <p:sp>
        <p:nvSpPr>
          <p:cNvPr id="34" name="Shape 32"/>
          <p:cNvSpPr/>
          <p:nvPr/>
        </p:nvSpPr>
        <p:spPr>
          <a:xfrm>
            <a:off x="812800" y="4136876"/>
            <a:ext cx="10566400" cy="0"/>
          </a:xfrm>
          <a:prstGeom prst="line">
            <a:avLst/>
          </a:prstGeom>
          <a:noFill/>
          <a:ln w="6350">
            <a:solidFill>
              <a:srgbClr val="C9C5BA"/>
            </a:solidFill>
            <a:prstDash val="solid"/>
          </a:ln>
        </p:spPr>
      </p:sp>
      <p:sp>
        <p:nvSpPr>
          <p:cNvPr id="35" name="Shape 33"/>
          <p:cNvSpPr/>
          <p:nvPr/>
        </p:nvSpPr>
        <p:spPr>
          <a:xfrm>
            <a:off x="812800" y="5258246"/>
            <a:ext cx="10566400" cy="0"/>
          </a:xfrm>
          <a:prstGeom prst="line">
            <a:avLst/>
          </a:prstGeom>
          <a:noFill/>
          <a:ln w="6350">
            <a:solidFill>
              <a:srgbClr val="C9C5BA"/>
            </a:solidFill>
            <a:prstDash val="solid"/>
          </a:ln>
        </p:spPr>
      </p:sp>
      <p:sp>
        <p:nvSpPr>
          <p:cNvPr id="36" name="Text 34"/>
          <p:cNvSpPr/>
          <p:nvPr/>
        </p:nvSpPr>
        <p:spPr>
          <a:xfrm>
            <a:off x="812800" y="4267051"/>
            <a:ext cx="19621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Precedence</a:t>
            </a:r>
            <a:endParaRPr lang="en-US" sz="1600" dirty="0"/>
          </a:p>
        </p:txBody>
      </p:sp>
      <p:sp>
        <p:nvSpPr>
          <p:cNvPr id="37" name="Text 35"/>
          <p:cNvSpPr/>
          <p:nvPr/>
        </p:nvSpPr>
        <p:spPr>
          <a:xfrm>
            <a:off x="812800" y="4561681"/>
            <a:ext cx="196215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159"/>
                </a:solidFill>
                <a:latin typeface="Inter" pitchFamily="34" charset="0"/>
                <a:ea typeface="Inter" pitchFamily="34" charset="-122"/>
                <a:cs typeface="Inter" pitchFamily="34" charset="-120"/>
              </a:rPr>
              <a:t>6 · message handling order</a:t>
            </a:r>
            <a:endParaRPr lang="en-US" sz="1200" dirty="0"/>
          </a:p>
        </p:txBody>
      </p:sp>
      <p:sp>
        <p:nvSpPr>
          <p:cNvPr id="38" name="Shape 36"/>
          <p:cNvSpPr/>
          <p:nvPr/>
        </p:nvSpPr>
        <p:spPr>
          <a:xfrm>
            <a:off x="2921000" y="4267051"/>
            <a:ext cx="1320800" cy="355600"/>
          </a:xfrm>
          <a:prstGeom prst="roundRect">
            <a:avLst>
              <a:gd name="adj" fmla="val 10714"/>
            </a:avLst>
          </a:prstGeom>
          <a:solidFill>
            <a:srgbClr val="7A8290"/>
          </a:solidFill>
          <a:ln/>
        </p:spPr>
      </p:sp>
      <p:sp>
        <p:nvSpPr>
          <p:cNvPr id="39" name="Text 37"/>
          <p:cNvSpPr/>
          <p:nvPr/>
        </p:nvSpPr>
        <p:spPr>
          <a:xfrm>
            <a:off x="2921000" y="467345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Routine</a:t>
            </a:r>
            <a:endParaRPr lang="en-US" sz="1200" dirty="0"/>
          </a:p>
        </p:txBody>
      </p:sp>
      <p:sp>
        <p:nvSpPr>
          <p:cNvPr id="40" name="Text 38"/>
          <p:cNvSpPr/>
          <p:nvPr/>
        </p:nvSpPr>
        <p:spPr>
          <a:xfrm>
            <a:off x="2921000" y="491475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#7A8290</a:t>
            </a:r>
            <a:endParaRPr lang="en-US" sz="1200" dirty="0"/>
          </a:p>
        </p:txBody>
      </p:sp>
      <p:sp>
        <p:nvSpPr>
          <p:cNvPr id="41" name="Shape 39"/>
          <p:cNvSpPr/>
          <p:nvPr/>
        </p:nvSpPr>
        <p:spPr>
          <a:xfrm>
            <a:off x="4343400" y="4267051"/>
            <a:ext cx="1320800" cy="355600"/>
          </a:xfrm>
          <a:prstGeom prst="roundRect">
            <a:avLst>
              <a:gd name="adj" fmla="val 10714"/>
            </a:avLst>
          </a:prstGeom>
          <a:solidFill>
            <a:srgbClr val="5A6FB0"/>
          </a:solidFill>
          <a:ln/>
        </p:spPr>
      </p:sp>
      <p:sp>
        <p:nvSpPr>
          <p:cNvPr id="42" name="Text 40"/>
          <p:cNvSpPr/>
          <p:nvPr/>
        </p:nvSpPr>
        <p:spPr>
          <a:xfrm>
            <a:off x="4343400" y="467345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Priority</a:t>
            </a:r>
            <a:endParaRPr lang="en-US" sz="1200" dirty="0"/>
          </a:p>
        </p:txBody>
      </p:sp>
      <p:sp>
        <p:nvSpPr>
          <p:cNvPr id="43" name="Text 41"/>
          <p:cNvSpPr/>
          <p:nvPr/>
        </p:nvSpPr>
        <p:spPr>
          <a:xfrm>
            <a:off x="4343400" y="491475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#5A6FB0</a:t>
            </a:r>
            <a:endParaRPr lang="en-US" sz="1200" dirty="0"/>
          </a:p>
        </p:txBody>
      </p:sp>
      <p:sp>
        <p:nvSpPr>
          <p:cNvPr id="44" name="Shape 42"/>
          <p:cNvSpPr/>
          <p:nvPr/>
        </p:nvSpPr>
        <p:spPr>
          <a:xfrm>
            <a:off x="5765800" y="4267051"/>
            <a:ext cx="1320800" cy="355600"/>
          </a:xfrm>
          <a:prstGeom prst="roundRect">
            <a:avLst>
              <a:gd name="adj" fmla="val 10714"/>
            </a:avLst>
          </a:prstGeom>
          <a:solidFill>
            <a:srgbClr val="6E4FB8"/>
          </a:solidFill>
          <a:ln/>
        </p:spPr>
      </p:sp>
      <p:sp>
        <p:nvSpPr>
          <p:cNvPr id="45" name="Text 43"/>
          <p:cNvSpPr/>
          <p:nvPr/>
        </p:nvSpPr>
        <p:spPr>
          <a:xfrm>
            <a:off x="5765800" y="467345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Immediate</a:t>
            </a:r>
            <a:endParaRPr lang="en-US" sz="1200" dirty="0"/>
          </a:p>
        </p:txBody>
      </p:sp>
      <p:sp>
        <p:nvSpPr>
          <p:cNvPr id="46" name="Text 44"/>
          <p:cNvSpPr/>
          <p:nvPr/>
        </p:nvSpPr>
        <p:spPr>
          <a:xfrm>
            <a:off x="5765800" y="491475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#6E4FB8</a:t>
            </a:r>
            <a:endParaRPr lang="en-US" sz="1200" dirty="0"/>
          </a:p>
        </p:txBody>
      </p:sp>
      <p:sp>
        <p:nvSpPr>
          <p:cNvPr id="47" name="Shape 45"/>
          <p:cNvSpPr/>
          <p:nvPr/>
        </p:nvSpPr>
        <p:spPr>
          <a:xfrm>
            <a:off x="7188200" y="4267051"/>
            <a:ext cx="1320800" cy="355600"/>
          </a:xfrm>
          <a:prstGeom prst="roundRect">
            <a:avLst>
              <a:gd name="adj" fmla="val 10714"/>
            </a:avLst>
          </a:prstGeom>
          <a:solidFill>
            <a:srgbClr val="9C2FA6"/>
          </a:solidFill>
          <a:ln/>
        </p:spPr>
      </p:sp>
      <p:sp>
        <p:nvSpPr>
          <p:cNvPr id="48" name="Text 46"/>
          <p:cNvSpPr/>
          <p:nvPr/>
        </p:nvSpPr>
        <p:spPr>
          <a:xfrm>
            <a:off x="7188200" y="467345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Flash</a:t>
            </a:r>
            <a:endParaRPr lang="en-US" sz="1200" dirty="0"/>
          </a:p>
        </p:txBody>
      </p:sp>
      <p:sp>
        <p:nvSpPr>
          <p:cNvPr id="49" name="Text 47"/>
          <p:cNvSpPr/>
          <p:nvPr/>
        </p:nvSpPr>
        <p:spPr>
          <a:xfrm>
            <a:off x="7188200" y="491475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#9C2FA6</a:t>
            </a:r>
            <a:endParaRPr lang="en-US" sz="1200" dirty="0"/>
          </a:p>
        </p:txBody>
      </p:sp>
      <p:sp>
        <p:nvSpPr>
          <p:cNvPr id="50" name="Shape 48"/>
          <p:cNvSpPr/>
          <p:nvPr/>
        </p:nvSpPr>
        <p:spPr>
          <a:xfrm>
            <a:off x="8610600" y="4267051"/>
            <a:ext cx="1320800" cy="355600"/>
          </a:xfrm>
          <a:prstGeom prst="roundRect">
            <a:avLst>
              <a:gd name="adj" fmla="val 10714"/>
            </a:avLst>
          </a:prstGeom>
          <a:solidFill>
            <a:srgbClr val="C21E6E"/>
          </a:solidFill>
          <a:ln/>
        </p:spPr>
      </p:sp>
      <p:sp>
        <p:nvSpPr>
          <p:cNvPr id="51" name="Text 49"/>
          <p:cNvSpPr/>
          <p:nvPr/>
        </p:nvSpPr>
        <p:spPr>
          <a:xfrm>
            <a:off x="8610600" y="467345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Flash Override</a:t>
            </a:r>
            <a:endParaRPr lang="en-US" sz="1200" dirty="0"/>
          </a:p>
        </p:txBody>
      </p:sp>
      <p:sp>
        <p:nvSpPr>
          <p:cNvPr id="52" name="Text 50"/>
          <p:cNvSpPr/>
          <p:nvPr/>
        </p:nvSpPr>
        <p:spPr>
          <a:xfrm>
            <a:off x="8610600" y="491475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#C21E6E</a:t>
            </a:r>
            <a:endParaRPr lang="en-US" sz="1200" dirty="0"/>
          </a:p>
        </p:txBody>
      </p:sp>
      <p:sp>
        <p:nvSpPr>
          <p:cNvPr id="53" name="Shape 51"/>
          <p:cNvSpPr/>
          <p:nvPr/>
        </p:nvSpPr>
        <p:spPr>
          <a:xfrm>
            <a:off x="10033000" y="4267051"/>
            <a:ext cx="1320800" cy="355600"/>
          </a:xfrm>
          <a:prstGeom prst="roundRect">
            <a:avLst>
              <a:gd name="adj" fmla="val 10714"/>
            </a:avLst>
          </a:prstGeom>
          <a:solidFill>
            <a:srgbClr val="7F0E2E"/>
          </a:solidFill>
          <a:ln/>
        </p:spPr>
      </p:sp>
      <p:sp>
        <p:nvSpPr>
          <p:cNvPr id="54" name="Text 52"/>
          <p:cNvSpPr/>
          <p:nvPr/>
        </p:nvSpPr>
        <p:spPr>
          <a:xfrm>
            <a:off x="10033000" y="4673451"/>
            <a:ext cx="13716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5181C"/>
                </a:solidFill>
                <a:latin typeface="Inter" pitchFamily="34" charset="0"/>
                <a:ea typeface="Inter" pitchFamily="34" charset="-122"/>
                <a:cs typeface="Inter" pitchFamily="34" charset="-120"/>
              </a:rPr>
              <a:t>Critic</a:t>
            </a:r>
            <a:endParaRPr lang="en-US" sz="1200" dirty="0"/>
          </a:p>
        </p:txBody>
      </p:sp>
      <p:sp>
        <p:nvSpPr>
          <p:cNvPr id="55" name="Text 53"/>
          <p:cNvSpPr/>
          <p:nvPr/>
        </p:nvSpPr>
        <p:spPr>
          <a:xfrm>
            <a:off x="10033000" y="4914751"/>
            <a:ext cx="137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#7F0E2E</a:t>
            </a:r>
            <a:endParaRPr lang="en-US" sz="1200" dirty="0"/>
          </a:p>
        </p:txBody>
      </p:sp>
      <p:sp>
        <p:nvSpPr>
          <p:cNvPr id="56" name="Text 5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57" name="Text 5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03 · FOUNDATIONS · NEUTRALS AND RULES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Warm neutrals carry everything else.</a:t>
            </a:r>
            <a:endParaRPr lang="en-US" sz="3600" dirty="0"/>
          </a:p>
        </p:txBody>
      </p:sp>
      <p:sp>
        <p:nvSpPr>
          <p:cNvPr id="4" name="Shape 2"/>
          <p:cNvSpPr/>
          <p:nvPr/>
        </p:nvSpPr>
        <p:spPr>
          <a:xfrm>
            <a:off x="812800" y="1935411"/>
            <a:ext cx="1055340" cy="1397000"/>
          </a:xfrm>
          <a:prstGeom prst="rect">
            <a:avLst/>
          </a:prstGeom>
          <a:solidFill>
            <a:srgbClr val="15181C"/>
          </a:solidFill>
          <a:ln/>
        </p:spPr>
      </p:sp>
      <p:sp>
        <p:nvSpPr>
          <p:cNvPr id="5" name="Text 3"/>
          <p:cNvSpPr/>
          <p:nvPr/>
        </p:nvSpPr>
        <p:spPr>
          <a:xfrm>
            <a:off x="914400" y="280417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900</a:t>
            </a:r>
            <a:endParaRPr lang="en-US" sz="1200" dirty="0"/>
          </a:p>
        </p:txBody>
      </p:sp>
      <p:sp>
        <p:nvSpPr>
          <p:cNvPr id="6" name="Text 4"/>
          <p:cNvSpPr/>
          <p:nvPr/>
        </p:nvSpPr>
        <p:spPr>
          <a:xfrm>
            <a:off x="914400" y="301749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#15181C</a:t>
            </a:r>
            <a:endParaRPr lang="en-US" sz="1200" dirty="0"/>
          </a:p>
        </p:txBody>
      </p:sp>
      <p:sp>
        <p:nvSpPr>
          <p:cNvPr id="7" name="Shape 5"/>
          <p:cNvSpPr/>
          <p:nvPr/>
        </p:nvSpPr>
        <p:spPr>
          <a:xfrm>
            <a:off x="1868140" y="1935411"/>
            <a:ext cx="1055390" cy="1397000"/>
          </a:xfrm>
          <a:prstGeom prst="rect">
            <a:avLst/>
          </a:prstGeom>
          <a:solidFill>
            <a:srgbClr val="22262B"/>
          </a:solidFill>
          <a:ln/>
        </p:spPr>
      </p:sp>
      <p:sp>
        <p:nvSpPr>
          <p:cNvPr id="8" name="Text 6"/>
          <p:cNvSpPr/>
          <p:nvPr/>
        </p:nvSpPr>
        <p:spPr>
          <a:xfrm>
            <a:off x="1969740" y="280417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800</a:t>
            </a:r>
            <a:endParaRPr lang="en-US" sz="1200" dirty="0"/>
          </a:p>
        </p:txBody>
      </p:sp>
      <p:sp>
        <p:nvSpPr>
          <p:cNvPr id="9" name="Text 7"/>
          <p:cNvSpPr/>
          <p:nvPr/>
        </p:nvSpPr>
        <p:spPr>
          <a:xfrm>
            <a:off x="1969740" y="301749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#22262B</a:t>
            </a:r>
            <a:endParaRPr lang="en-US" sz="1200" dirty="0"/>
          </a:p>
        </p:txBody>
      </p:sp>
      <p:sp>
        <p:nvSpPr>
          <p:cNvPr id="10" name="Shape 8"/>
          <p:cNvSpPr/>
          <p:nvPr/>
        </p:nvSpPr>
        <p:spPr>
          <a:xfrm>
            <a:off x="2923530" y="1935411"/>
            <a:ext cx="1055340" cy="1397000"/>
          </a:xfrm>
          <a:prstGeom prst="rect">
            <a:avLst/>
          </a:prstGeom>
          <a:solidFill>
            <a:srgbClr val="343A41"/>
          </a:solidFill>
          <a:ln/>
        </p:spPr>
      </p:sp>
      <p:sp>
        <p:nvSpPr>
          <p:cNvPr id="11" name="Text 9"/>
          <p:cNvSpPr/>
          <p:nvPr/>
        </p:nvSpPr>
        <p:spPr>
          <a:xfrm>
            <a:off x="3025130" y="280417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700</a:t>
            </a:r>
            <a:endParaRPr lang="en-US" sz="1200" dirty="0"/>
          </a:p>
        </p:txBody>
      </p:sp>
      <p:sp>
        <p:nvSpPr>
          <p:cNvPr id="12" name="Text 10"/>
          <p:cNvSpPr/>
          <p:nvPr/>
        </p:nvSpPr>
        <p:spPr>
          <a:xfrm>
            <a:off x="3025130" y="301749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#343A41</a:t>
            </a:r>
            <a:endParaRPr lang="en-US" sz="1200" dirty="0"/>
          </a:p>
        </p:txBody>
      </p:sp>
      <p:sp>
        <p:nvSpPr>
          <p:cNvPr id="13" name="Shape 11"/>
          <p:cNvSpPr/>
          <p:nvPr/>
        </p:nvSpPr>
        <p:spPr>
          <a:xfrm>
            <a:off x="3978870" y="1935411"/>
            <a:ext cx="1055390" cy="1397000"/>
          </a:xfrm>
          <a:prstGeom prst="rect">
            <a:avLst/>
          </a:prstGeom>
          <a:solidFill>
            <a:srgbClr val="4A5159"/>
          </a:solidFill>
          <a:ln/>
        </p:spPr>
      </p:sp>
      <p:sp>
        <p:nvSpPr>
          <p:cNvPr id="14" name="Text 12"/>
          <p:cNvSpPr/>
          <p:nvPr/>
        </p:nvSpPr>
        <p:spPr>
          <a:xfrm>
            <a:off x="4080470" y="280417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600</a:t>
            </a:r>
            <a:endParaRPr lang="en-US" sz="1200" dirty="0"/>
          </a:p>
        </p:txBody>
      </p:sp>
      <p:sp>
        <p:nvSpPr>
          <p:cNvPr id="15" name="Text 13"/>
          <p:cNvSpPr/>
          <p:nvPr/>
        </p:nvSpPr>
        <p:spPr>
          <a:xfrm>
            <a:off x="4080470" y="301749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#4A5159</a:t>
            </a:r>
            <a:endParaRPr lang="en-US" sz="1200" dirty="0"/>
          </a:p>
        </p:txBody>
      </p:sp>
      <p:sp>
        <p:nvSpPr>
          <p:cNvPr id="16" name="Shape 14"/>
          <p:cNvSpPr/>
          <p:nvPr/>
        </p:nvSpPr>
        <p:spPr>
          <a:xfrm>
            <a:off x="5034260" y="1935411"/>
            <a:ext cx="1055340" cy="1397000"/>
          </a:xfrm>
          <a:prstGeom prst="rect">
            <a:avLst/>
          </a:prstGeom>
          <a:solidFill>
            <a:srgbClr val="5F666E"/>
          </a:solidFill>
          <a:ln/>
        </p:spPr>
      </p:sp>
      <p:sp>
        <p:nvSpPr>
          <p:cNvPr id="17" name="Text 15"/>
          <p:cNvSpPr/>
          <p:nvPr/>
        </p:nvSpPr>
        <p:spPr>
          <a:xfrm>
            <a:off x="5135860" y="280417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500</a:t>
            </a:r>
            <a:endParaRPr lang="en-US" sz="1200" dirty="0"/>
          </a:p>
        </p:txBody>
      </p:sp>
      <p:sp>
        <p:nvSpPr>
          <p:cNvPr id="18" name="Text 16"/>
          <p:cNvSpPr/>
          <p:nvPr/>
        </p:nvSpPr>
        <p:spPr>
          <a:xfrm>
            <a:off x="5135860" y="301749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EFE6"/>
                </a:solidFill>
                <a:latin typeface="JetBrains Mono" pitchFamily="49" charset="0"/>
                <a:ea typeface="JetBrains Mono" pitchFamily="49" charset="-122"/>
                <a:cs typeface="JetBrains Mono" pitchFamily="49" charset="-120"/>
              </a:rPr>
              <a:t>#5F666E</a:t>
            </a:r>
            <a:endParaRPr lang="en-US" sz="1200" dirty="0"/>
          </a:p>
        </p:txBody>
      </p:sp>
      <p:sp>
        <p:nvSpPr>
          <p:cNvPr id="19" name="Shape 17"/>
          <p:cNvSpPr/>
          <p:nvPr/>
        </p:nvSpPr>
        <p:spPr>
          <a:xfrm>
            <a:off x="6089600" y="1935411"/>
            <a:ext cx="1055390" cy="1397000"/>
          </a:xfrm>
          <a:prstGeom prst="rect">
            <a:avLst/>
          </a:prstGeom>
          <a:solidFill>
            <a:srgbClr val="8B9198"/>
          </a:solidFill>
          <a:ln/>
        </p:spPr>
      </p:sp>
      <p:sp>
        <p:nvSpPr>
          <p:cNvPr id="20" name="Text 18"/>
          <p:cNvSpPr/>
          <p:nvPr/>
        </p:nvSpPr>
        <p:spPr>
          <a:xfrm>
            <a:off x="6191200" y="280417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400</a:t>
            </a:r>
            <a:endParaRPr lang="en-US" sz="1200" dirty="0"/>
          </a:p>
        </p:txBody>
      </p:sp>
      <p:sp>
        <p:nvSpPr>
          <p:cNvPr id="21" name="Text 19"/>
          <p:cNvSpPr/>
          <p:nvPr/>
        </p:nvSpPr>
        <p:spPr>
          <a:xfrm>
            <a:off x="6191200" y="301749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#8B9198</a:t>
            </a:r>
            <a:endParaRPr lang="en-US" sz="1200" dirty="0"/>
          </a:p>
        </p:txBody>
      </p:sp>
      <p:sp>
        <p:nvSpPr>
          <p:cNvPr id="22" name="Shape 20"/>
          <p:cNvSpPr/>
          <p:nvPr/>
        </p:nvSpPr>
        <p:spPr>
          <a:xfrm>
            <a:off x="7144990" y="1935411"/>
            <a:ext cx="1055340" cy="1397000"/>
          </a:xfrm>
          <a:prstGeom prst="rect">
            <a:avLst/>
          </a:prstGeom>
          <a:solidFill>
            <a:srgbClr val="B9BDC1"/>
          </a:solidFill>
          <a:ln/>
        </p:spPr>
      </p:sp>
      <p:sp>
        <p:nvSpPr>
          <p:cNvPr id="23" name="Text 21"/>
          <p:cNvSpPr/>
          <p:nvPr/>
        </p:nvSpPr>
        <p:spPr>
          <a:xfrm>
            <a:off x="7246590" y="280417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300</a:t>
            </a:r>
            <a:endParaRPr lang="en-US" sz="1200" dirty="0"/>
          </a:p>
        </p:txBody>
      </p:sp>
      <p:sp>
        <p:nvSpPr>
          <p:cNvPr id="24" name="Text 22"/>
          <p:cNvSpPr/>
          <p:nvPr/>
        </p:nvSpPr>
        <p:spPr>
          <a:xfrm>
            <a:off x="7246590" y="3017490"/>
            <a:ext cx="9029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#B9BDC1</a:t>
            </a:r>
            <a:endParaRPr lang="en-US" sz="1200" dirty="0"/>
          </a:p>
        </p:txBody>
      </p:sp>
      <p:sp>
        <p:nvSpPr>
          <p:cNvPr id="25" name="Shape 23"/>
          <p:cNvSpPr/>
          <p:nvPr/>
        </p:nvSpPr>
        <p:spPr>
          <a:xfrm>
            <a:off x="8200330" y="1935411"/>
            <a:ext cx="1055390" cy="1397000"/>
          </a:xfrm>
          <a:prstGeom prst="rect">
            <a:avLst/>
          </a:prstGeom>
          <a:solidFill>
            <a:srgbClr val="DCDAD3"/>
          </a:solidFill>
          <a:ln/>
        </p:spPr>
      </p:sp>
      <p:sp>
        <p:nvSpPr>
          <p:cNvPr id="26" name="Text 24"/>
          <p:cNvSpPr/>
          <p:nvPr/>
        </p:nvSpPr>
        <p:spPr>
          <a:xfrm>
            <a:off x="8301930" y="280417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200</a:t>
            </a:r>
            <a:endParaRPr lang="en-US" sz="1200" dirty="0"/>
          </a:p>
        </p:txBody>
      </p:sp>
      <p:sp>
        <p:nvSpPr>
          <p:cNvPr id="27" name="Text 25"/>
          <p:cNvSpPr/>
          <p:nvPr/>
        </p:nvSpPr>
        <p:spPr>
          <a:xfrm>
            <a:off x="8301930" y="301749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#DCDAD3</a:t>
            </a:r>
            <a:endParaRPr lang="en-US" sz="1200" dirty="0"/>
          </a:p>
        </p:txBody>
      </p:sp>
      <p:sp>
        <p:nvSpPr>
          <p:cNvPr id="28" name="Shape 26"/>
          <p:cNvSpPr/>
          <p:nvPr/>
        </p:nvSpPr>
        <p:spPr>
          <a:xfrm>
            <a:off x="9255720" y="1935411"/>
            <a:ext cx="1055390" cy="1397000"/>
          </a:xfrm>
          <a:prstGeom prst="rect">
            <a:avLst/>
          </a:prstGeom>
          <a:solidFill>
            <a:srgbClr val="EAE6DC"/>
          </a:solidFill>
          <a:ln/>
        </p:spPr>
      </p:sp>
      <p:sp>
        <p:nvSpPr>
          <p:cNvPr id="29" name="Text 27"/>
          <p:cNvSpPr/>
          <p:nvPr/>
        </p:nvSpPr>
        <p:spPr>
          <a:xfrm>
            <a:off x="9357320" y="280417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100</a:t>
            </a:r>
            <a:endParaRPr lang="en-US" sz="1200" dirty="0"/>
          </a:p>
        </p:txBody>
      </p:sp>
      <p:sp>
        <p:nvSpPr>
          <p:cNvPr id="30" name="Text 28"/>
          <p:cNvSpPr/>
          <p:nvPr/>
        </p:nvSpPr>
        <p:spPr>
          <a:xfrm>
            <a:off x="9357320" y="301749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#EAE6DC</a:t>
            </a:r>
            <a:endParaRPr lang="en-US" sz="1200" dirty="0"/>
          </a:p>
        </p:txBody>
      </p:sp>
      <p:sp>
        <p:nvSpPr>
          <p:cNvPr id="31" name="Shape 29"/>
          <p:cNvSpPr/>
          <p:nvPr/>
        </p:nvSpPr>
        <p:spPr>
          <a:xfrm>
            <a:off x="10314285" y="1938586"/>
            <a:ext cx="1061740" cy="1390650"/>
          </a:xfrm>
          <a:prstGeom prst="rect">
            <a:avLst/>
          </a:prstGeom>
          <a:solidFill>
            <a:srgbClr val="F3EFE6"/>
          </a:solidFill>
          <a:ln w="6350">
            <a:solidFill>
              <a:srgbClr val="C9C5BA"/>
            </a:solidFill>
            <a:prstDash val="solid"/>
          </a:ln>
        </p:spPr>
      </p:sp>
      <p:sp>
        <p:nvSpPr>
          <p:cNvPr id="32" name="Text 30"/>
          <p:cNvSpPr/>
          <p:nvPr/>
        </p:nvSpPr>
        <p:spPr>
          <a:xfrm>
            <a:off x="10419060" y="279782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50</a:t>
            </a:r>
            <a:endParaRPr lang="en-US" sz="1200" dirty="0"/>
          </a:p>
        </p:txBody>
      </p:sp>
      <p:sp>
        <p:nvSpPr>
          <p:cNvPr id="33" name="Text 31"/>
          <p:cNvSpPr/>
          <p:nvPr/>
        </p:nvSpPr>
        <p:spPr>
          <a:xfrm>
            <a:off x="10419060" y="3011140"/>
            <a:ext cx="902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#F3EFE6</a:t>
            </a:r>
            <a:endParaRPr lang="en-US" sz="1200" dirty="0"/>
          </a:p>
        </p:txBody>
      </p:sp>
      <p:sp>
        <p:nvSpPr>
          <p:cNvPr id="34" name="Text 32"/>
          <p:cNvSpPr/>
          <p:nvPr/>
        </p:nvSpPr>
        <p:spPr>
          <a:xfrm>
            <a:off x="812800" y="3637211"/>
            <a:ext cx="31821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900–600 · text, dark surfaces</a:t>
            </a:r>
            <a:endParaRPr lang="en-US" sz="1200" dirty="0"/>
          </a:p>
        </p:txBody>
      </p:sp>
      <p:sp>
        <p:nvSpPr>
          <p:cNvPr id="35" name="Text 33"/>
          <p:cNvSpPr/>
          <p:nvPr/>
        </p:nvSpPr>
        <p:spPr>
          <a:xfrm>
            <a:off x="5273030" y="3637211"/>
            <a:ext cx="2633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500–300 · borders, icons</a:t>
            </a:r>
            <a:endParaRPr lang="en-US" sz="1200" dirty="0"/>
          </a:p>
        </p:txBody>
      </p:sp>
      <p:sp>
        <p:nvSpPr>
          <p:cNvPr id="36" name="Text 34"/>
          <p:cNvSpPr/>
          <p:nvPr/>
        </p:nvSpPr>
        <p:spPr>
          <a:xfrm>
            <a:off x="8855432" y="3637211"/>
            <a:ext cx="25237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200–50 · light surfaces</a:t>
            </a:r>
            <a:endParaRPr lang="en-US" sz="1200" dirty="0"/>
          </a:p>
        </p:txBody>
      </p:sp>
      <p:sp>
        <p:nvSpPr>
          <p:cNvPr id="37" name="Shape 35"/>
          <p:cNvSpPr/>
          <p:nvPr/>
        </p:nvSpPr>
        <p:spPr>
          <a:xfrm>
            <a:off x="812800" y="4693989"/>
            <a:ext cx="3318917" cy="0"/>
          </a:xfrm>
          <a:prstGeom prst="line">
            <a:avLst/>
          </a:prstGeom>
          <a:noFill/>
          <a:ln w="25400">
            <a:solidFill>
              <a:srgbClr val="15181C"/>
            </a:solidFill>
            <a:prstDash val="solid"/>
          </a:ln>
        </p:spPr>
      </p:sp>
      <p:sp>
        <p:nvSpPr>
          <p:cNvPr id="38" name="Text 36"/>
          <p:cNvSpPr/>
          <p:nvPr/>
        </p:nvSpPr>
        <p:spPr>
          <a:xfrm>
            <a:off x="812800" y="4859089"/>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Never color alone</a:t>
            </a:r>
            <a:endParaRPr lang="en-US" sz="1600" dirty="0"/>
          </a:p>
        </p:txBody>
      </p:sp>
      <p:sp>
        <p:nvSpPr>
          <p:cNvPr id="39" name="Text 37"/>
          <p:cNvSpPr/>
          <p:nvPr/>
        </p:nvSpPr>
        <p:spPr>
          <a:xfrm>
            <a:off x="812800" y="5179120"/>
            <a:ext cx="3418484"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Every status, priority and precedence pairs its color with a word and a marker, for color-blind users and grayscale displays.</a:t>
            </a:r>
            <a:endParaRPr lang="en-US" sz="1200" dirty="0"/>
          </a:p>
        </p:txBody>
      </p:sp>
      <p:sp>
        <p:nvSpPr>
          <p:cNvPr id="40" name="Shape 38"/>
          <p:cNvSpPr/>
          <p:nvPr/>
        </p:nvSpPr>
        <p:spPr>
          <a:xfrm>
            <a:off x="4436517" y="4693989"/>
            <a:ext cx="3318966" cy="0"/>
          </a:xfrm>
          <a:prstGeom prst="line">
            <a:avLst/>
          </a:prstGeom>
          <a:noFill/>
          <a:ln w="25400">
            <a:solidFill>
              <a:srgbClr val="15181C"/>
            </a:solidFill>
            <a:prstDash val="solid"/>
          </a:ln>
        </p:spPr>
      </p:sp>
      <p:sp>
        <p:nvSpPr>
          <p:cNvPr id="41" name="Text 39"/>
          <p:cNvSpPr/>
          <p:nvPr/>
        </p:nvSpPr>
        <p:spPr>
          <a:xfrm>
            <a:off x="4436517" y="4859089"/>
            <a:ext cx="34185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Contrast is a number</a:t>
            </a:r>
            <a:endParaRPr lang="en-US" sz="1600" dirty="0"/>
          </a:p>
        </p:txBody>
      </p:sp>
      <p:sp>
        <p:nvSpPr>
          <p:cNvPr id="42" name="Text 40"/>
          <p:cNvSpPr/>
          <p:nvPr/>
        </p:nvSpPr>
        <p:spPr>
          <a:xfrm>
            <a:off x="4436517" y="5179120"/>
            <a:ext cx="3418535"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Text clears 4.5:1; large text and UI boundaries clear 3:1. Checked automatically in the pipeline.</a:t>
            </a:r>
            <a:endParaRPr lang="en-US" sz="1200" dirty="0"/>
          </a:p>
        </p:txBody>
      </p:sp>
      <p:sp>
        <p:nvSpPr>
          <p:cNvPr id="43" name="Shape 41"/>
          <p:cNvSpPr/>
          <p:nvPr/>
        </p:nvSpPr>
        <p:spPr>
          <a:xfrm>
            <a:off x="8060283" y="4693989"/>
            <a:ext cx="3318917" cy="0"/>
          </a:xfrm>
          <a:prstGeom prst="line">
            <a:avLst/>
          </a:prstGeom>
          <a:noFill/>
          <a:ln w="25400">
            <a:solidFill>
              <a:srgbClr val="15181C"/>
            </a:solidFill>
            <a:prstDash val="solid"/>
          </a:ln>
        </p:spPr>
      </p:sp>
      <p:sp>
        <p:nvSpPr>
          <p:cNvPr id="44" name="Text 42"/>
          <p:cNvSpPr/>
          <p:nvPr/>
        </p:nvSpPr>
        <p:spPr>
          <a:xfrm>
            <a:off x="8060283" y="4859089"/>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Light and dark</a:t>
            </a:r>
            <a:endParaRPr lang="en-US" sz="1600" dirty="0"/>
          </a:p>
        </p:txBody>
      </p:sp>
      <p:sp>
        <p:nvSpPr>
          <p:cNvPr id="45" name="Text 43"/>
          <p:cNvSpPr/>
          <p:nvPr/>
        </p:nvSpPr>
        <p:spPr>
          <a:xfrm>
            <a:off x="8060283" y="5179120"/>
            <a:ext cx="341848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Every token ships both values, so dark mode is a switch, not a project.</a:t>
            </a:r>
            <a:endParaRPr lang="en-US" sz="1200" dirty="0"/>
          </a:p>
        </p:txBody>
      </p:sp>
      <p:sp>
        <p:nvSpPr>
          <p:cNvPr id="46" name="Text 4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47" name="Text 4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03 · FOUNDATIONS · ICONOGRAPHY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One grid, one stroke, one family.</a:t>
            </a:r>
            <a:endParaRPr lang="en-US" sz="3600" dirty="0"/>
          </a:p>
        </p:txBody>
      </p:sp>
      <p:pic>
        <p:nvPicPr>
          <p:cNvPr id="4" name="Image 0" descr="Icon keyline grid: a 24 by 24 pixel grid with a 2 pixel padding zone and a shield-check icon drawn at 1.5 pixel stroke">    </p:cNvPr>
          <p:cNvPicPr>
            <a:picLocks noChangeAspect="1"/>
          </p:cNvPicPr>
          <p:nvPr/>
        </p:nvPicPr>
        <p:blipFill>
          <a:blip r:embed="rId1"/>
          <a:srcRect l="0" r="0" t="0" b="0"/>
          <a:stretch/>
        </p:blipFill>
        <p:spPr>
          <a:xfrm>
            <a:off x="812800" y="1884611"/>
            <a:ext cx="2286000" cy="2286000"/>
          </a:xfrm>
          <a:prstGeom prst="rect">
            <a:avLst/>
          </a:prstGeom>
        </p:spPr>
      </p:pic>
      <p:sp>
        <p:nvSpPr>
          <p:cNvPr id="5" name="Shape 2"/>
          <p:cNvSpPr/>
          <p:nvPr/>
        </p:nvSpPr>
        <p:spPr>
          <a:xfrm>
            <a:off x="3505200" y="1890961"/>
            <a:ext cx="7874000" cy="0"/>
          </a:xfrm>
          <a:prstGeom prst="line">
            <a:avLst/>
          </a:prstGeom>
          <a:noFill/>
          <a:ln w="12700">
            <a:solidFill>
              <a:srgbClr val="15181C"/>
            </a:solidFill>
            <a:prstDash val="solid"/>
          </a:ln>
        </p:spPr>
      </p:sp>
      <p:sp>
        <p:nvSpPr>
          <p:cNvPr id="6" name="Text 3"/>
          <p:cNvSpPr/>
          <p:nvPr/>
        </p:nvSpPr>
        <p:spPr>
          <a:xfrm>
            <a:off x="3505200" y="197351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Grid</a:t>
            </a:r>
            <a:endParaRPr lang="en-US" sz="1200" dirty="0"/>
          </a:p>
        </p:txBody>
      </p:sp>
      <p:sp>
        <p:nvSpPr>
          <p:cNvPr id="7" name="Text 4"/>
          <p:cNvSpPr/>
          <p:nvPr/>
        </p:nvSpPr>
        <p:spPr>
          <a:xfrm>
            <a:off x="4978400" y="1973511"/>
            <a:ext cx="65928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24 × 24 px with 2 px padding: a 20 px live area</a:t>
            </a:r>
            <a:endParaRPr lang="en-US" sz="1200" dirty="0"/>
          </a:p>
        </p:txBody>
      </p:sp>
      <p:sp>
        <p:nvSpPr>
          <p:cNvPr id="8" name="Shape 5"/>
          <p:cNvSpPr/>
          <p:nvPr/>
        </p:nvSpPr>
        <p:spPr>
          <a:xfrm>
            <a:off x="3505200" y="2266206"/>
            <a:ext cx="7874000" cy="0"/>
          </a:xfrm>
          <a:prstGeom prst="line">
            <a:avLst/>
          </a:prstGeom>
          <a:noFill/>
          <a:ln w="6350">
            <a:solidFill>
              <a:srgbClr val="C9C5BA"/>
            </a:solidFill>
            <a:prstDash val="solid"/>
          </a:ln>
        </p:spPr>
      </p:sp>
      <p:sp>
        <p:nvSpPr>
          <p:cNvPr id="9" name="Text 6"/>
          <p:cNvSpPr/>
          <p:nvPr/>
        </p:nvSpPr>
        <p:spPr>
          <a:xfrm>
            <a:off x="3505200" y="234558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Stroke</a:t>
            </a:r>
            <a:endParaRPr lang="en-US" sz="1200" dirty="0"/>
          </a:p>
        </p:txBody>
      </p:sp>
      <p:sp>
        <p:nvSpPr>
          <p:cNvPr id="10" name="Text 7"/>
          <p:cNvSpPr/>
          <p:nvPr/>
        </p:nvSpPr>
        <p:spPr>
          <a:xfrm>
            <a:off x="4978400" y="2345581"/>
            <a:ext cx="65928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1.5 px, round caps and joins, no fills</a:t>
            </a:r>
            <a:endParaRPr lang="en-US" sz="1200" dirty="0"/>
          </a:p>
        </p:txBody>
      </p:sp>
      <p:sp>
        <p:nvSpPr>
          <p:cNvPr id="11" name="Shape 8"/>
          <p:cNvSpPr/>
          <p:nvPr/>
        </p:nvSpPr>
        <p:spPr>
          <a:xfrm>
            <a:off x="3505200" y="2638276"/>
            <a:ext cx="7874000" cy="0"/>
          </a:xfrm>
          <a:prstGeom prst="line">
            <a:avLst/>
          </a:prstGeom>
          <a:noFill/>
          <a:ln w="6350">
            <a:solidFill>
              <a:srgbClr val="C9C5BA"/>
            </a:solidFill>
            <a:prstDash val="solid"/>
          </a:ln>
        </p:spPr>
      </p:sp>
      <p:sp>
        <p:nvSpPr>
          <p:cNvPr id="12" name="Text 9"/>
          <p:cNvSpPr/>
          <p:nvPr/>
        </p:nvSpPr>
        <p:spPr>
          <a:xfrm>
            <a:off x="3505200" y="271765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Sizes</a:t>
            </a:r>
            <a:endParaRPr lang="en-US" sz="1200" dirty="0"/>
          </a:p>
        </p:txBody>
      </p:sp>
      <p:sp>
        <p:nvSpPr>
          <p:cNvPr id="13" name="Text 10"/>
          <p:cNvSpPr/>
          <p:nvPr/>
        </p:nvSpPr>
        <p:spPr>
          <a:xfrm>
            <a:off x="4978400" y="2717651"/>
            <a:ext cx="65928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16 · 20 · 24 · 32 px, always on whole pixels</a:t>
            </a:r>
            <a:endParaRPr lang="en-US" sz="1200" dirty="0"/>
          </a:p>
        </p:txBody>
      </p:sp>
      <p:sp>
        <p:nvSpPr>
          <p:cNvPr id="14" name="Shape 11"/>
          <p:cNvSpPr/>
          <p:nvPr/>
        </p:nvSpPr>
        <p:spPr>
          <a:xfrm>
            <a:off x="3505200" y="3010346"/>
            <a:ext cx="7874000" cy="0"/>
          </a:xfrm>
          <a:prstGeom prst="line">
            <a:avLst/>
          </a:prstGeom>
          <a:noFill/>
          <a:ln w="6350">
            <a:solidFill>
              <a:srgbClr val="C9C5BA"/>
            </a:solidFill>
            <a:prstDash val="solid"/>
          </a:ln>
        </p:spPr>
      </p:sp>
      <p:sp>
        <p:nvSpPr>
          <p:cNvPr id="15" name="Text 12"/>
          <p:cNvSpPr/>
          <p:nvPr/>
        </p:nvSpPr>
        <p:spPr>
          <a:xfrm>
            <a:off x="3505200" y="308972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Base set</a:t>
            </a:r>
            <a:endParaRPr lang="en-US" sz="1200" dirty="0"/>
          </a:p>
        </p:txBody>
      </p:sp>
      <p:sp>
        <p:nvSpPr>
          <p:cNvPr id="16" name="Text 13"/>
          <p:cNvSpPr/>
          <p:nvPr/>
        </p:nvSpPr>
        <p:spPr>
          <a:xfrm>
            <a:off x="4978400" y="3089721"/>
            <a:ext cx="65928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Lucide (open source, ISC license), extended with mission glyphs drawn to the same grid</a:t>
            </a:r>
            <a:endParaRPr lang="en-US" sz="1200" dirty="0"/>
          </a:p>
        </p:txBody>
      </p:sp>
      <p:sp>
        <p:nvSpPr>
          <p:cNvPr id="17" name="Shape 14"/>
          <p:cNvSpPr/>
          <p:nvPr/>
        </p:nvSpPr>
        <p:spPr>
          <a:xfrm>
            <a:off x="3505200" y="3382417"/>
            <a:ext cx="7874000" cy="0"/>
          </a:xfrm>
          <a:prstGeom prst="line">
            <a:avLst/>
          </a:prstGeom>
          <a:noFill/>
          <a:ln w="6350">
            <a:solidFill>
              <a:srgbClr val="C9C5BA"/>
            </a:solidFill>
            <a:prstDash val="solid"/>
          </a:ln>
        </p:spPr>
      </p:sp>
      <p:sp>
        <p:nvSpPr>
          <p:cNvPr id="18" name="Shape 15"/>
          <p:cNvSpPr/>
          <p:nvPr/>
        </p:nvSpPr>
        <p:spPr>
          <a:xfrm>
            <a:off x="3505200" y="3754487"/>
            <a:ext cx="7874000" cy="0"/>
          </a:xfrm>
          <a:prstGeom prst="line">
            <a:avLst/>
          </a:prstGeom>
          <a:noFill/>
          <a:ln w="6350">
            <a:solidFill>
              <a:srgbClr val="C9C5BA"/>
            </a:solidFill>
            <a:prstDash val="solid"/>
          </a:ln>
        </p:spPr>
      </p:sp>
      <p:sp>
        <p:nvSpPr>
          <p:cNvPr id="19" name="Text 16"/>
          <p:cNvSpPr/>
          <p:nvPr/>
        </p:nvSpPr>
        <p:spPr>
          <a:xfrm>
            <a:off x="3505200" y="346179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Meaning</a:t>
            </a:r>
            <a:endParaRPr lang="en-US" sz="1200" dirty="0"/>
          </a:p>
        </p:txBody>
      </p:sp>
      <p:sp>
        <p:nvSpPr>
          <p:cNvPr id="20" name="Text 17"/>
          <p:cNvSpPr/>
          <p:nvPr/>
        </p:nvSpPr>
        <p:spPr>
          <a:xfrm>
            <a:off x="4978400" y="3461792"/>
            <a:ext cx="65928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Never alone: an icon always has a visible label or a tooltip</a:t>
            </a:r>
            <a:endParaRPr lang="en-US" sz="1200" dirty="0"/>
          </a:p>
        </p:txBody>
      </p:sp>
      <p:pic>
        <p:nvPicPr>
          <p:cNvPr id="21" name="Image 1" descr="Search icon">    </p:cNvPr>
          <p:cNvPicPr>
            <a:picLocks noChangeAspect="1"/>
          </p:cNvPicPr>
          <p:nvPr/>
        </p:nvPicPr>
        <p:blipFill>
          <a:blip r:embed="rId2"/>
          <a:srcRect l="0" r="0" t="0" b="0"/>
          <a:stretch/>
        </p:blipFill>
        <p:spPr>
          <a:xfrm>
            <a:off x="837059" y="4424611"/>
            <a:ext cx="457200" cy="457200"/>
          </a:xfrm>
          <a:prstGeom prst="rect">
            <a:avLst/>
          </a:prstGeom>
        </p:spPr>
      </p:pic>
      <p:sp>
        <p:nvSpPr>
          <p:cNvPr id="22" name="Text 18"/>
          <p:cNvSpPr/>
          <p:nvPr/>
        </p:nvSpPr>
        <p:spPr>
          <a:xfrm>
            <a:off x="812800" y="4932611"/>
            <a:ext cx="6068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Search</a:t>
            </a:r>
            <a:endParaRPr lang="en-US" sz="1200" dirty="0"/>
          </a:p>
        </p:txBody>
      </p:sp>
      <p:pic>
        <p:nvPicPr>
          <p:cNvPr id="23" name="Image 2" descr="Alert bell icon">    </p:cNvPr>
          <p:cNvPicPr>
            <a:picLocks noChangeAspect="1"/>
          </p:cNvPicPr>
          <p:nvPr/>
        </p:nvPicPr>
        <p:blipFill>
          <a:blip r:embed="rId3"/>
          <a:srcRect l="0" r="0" t="0" b="0"/>
          <a:stretch/>
        </p:blipFill>
        <p:spPr>
          <a:xfrm>
            <a:off x="2490242" y="4424611"/>
            <a:ext cx="457200" cy="457200"/>
          </a:xfrm>
          <a:prstGeom prst="rect">
            <a:avLst/>
          </a:prstGeom>
        </p:spPr>
      </p:pic>
      <p:sp>
        <p:nvSpPr>
          <p:cNvPr id="24" name="Text 19"/>
          <p:cNvSpPr/>
          <p:nvPr/>
        </p:nvSpPr>
        <p:spPr>
          <a:xfrm>
            <a:off x="2514531" y="4932611"/>
            <a:ext cx="40862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159"/>
                </a:solidFill>
                <a:latin typeface="Inter" pitchFamily="34" charset="0"/>
                <a:ea typeface="Inter" pitchFamily="34" charset="-122"/>
                <a:cs typeface="Inter" pitchFamily="34" charset="-120"/>
              </a:rPr>
              <a:t>Alert</a:t>
            </a:r>
            <a:endParaRPr lang="en-US" sz="1200" dirty="0"/>
          </a:p>
        </p:txBody>
      </p:sp>
      <p:pic>
        <p:nvPicPr>
          <p:cNvPr id="25" name="Image 3" descr="Location pin icon">    </p:cNvPr>
          <p:cNvPicPr>
            <a:picLocks noChangeAspect="1"/>
          </p:cNvPicPr>
          <p:nvPr/>
        </p:nvPicPr>
        <p:blipFill>
          <a:blip r:embed="rId4"/>
          <a:srcRect l="0" r="0" t="0" b="0"/>
          <a:stretch/>
        </p:blipFill>
        <p:spPr>
          <a:xfrm>
            <a:off x="4200426" y="4424611"/>
            <a:ext cx="457200" cy="457200"/>
          </a:xfrm>
          <a:prstGeom prst="rect">
            <a:avLst/>
          </a:prstGeom>
        </p:spPr>
      </p:pic>
      <p:sp>
        <p:nvSpPr>
          <p:cNvPr id="26" name="Text 20"/>
          <p:cNvSpPr/>
          <p:nvPr/>
        </p:nvSpPr>
        <p:spPr>
          <a:xfrm>
            <a:off x="4119116" y="4932611"/>
            <a:ext cx="7438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Location</a:t>
            </a:r>
            <a:endParaRPr lang="en-US" sz="1200" dirty="0"/>
          </a:p>
        </p:txBody>
      </p:sp>
      <p:pic>
        <p:nvPicPr>
          <p:cNvPr id="27" name="Image 4" descr="Layers icon">    </p:cNvPr>
          <p:cNvPicPr>
            <a:picLocks noChangeAspect="1"/>
          </p:cNvPicPr>
          <p:nvPr/>
        </p:nvPicPr>
        <p:blipFill>
          <a:blip r:embed="rId5"/>
          <a:srcRect l="0" r="0" t="0" b="0"/>
          <a:stretch/>
        </p:blipFill>
        <p:spPr>
          <a:xfrm>
            <a:off x="5921524" y="4424611"/>
            <a:ext cx="457200" cy="457200"/>
          </a:xfrm>
          <a:prstGeom prst="rect">
            <a:avLst/>
          </a:prstGeom>
        </p:spPr>
      </p:pic>
      <p:sp>
        <p:nvSpPr>
          <p:cNvPr id="28" name="Text 21"/>
          <p:cNvSpPr/>
          <p:nvPr/>
        </p:nvSpPr>
        <p:spPr>
          <a:xfrm>
            <a:off x="5910709" y="4932611"/>
            <a:ext cx="5746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Layers</a:t>
            </a:r>
            <a:endParaRPr lang="en-US" sz="1200" dirty="0"/>
          </a:p>
        </p:txBody>
      </p:sp>
      <p:pic>
        <p:nvPicPr>
          <p:cNvPr id="29" name="Image 5" descr="Filter icon">    </p:cNvPr>
          <p:cNvPicPr>
            <a:picLocks noChangeAspect="1"/>
          </p:cNvPicPr>
          <p:nvPr/>
        </p:nvPicPr>
        <p:blipFill>
          <a:blip r:embed="rId6"/>
          <a:srcRect l="0" r="0" t="0" b="0"/>
          <a:stretch/>
        </p:blipFill>
        <p:spPr>
          <a:xfrm>
            <a:off x="7561262" y="4424611"/>
            <a:ext cx="457200" cy="457200"/>
          </a:xfrm>
          <a:prstGeom prst="rect">
            <a:avLst/>
          </a:prstGeom>
        </p:spPr>
      </p:pic>
      <p:sp>
        <p:nvSpPr>
          <p:cNvPr id="30" name="Text 22"/>
          <p:cNvSpPr/>
          <p:nvPr/>
        </p:nvSpPr>
        <p:spPr>
          <a:xfrm>
            <a:off x="7573471" y="4932611"/>
            <a:ext cx="43273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159"/>
                </a:solidFill>
                <a:latin typeface="Inter" pitchFamily="34" charset="0"/>
                <a:ea typeface="Inter" pitchFamily="34" charset="-122"/>
                <a:cs typeface="Inter" pitchFamily="34" charset="-120"/>
              </a:rPr>
              <a:t>Filter</a:t>
            </a:r>
            <a:endParaRPr lang="en-US" sz="1200" dirty="0"/>
          </a:p>
        </p:txBody>
      </p:sp>
      <p:pic>
        <p:nvPicPr>
          <p:cNvPr id="31" name="Image 6" descr="Target crosshair icon">    </p:cNvPr>
          <p:cNvPicPr>
            <a:picLocks noChangeAspect="1"/>
          </p:cNvPicPr>
          <p:nvPr/>
        </p:nvPicPr>
        <p:blipFill>
          <a:blip r:embed="rId7"/>
          <a:srcRect l="0" r="0" t="0" b="0"/>
          <a:stretch/>
        </p:blipFill>
        <p:spPr>
          <a:xfrm>
            <a:off x="9191476" y="4424611"/>
            <a:ext cx="457200" cy="457200"/>
          </a:xfrm>
          <a:prstGeom prst="rect">
            <a:avLst/>
          </a:prstGeom>
        </p:spPr>
      </p:pic>
      <p:sp>
        <p:nvSpPr>
          <p:cNvPr id="32" name="Text 23"/>
          <p:cNvSpPr/>
          <p:nvPr/>
        </p:nvSpPr>
        <p:spPr>
          <a:xfrm>
            <a:off x="9190186" y="4932611"/>
            <a:ext cx="5517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Target</a:t>
            </a:r>
            <a:endParaRPr lang="en-US" sz="1200" dirty="0"/>
          </a:p>
        </p:txBody>
      </p:sp>
      <p:pic>
        <p:nvPicPr>
          <p:cNvPr id="33" name="Image 7" descr="Shield check icon">    </p:cNvPr>
          <p:cNvPicPr>
            <a:picLocks noChangeAspect="1"/>
          </p:cNvPicPr>
          <p:nvPr/>
        </p:nvPicPr>
        <p:blipFill>
          <a:blip r:embed="rId8"/>
          <a:srcRect l="0" r="0" t="0" b="0"/>
          <a:stretch/>
        </p:blipFill>
        <p:spPr>
          <a:xfrm>
            <a:off x="10871845" y="4424611"/>
            <a:ext cx="457200" cy="457200"/>
          </a:xfrm>
          <a:prstGeom prst="rect">
            <a:avLst/>
          </a:prstGeom>
        </p:spPr>
      </p:pic>
      <p:sp>
        <p:nvSpPr>
          <p:cNvPr id="34" name="Text 24"/>
          <p:cNvSpPr/>
          <p:nvPr/>
        </p:nvSpPr>
        <p:spPr>
          <a:xfrm>
            <a:off x="10821690" y="4932611"/>
            <a:ext cx="6690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Verified</a:t>
            </a:r>
            <a:endParaRPr lang="en-US" sz="1200" dirty="0"/>
          </a:p>
        </p:txBody>
      </p:sp>
      <p:sp>
        <p:nvSpPr>
          <p:cNvPr id="35"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36"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03 · FOUNDATIONS · SPACE AND LAYOUT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A 4 px rhythm, a 12-column grid, two densities.</a:t>
            </a:r>
            <a:endParaRPr lang="en-US" sz="3600" dirty="0"/>
          </a:p>
        </p:txBody>
      </p:sp>
      <p:sp>
        <p:nvSpPr>
          <p:cNvPr id="4" name="Shape 2"/>
          <p:cNvSpPr/>
          <p:nvPr/>
        </p:nvSpPr>
        <p:spPr>
          <a:xfrm>
            <a:off x="812800" y="1941761"/>
            <a:ext cx="3937000" cy="0"/>
          </a:xfrm>
          <a:prstGeom prst="line">
            <a:avLst/>
          </a:prstGeom>
          <a:noFill/>
          <a:ln w="12700">
            <a:solidFill>
              <a:srgbClr val="15181C"/>
            </a:solidFill>
            <a:prstDash val="solid"/>
          </a:ln>
        </p:spPr>
      </p:sp>
      <p:sp>
        <p:nvSpPr>
          <p:cNvPr id="5" name="Text 3"/>
          <p:cNvSpPr/>
          <p:nvPr/>
        </p:nvSpPr>
        <p:spPr>
          <a:xfrm>
            <a:off x="812800" y="199891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space.1</a:t>
            </a:r>
            <a:endParaRPr lang="en-US" sz="1200" dirty="0"/>
          </a:p>
        </p:txBody>
      </p:sp>
      <p:sp>
        <p:nvSpPr>
          <p:cNvPr id="6" name="Text 4"/>
          <p:cNvSpPr/>
          <p:nvPr/>
        </p:nvSpPr>
        <p:spPr>
          <a:xfrm>
            <a:off x="1981200" y="199891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4</a:t>
            </a:r>
            <a:endParaRPr lang="en-US" sz="1200" dirty="0"/>
          </a:p>
        </p:txBody>
      </p:sp>
      <p:sp>
        <p:nvSpPr>
          <p:cNvPr id="7" name="Shape 5"/>
          <p:cNvSpPr/>
          <p:nvPr/>
        </p:nvSpPr>
        <p:spPr>
          <a:xfrm>
            <a:off x="2514600" y="2029371"/>
            <a:ext cx="127000" cy="152400"/>
          </a:xfrm>
          <a:prstGeom prst="rect">
            <a:avLst/>
          </a:prstGeom>
          <a:solidFill>
            <a:srgbClr val="7A5C30"/>
          </a:solidFill>
          <a:ln/>
        </p:spPr>
      </p:sp>
      <p:sp>
        <p:nvSpPr>
          <p:cNvPr id="8" name="Shape 6"/>
          <p:cNvSpPr/>
          <p:nvPr/>
        </p:nvSpPr>
        <p:spPr>
          <a:xfrm>
            <a:off x="812800" y="2266206"/>
            <a:ext cx="3937000" cy="0"/>
          </a:xfrm>
          <a:prstGeom prst="line">
            <a:avLst/>
          </a:prstGeom>
          <a:noFill/>
          <a:ln w="6350">
            <a:solidFill>
              <a:srgbClr val="C9C5BA"/>
            </a:solidFill>
            <a:prstDash val="solid"/>
          </a:ln>
        </p:spPr>
      </p:sp>
      <p:sp>
        <p:nvSpPr>
          <p:cNvPr id="9" name="Text 7"/>
          <p:cNvSpPr/>
          <p:nvPr/>
        </p:nvSpPr>
        <p:spPr>
          <a:xfrm>
            <a:off x="812800" y="232018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space.2</a:t>
            </a:r>
            <a:endParaRPr lang="en-US" sz="1200" dirty="0"/>
          </a:p>
        </p:txBody>
      </p:sp>
      <p:sp>
        <p:nvSpPr>
          <p:cNvPr id="10" name="Text 8"/>
          <p:cNvSpPr/>
          <p:nvPr/>
        </p:nvSpPr>
        <p:spPr>
          <a:xfrm>
            <a:off x="1981200" y="232018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8</a:t>
            </a:r>
            <a:endParaRPr lang="en-US" sz="1200" dirty="0"/>
          </a:p>
        </p:txBody>
      </p:sp>
      <p:sp>
        <p:nvSpPr>
          <p:cNvPr id="11" name="Shape 9"/>
          <p:cNvSpPr/>
          <p:nvPr/>
        </p:nvSpPr>
        <p:spPr>
          <a:xfrm>
            <a:off x="2514600" y="2350641"/>
            <a:ext cx="254000" cy="152400"/>
          </a:xfrm>
          <a:prstGeom prst="rect">
            <a:avLst/>
          </a:prstGeom>
          <a:solidFill>
            <a:srgbClr val="7A5C30"/>
          </a:solidFill>
          <a:ln/>
        </p:spPr>
      </p:sp>
      <p:sp>
        <p:nvSpPr>
          <p:cNvPr id="12" name="Shape 10"/>
          <p:cNvSpPr/>
          <p:nvPr/>
        </p:nvSpPr>
        <p:spPr>
          <a:xfrm>
            <a:off x="812800" y="2587476"/>
            <a:ext cx="3937000" cy="0"/>
          </a:xfrm>
          <a:prstGeom prst="line">
            <a:avLst/>
          </a:prstGeom>
          <a:noFill/>
          <a:ln w="6350">
            <a:solidFill>
              <a:srgbClr val="C9C5BA"/>
            </a:solidFill>
            <a:prstDash val="solid"/>
          </a:ln>
        </p:spPr>
      </p:sp>
      <p:sp>
        <p:nvSpPr>
          <p:cNvPr id="13" name="Text 11"/>
          <p:cNvSpPr/>
          <p:nvPr/>
        </p:nvSpPr>
        <p:spPr>
          <a:xfrm>
            <a:off x="812800" y="264145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space.3</a:t>
            </a:r>
            <a:endParaRPr lang="en-US" sz="1200" dirty="0"/>
          </a:p>
        </p:txBody>
      </p:sp>
      <p:sp>
        <p:nvSpPr>
          <p:cNvPr id="14" name="Text 12"/>
          <p:cNvSpPr/>
          <p:nvPr/>
        </p:nvSpPr>
        <p:spPr>
          <a:xfrm>
            <a:off x="1981200" y="264145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12</a:t>
            </a:r>
            <a:endParaRPr lang="en-US" sz="1200" dirty="0"/>
          </a:p>
        </p:txBody>
      </p:sp>
      <p:sp>
        <p:nvSpPr>
          <p:cNvPr id="15" name="Shape 13"/>
          <p:cNvSpPr/>
          <p:nvPr/>
        </p:nvSpPr>
        <p:spPr>
          <a:xfrm>
            <a:off x="2514600" y="2671911"/>
            <a:ext cx="381000" cy="152400"/>
          </a:xfrm>
          <a:prstGeom prst="rect">
            <a:avLst/>
          </a:prstGeom>
          <a:solidFill>
            <a:srgbClr val="7A5C30"/>
          </a:solidFill>
          <a:ln/>
        </p:spPr>
      </p:sp>
      <p:sp>
        <p:nvSpPr>
          <p:cNvPr id="16" name="Shape 14"/>
          <p:cNvSpPr/>
          <p:nvPr/>
        </p:nvSpPr>
        <p:spPr>
          <a:xfrm>
            <a:off x="812800" y="2908746"/>
            <a:ext cx="3937000" cy="0"/>
          </a:xfrm>
          <a:prstGeom prst="line">
            <a:avLst/>
          </a:prstGeom>
          <a:noFill/>
          <a:ln w="6350">
            <a:solidFill>
              <a:srgbClr val="C9C5BA"/>
            </a:solidFill>
            <a:prstDash val="solid"/>
          </a:ln>
        </p:spPr>
      </p:sp>
      <p:sp>
        <p:nvSpPr>
          <p:cNvPr id="17" name="Text 15"/>
          <p:cNvSpPr/>
          <p:nvPr/>
        </p:nvSpPr>
        <p:spPr>
          <a:xfrm>
            <a:off x="812800" y="296272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space.4</a:t>
            </a:r>
            <a:endParaRPr lang="en-US" sz="1200" dirty="0"/>
          </a:p>
        </p:txBody>
      </p:sp>
      <p:sp>
        <p:nvSpPr>
          <p:cNvPr id="18" name="Text 16"/>
          <p:cNvSpPr/>
          <p:nvPr/>
        </p:nvSpPr>
        <p:spPr>
          <a:xfrm>
            <a:off x="1981200" y="2962721"/>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16</a:t>
            </a:r>
            <a:endParaRPr lang="en-US" sz="1200" dirty="0"/>
          </a:p>
        </p:txBody>
      </p:sp>
      <p:sp>
        <p:nvSpPr>
          <p:cNvPr id="19" name="Shape 17"/>
          <p:cNvSpPr/>
          <p:nvPr/>
        </p:nvSpPr>
        <p:spPr>
          <a:xfrm>
            <a:off x="2514600" y="2993182"/>
            <a:ext cx="508000" cy="152400"/>
          </a:xfrm>
          <a:prstGeom prst="rect">
            <a:avLst/>
          </a:prstGeom>
          <a:solidFill>
            <a:srgbClr val="7A5C30"/>
          </a:solidFill>
          <a:ln/>
        </p:spPr>
      </p:sp>
      <p:sp>
        <p:nvSpPr>
          <p:cNvPr id="20" name="Shape 18"/>
          <p:cNvSpPr/>
          <p:nvPr/>
        </p:nvSpPr>
        <p:spPr>
          <a:xfrm>
            <a:off x="812800" y="3230017"/>
            <a:ext cx="3937000" cy="0"/>
          </a:xfrm>
          <a:prstGeom prst="line">
            <a:avLst/>
          </a:prstGeom>
          <a:noFill/>
          <a:ln w="6350">
            <a:solidFill>
              <a:srgbClr val="C9C5BA"/>
            </a:solidFill>
            <a:prstDash val="solid"/>
          </a:ln>
        </p:spPr>
      </p:sp>
      <p:sp>
        <p:nvSpPr>
          <p:cNvPr id="21" name="Text 19"/>
          <p:cNvSpPr/>
          <p:nvPr/>
        </p:nvSpPr>
        <p:spPr>
          <a:xfrm>
            <a:off x="812800" y="3283992"/>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space.6</a:t>
            </a:r>
            <a:endParaRPr lang="en-US" sz="1200" dirty="0"/>
          </a:p>
        </p:txBody>
      </p:sp>
      <p:sp>
        <p:nvSpPr>
          <p:cNvPr id="22" name="Text 20"/>
          <p:cNvSpPr/>
          <p:nvPr/>
        </p:nvSpPr>
        <p:spPr>
          <a:xfrm>
            <a:off x="1981200" y="328399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24</a:t>
            </a:r>
            <a:endParaRPr lang="en-US" sz="1200" dirty="0"/>
          </a:p>
        </p:txBody>
      </p:sp>
      <p:sp>
        <p:nvSpPr>
          <p:cNvPr id="23" name="Shape 21"/>
          <p:cNvSpPr/>
          <p:nvPr/>
        </p:nvSpPr>
        <p:spPr>
          <a:xfrm>
            <a:off x="2514600" y="3314452"/>
            <a:ext cx="762000" cy="152400"/>
          </a:xfrm>
          <a:prstGeom prst="rect">
            <a:avLst/>
          </a:prstGeom>
          <a:solidFill>
            <a:srgbClr val="7A5C30"/>
          </a:solidFill>
          <a:ln/>
        </p:spPr>
      </p:sp>
      <p:sp>
        <p:nvSpPr>
          <p:cNvPr id="24" name="Shape 22"/>
          <p:cNvSpPr/>
          <p:nvPr/>
        </p:nvSpPr>
        <p:spPr>
          <a:xfrm>
            <a:off x="812800" y="3551287"/>
            <a:ext cx="3937000" cy="0"/>
          </a:xfrm>
          <a:prstGeom prst="line">
            <a:avLst/>
          </a:prstGeom>
          <a:noFill/>
          <a:ln w="6350">
            <a:solidFill>
              <a:srgbClr val="C9C5BA"/>
            </a:solidFill>
            <a:prstDash val="solid"/>
          </a:ln>
        </p:spPr>
      </p:sp>
      <p:sp>
        <p:nvSpPr>
          <p:cNvPr id="25" name="Text 23"/>
          <p:cNvSpPr/>
          <p:nvPr/>
        </p:nvSpPr>
        <p:spPr>
          <a:xfrm>
            <a:off x="812800" y="3605262"/>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space.8</a:t>
            </a:r>
            <a:endParaRPr lang="en-US" sz="1200" dirty="0"/>
          </a:p>
        </p:txBody>
      </p:sp>
      <p:sp>
        <p:nvSpPr>
          <p:cNvPr id="26" name="Text 24"/>
          <p:cNvSpPr/>
          <p:nvPr/>
        </p:nvSpPr>
        <p:spPr>
          <a:xfrm>
            <a:off x="1981200" y="360526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32</a:t>
            </a:r>
            <a:endParaRPr lang="en-US" sz="1200" dirty="0"/>
          </a:p>
        </p:txBody>
      </p:sp>
      <p:sp>
        <p:nvSpPr>
          <p:cNvPr id="27" name="Shape 25"/>
          <p:cNvSpPr/>
          <p:nvPr/>
        </p:nvSpPr>
        <p:spPr>
          <a:xfrm>
            <a:off x="2514600" y="3635722"/>
            <a:ext cx="1016000" cy="152400"/>
          </a:xfrm>
          <a:prstGeom prst="rect">
            <a:avLst/>
          </a:prstGeom>
          <a:solidFill>
            <a:srgbClr val="7A5C30"/>
          </a:solidFill>
          <a:ln/>
        </p:spPr>
      </p:sp>
      <p:sp>
        <p:nvSpPr>
          <p:cNvPr id="28" name="Shape 26"/>
          <p:cNvSpPr/>
          <p:nvPr/>
        </p:nvSpPr>
        <p:spPr>
          <a:xfrm>
            <a:off x="812800" y="3872557"/>
            <a:ext cx="3937000" cy="0"/>
          </a:xfrm>
          <a:prstGeom prst="line">
            <a:avLst/>
          </a:prstGeom>
          <a:noFill/>
          <a:ln w="6350">
            <a:solidFill>
              <a:srgbClr val="C9C5BA"/>
            </a:solidFill>
            <a:prstDash val="solid"/>
          </a:ln>
        </p:spPr>
      </p:sp>
      <p:sp>
        <p:nvSpPr>
          <p:cNvPr id="29" name="Text 27"/>
          <p:cNvSpPr/>
          <p:nvPr/>
        </p:nvSpPr>
        <p:spPr>
          <a:xfrm>
            <a:off x="812800" y="3926532"/>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space.12</a:t>
            </a:r>
            <a:endParaRPr lang="en-US" sz="1200" dirty="0"/>
          </a:p>
        </p:txBody>
      </p:sp>
      <p:sp>
        <p:nvSpPr>
          <p:cNvPr id="30" name="Text 28"/>
          <p:cNvSpPr/>
          <p:nvPr/>
        </p:nvSpPr>
        <p:spPr>
          <a:xfrm>
            <a:off x="1981200" y="392653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48</a:t>
            </a:r>
            <a:endParaRPr lang="en-US" sz="1200" dirty="0"/>
          </a:p>
        </p:txBody>
      </p:sp>
      <p:sp>
        <p:nvSpPr>
          <p:cNvPr id="31" name="Shape 29"/>
          <p:cNvSpPr/>
          <p:nvPr/>
        </p:nvSpPr>
        <p:spPr>
          <a:xfrm>
            <a:off x="2514600" y="3956993"/>
            <a:ext cx="1524000" cy="152400"/>
          </a:xfrm>
          <a:prstGeom prst="rect">
            <a:avLst/>
          </a:prstGeom>
          <a:solidFill>
            <a:srgbClr val="7A5C30"/>
          </a:solidFill>
          <a:ln/>
        </p:spPr>
      </p:sp>
      <p:sp>
        <p:nvSpPr>
          <p:cNvPr id="32" name="Shape 30"/>
          <p:cNvSpPr/>
          <p:nvPr/>
        </p:nvSpPr>
        <p:spPr>
          <a:xfrm>
            <a:off x="812800" y="4193828"/>
            <a:ext cx="3937000" cy="0"/>
          </a:xfrm>
          <a:prstGeom prst="line">
            <a:avLst/>
          </a:prstGeom>
          <a:noFill/>
          <a:ln w="6350">
            <a:solidFill>
              <a:srgbClr val="C9C5BA"/>
            </a:solidFill>
            <a:prstDash val="solid"/>
          </a:ln>
        </p:spPr>
      </p:sp>
      <p:sp>
        <p:nvSpPr>
          <p:cNvPr id="33" name="Shape 31"/>
          <p:cNvSpPr/>
          <p:nvPr/>
        </p:nvSpPr>
        <p:spPr>
          <a:xfrm>
            <a:off x="812800" y="4515098"/>
            <a:ext cx="3937000" cy="0"/>
          </a:xfrm>
          <a:prstGeom prst="line">
            <a:avLst/>
          </a:prstGeom>
          <a:noFill/>
          <a:ln w="6350">
            <a:solidFill>
              <a:srgbClr val="C9C5BA"/>
            </a:solidFill>
            <a:prstDash val="solid"/>
          </a:ln>
        </p:spPr>
      </p:sp>
      <p:sp>
        <p:nvSpPr>
          <p:cNvPr id="34" name="Text 32"/>
          <p:cNvSpPr/>
          <p:nvPr/>
        </p:nvSpPr>
        <p:spPr>
          <a:xfrm>
            <a:off x="812800" y="4247803"/>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space.16</a:t>
            </a:r>
            <a:endParaRPr lang="en-US" sz="1200" dirty="0"/>
          </a:p>
        </p:txBody>
      </p:sp>
      <p:sp>
        <p:nvSpPr>
          <p:cNvPr id="35" name="Text 33"/>
          <p:cNvSpPr/>
          <p:nvPr/>
        </p:nvSpPr>
        <p:spPr>
          <a:xfrm>
            <a:off x="1981200" y="4247803"/>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64</a:t>
            </a:r>
            <a:endParaRPr lang="en-US" sz="1200" dirty="0"/>
          </a:p>
        </p:txBody>
      </p:sp>
      <p:sp>
        <p:nvSpPr>
          <p:cNvPr id="36" name="Shape 34"/>
          <p:cNvSpPr/>
          <p:nvPr/>
        </p:nvSpPr>
        <p:spPr>
          <a:xfrm>
            <a:off x="2514600" y="4278263"/>
            <a:ext cx="2032000" cy="152400"/>
          </a:xfrm>
          <a:prstGeom prst="rect">
            <a:avLst/>
          </a:prstGeom>
          <a:solidFill>
            <a:srgbClr val="7A5C30"/>
          </a:solidFill>
          <a:ln/>
        </p:spPr>
      </p:sp>
      <p:sp>
        <p:nvSpPr>
          <p:cNvPr id="37" name="Shape 35"/>
          <p:cNvSpPr/>
          <p:nvPr/>
        </p:nvSpPr>
        <p:spPr>
          <a:xfrm>
            <a:off x="5260975" y="1938586"/>
            <a:ext cx="6115050" cy="819150"/>
          </a:xfrm>
          <a:prstGeom prst="rect">
            <a:avLst/>
          </a:prstGeom>
          <a:solidFill>
            <a:srgbClr val="FBF9F4"/>
          </a:solidFill>
          <a:ln w="6350">
            <a:solidFill>
              <a:srgbClr val="DCDAD3"/>
            </a:solidFill>
            <a:prstDash val="solid"/>
          </a:ln>
        </p:spPr>
      </p:sp>
      <p:sp>
        <p:nvSpPr>
          <p:cNvPr id="38" name="Shape 36"/>
          <p:cNvSpPr/>
          <p:nvPr/>
        </p:nvSpPr>
        <p:spPr>
          <a:xfrm>
            <a:off x="5365750" y="2043361"/>
            <a:ext cx="422275" cy="609600"/>
          </a:xfrm>
          <a:prstGeom prst="rect">
            <a:avLst/>
          </a:prstGeom>
          <a:solidFill>
            <a:srgbClr val="E6D9C3"/>
          </a:solidFill>
          <a:ln/>
        </p:spPr>
      </p:sp>
      <p:sp>
        <p:nvSpPr>
          <p:cNvPr id="39" name="Shape 37"/>
          <p:cNvSpPr/>
          <p:nvPr/>
        </p:nvSpPr>
        <p:spPr>
          <a:xfrm>
            <a:off x="5864225" y="2043361"/>
            <a:ext cx="422275" cy="609600"/>
          </a:xfrm>
          <a:prstGeom prst="rect">
            <a:avLst/>
          </a:prstGeom>
          <a:solidFill>
            <a:srgbClr val="E6D9C3"/>
          </a:solidFill>
          <a:ln/>
        </p:spPr>
      </p:sp>
      <p:sp>
        <p:nvSpPr>
          <p:cNvPr id="40" name="Shape 38"/>
          <p:cNvSpPr/>
          <p:nvPr/>
        </p:nvSpPr>
        <p:spPr>
          <a:xfrm>
            <a:off x="6362700" y="2043361"/>
            <a:ext cx="422275" cy="609600"/>
          </a:xfrm>
          <a:prstGeom prst="rect">
            <a:avLst/>
          </a:prstGeom>
          <a:solidFill>
            <a:srgbClr val="E6D9C3"/>
          </a:solidFill>
          <a:ln/>
        </p:spPr>
      </p:sp>
      <p:sp>
        <p:nvSpPr>
          <p:cNvPr id="41" name="Shape 39"/>
          <p:cNvSpPr/>
          <p:nvPr/>
        </p:nvSpPr>
        <p:spPr>
          <a:xfrm>
            <a:off x="6861175" y="2043361"/>
            <a:ext cx="422275" cy="609600"/>
          </a:xfrm>
          <a:prstGeom prst="rect">
            <a:avLst/>
          </a:prstGeom>
          <a:solidFill>
            <a:srgbClr val="E6D9C3"/>
          </a:solidFill>
          <a:ln/>
        </p:spPr>
      </p:sp>
      <p:sp>
        <p:nvSpPr>
          <p:cNvPr id="42" name="Shape 40"/>
          <p:cNvSpPr/>
          <p:nvPr/>
        </p:nvSpPr>
        <p:spPr>
          <a:xfrm>
            <a:off x="7359650" y="2043361"/>
            <a:ext cx="422275" cy="609600"/>
          </a:xfrm>
          <a:prstGeom prst="rect">
            <a:avLst/>
          </a:prstGeom>
          <a:solidFill>
            <a:srgbClr val="E6D9C3"/>
          </a:solidFill>
          <a:ln/>
        </p:spPr>
      </p:sp>
      <p:sp>
        <p:nvSpPr>
          <p:cNvPr id="43" name="Shape 41"/>
          <p:cNvSpPr/>
          <p:nvPr/>
        </p:nvSpPr>
        <p:spPr>
          <a:xfrm>
            <a:off x="7858125" y="2043361"/>
            <a:ext cx="422275" cy="609600"/>
          </a:xfrm>
          <a:prstGeom prst="rect">
            <a:avLst/>
          </a:prstGeom>
          <a:solidFill>
            <a:srgbClr val="E6D9C3"/>
          </a:solidFill>
          <a:ln/>
        </p:spPr>
      </p:sp>
      <p:sp>
        <p:nvSpPr>
          <p:cNvPr id="44" name="Shape 42"/>
          <p:cNvSpPr/>
          <p:nvPr/>
        </p:nvSpPr>
        <p:spPr>
          <a:xfrm>
            <a:off x="8356600" y="2043361"/>
            <a:ext cx="422275" cy="609600"/>
          </a:xfrm>
          <a:prstGeom prst="rect">
            <a:avLst/>
          </a:prstGeom>
          <a:solidFill>
            <a:srgbClr val="E6D9C3"/>
          </a:solidFill>
          <a:ln/>
        </p:spPr>
      </p:sp>
      <p:sp>
        <p:nvSpPr>
          <p:cNvPr id="45" name="Shape 43"/>
          <p:cNvSpPr/>
          <p:nvPr/>
        </p:nvSpPr>
        <p:spPr>
          <a:xfrm>
            <a:off x="8855075" y="2043361"/>
            <a:ext cx="422275" cy="609600"/>
          </a:xfrm>
          <a:prstGeom prst="rect">
            <a:avLst/>
          </a:prstGeom>
          <a:solidFill>
            <a:srgbClr val="E6D9C3"/>
          </a:solidFill>
          <a:ln/>
        </p:spPr>
      </p:sp>
      <p:sp>
        <p:nvSpPr>
          <p:cNvPr id="46" name="Shape 44"/>
          <p:cNvSpPr/>
          <p:nvPr/>
        </p:nvSpPr>
        <p:spPr>
          <a:xfrm>
            <a:off x="9353550" y="2043361"/>
            <a:ext cx="422275" cy="609600"/>
          </a:xfrm>
          <a:prstGeom prst="rect">
            <a:avLst/>
          </a:prstGeom>
          <a:solidFill>
            <a:srgbClr val="E6D9C3"/>
          </a:solidFill>
          <a:ln/>
        </p:spPr>
      </p:sp>
      <p:sp>
        <p:nvSpPr>
          <p:cNvPr id="47" name="Shape 45"/>
          <p:cNvSpPr/>
          <p:nvPr/>
        </p:nvSpPr>
        <p:spPr>
          <a:xfrm>
            <a:off x="9852025" y="2043361"/>
            <a:ext cx="422275" cy="609600"/>
          </a:xfrm>
          <a:prstGeom prst="rect">
            <a:avLst/>
          </a:prstGeom>
          <a:solidFill>
            <a:srgbClr val="E6D9C3"/>
          </a:solidFill>
          <a:ln/>
        </p:spPr>
      </p:sp>
      <p:sp>
        <p:nvSpPr>
          <p:cNvPr id="48" name="Shape 46"/>
          <p:cNvSpPr/>
          <p:nvPr/>
        </p:nvSpPr>
        <p:spPr>
          <a:xfrm>
            <a:off x="10350500" y="2043361"/>
            <a:ext cx="422275" cy="609600"/>
          </a:xfrm>
          <a:prstGeom prst="rect">
            <a:avLst/>
          </a:prstGeom>
          <a:solidFill>
            <a:srgbClr val="E6D9C3"/>
          </a:solidFill>
          <a:ln/>
        </p:spPr>
      </p:sp>
      <p:sp>
        <p:nvSpPr>
          <p:cNvPr id="49" name="Shape 47"/>
          <p:cNvSpPr/>
          <p:nvPr/>
        </p:nvSpPr>
        <p:spPr>
          <a:xfrm>
            <a:off x="10848975" y="2043361"/>
            <a:ext cx="422275" cy="609600"/>
          </a:xfrm>
          <a:prstGeom prst="rect">
            <a:avLst/>
          </a:prstGeom>
          <a:solidFill>
            <a:srgbClr val="E6D9C3"/>
          </a:solidFill>
          <a:ln/>
        </p:spPr>
      </p:sp>
      <p:sp>
        <p:nvSpPr>
          <p:cNvPr id="50" name="Text 48"/>
          <p:cNvSpPr/>
          <p:nvPr/>
        </p:nvSpPr>
        <p:spPr>
          <a:xfrm>
            <a:off x="5257800" y="2837111"/>
            <a:ext cx="6305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JetBrains Mono" pitchFamily="49" charset="0"/>
                <a:ea typeface="JetBrains Mono" pitchFamily="49" charset="-122"/>
                <a:cs typeface="JetBrains Mono" pitchFamily="49" charset="-120"/>
              </a:rPr>
              <a:t>12 columns · 24 px gutters · 1440 px max</a:t>
            </a:r>
            <a:endParaRPr lang="en-US" sz="1200" dirty="0"/>
          </a:p>
        </p:txBody>
      </p:sp>
      <p:sp>
        <p:nvSpPr>
          <p:cNvPr id="51" name="Shape 49"/>
          <p:cNvSpPr/>
          <p:nvPr/>
        </p:nvSpPr>
        <p:spPr>
          <a:xfrm>
            <a:off x="5260975" y="3256806"/>
            <a:ext cx="2978150" cy="2048421"/>
          </a:xfrm>
          <a:prstGeom prst="roundRect">
            <a:avLst>
              <a:gd name="adj" fmla="val 3565"/>
            </a:avLst>
          </a:prstGeom>
          <a:solidFill>
            <a:srgbClr val="FBF9F4"/>
          </a:solidFill>
          <a:ln w="6350">
            <a:solidFill>
              <a:srgbClr val="DCDAD3"/>
            </a:solidFill>
            <a:prstDash val="solid"/>
          </a:ln>
        </p:spPr>
      </p:sp>
      <p:sp>
        <p:nvSpPr>
          <p:cNvPr id="52" name="Text 50"/>
          <p:cNvSpPr/>
          <p:nvPr/>
        </p:nvSpPr>
        <p:spPr>
          <a:xfrm>
            <a:off x="5416550" y="3412381"/>
            <a:ext cx="27470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Comfortable</a:t>
            </a:r>
            <a:endParaRPr lang="en-US" sz="1600" dirty="0"/>
          </a:p>
        </p:txBody>
      </p:sp>
      <p:sp>
        <p:nvSpPr>
          <p:cNvPr id="53" name="Shape 51"/>
          <p:cNvSpPr/>
          <p:nvPr/>
        </p:nvSpPr>
        <p:spPr>
          <a:xfrm>
            <a:off x="5416550" y="4034036"/>
            <a:ext cx="2667000" cy="0"/>
          </a:xfrm>
          <a:prstGeom prst="line">
            <a:avLst/>
          </a:prstGeom>
          <a:noFill/>
          <a:ln w="6350">
            <a:solidFill>
              <a:srgbClr val="B9BDC1"/>
            </a:solidFill>
            <a:prstDash val="solid"/>
          </a:ln>
        </p:spPr>
      </p:sp>
      <p:sp>
        <p:nvSpPr>
          <p:cNvPr id="54" name="Shape 52"/>
          <p:cNvSpPr/>
          <p:nvPr/>
        </p:nvSpPr>
        <p:spPr>
          <a:xfrm>
            <a:off x="5416550" y="4338836"/>
            <a:ext cx="2667000" cy="0"/>
          </a:xfrm>
          <a:prstGeom prst="line">
            <a:avLst/>
          </a:prstGeom>
          <a:noFill/>
          <a:ln w="6350">
            <a:solidFill>
              <a:srgbClr val="B9BDC1"/>
            </a:solidFill>
            <a:prstDash val="solid"/>
          </a:ln>
        </p:spPr>
      </p:sp>
      <p:sp>
        <p:nvSpPr>
          <p:cNvPr id="55" name="Shape 53"/>
          <p:cNvSpPr/>
          <p:nvPr/>
        </p:nvSpPr>
        <p:spPr>
          <a:xfrm>
            <a:off x="5416550" y="4643636"/>
            <a:ext cx="2667000" cy="0"/>
          </a:xfrm>
          <a:prstGeom prst="line">
            <a:avLst/>
          </a:prstGeom>
          <a:noFill/>
          <a:ln w="6350">
            <a:solidFill>
              <a:srgbClr val="B9BDC1"/>
            </a:solidFill>
            <a:prstDash val="solid"/>
          </a:ln>
        </p:spPr>
      </p:sp>
      <p:sp>
        <p:nvSpPr>
          <p:cNvPr id="56" name="Text 54"/>
          <p:cNvSpPr/>
          <p:nvPr/>
        </p:nvSpPr>
        <p:spPr>
          <a:xfrm>
            <a:off x="5416550" y="4723011"/>
            <a:ext cx="27470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48 px rows, 16 px body. Occasional users, touch.</a:t>
            </a:r>
            <a:endParaRPr lang="en-US" sz="1200" dirty="0"/>
          </a:p>
        </p:txBody>
      </p:sp>
      <p:sp>
        <p:nvSpPr>
          <p:cNvPr id="57" name="Shape 55"/>
          <p:cNvSpPr/>
          <p:nvPr/>
        </p:nvSpPr>
        <p:spPr>
          <a:xfrm>
            <a:off x="8397875" y="3256806"/>
            <a:ext cx="2978150" cy="2048421"/>
          </a:xfrm>
          <a:prstGeom prst="roundRect">
            <a:avLst>
              <a:gd name="adj" fmla="val 3565"/>
            </a:avLst>
          </a:prstGeom>
          <a:solidFill>
            <a:srgbClr val="FBF9F4"/>
          </a:solidFill>
          <a:ln w="6350">
            <a:solidFill>
              <a:srgbClr val="DCDAD3"/>
            </a:solidFill>
            <a:prstDash val="solid"/>
          </a:ln>
        </p:spPr>
      </p:sp>
      <p:sp>
        <p:nvSpPr>
          <p:cNvPr id="58" name="Text 56"/>
          <p:cNvSpPr/>
          <p:nvPr/>
        </p:nvSpPr>
        <p:spPr>
          <a:xfrm>
            <a:off x="8553450" y="3412381"/>
            <a:ext cx="27470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Compact</a:t>
            </a:r>
            <a:endParaRPr lang="en-US" sz="1600" dirty="0"/>
          </a:p>
        </p:txBody>
      </p:sp>
      <p:sp>
        <p:nvSpPr>
          <p:cNvPr id="59" name="Shape 57"/>
          <p:cNvSpPr/>
          <p:nvPr/>
        </p:nvSpPr>
        <p:spPr>
          <a:xfrm>
            <a:off x="8553450" y="3913386"/>
            <a:ext cx="2667000" cy="0"/>
          </a:xfrm>
          <a:prstGeom prst="line">
            <a:avLst/>
          </a:prstGeom>
          <a:noFill/>
          <a:ln w="6350">
            <a:solidFill>
              <a:srgbClr val="B9BDC1"/>
            </a:solidFill>
            <a:prstDash val="solid"/>
          </a:ln>
        </p:spPr>
      </p:sp>
      <p:sp>
        <p:nvSpPr>
          <p:cNvPr id="60" name="Shape 58"/>
          <p:cNvSpPr/>
          <p:nvPr/>
        </p:nvSpPr>
        <p:spPr>
          <a:xfrm>
            <a:off x="8553450" y="4097536"/>
            <a:ext cx="2667000" cy="0"/>
          </a:xfrm>
          <a:prstGeom prst="line">
            <a:avLst/>
          </a:prstGeom>
          <a:noFill/>
          <a:ln w="6350">
            <a:solidFill>
              <a:srgbClr val="B9BDC1"/>
            </a:solidFill>
            <a:prstDash val="solid"/>
          </a:ln>
        </p:spPr>
      </p:sp>
      <p:sp>
        <p:nvSpPr>
          <p:cNvPr id="61" name="Shape 59"/>
          <p:cNvSpPr/>
          <p:nvPr/>
        </p:nvSpPr>
        <p:spPr>
          <a:xfrm>
            <a:off x="8553450" y="4281686"/>
            <a:ext cx="2667000" cy="0"/>
          </a:xfrm>
          <a:prstGeom prst="line">
            <a:avLst/>
          </a:prstGeom>
          <a:noFill/>
          <a:ln w="6350">
            <a:solidFill>
              <a:srgbClr val="B9BDC1"/>
            </a:solidFill>
            <a:prstDash val="solid"/>
          </a:ln>
        </p:spPr>
      </p:sp>
      <p:sp>
        <p:nvSpPr>
          <p:cNvPr id="62" name="Shape 60"/>
          <p:cNvSpPr/>
          <p:nvPr/>
        </p:nvSpPr>
        <p:spPr>
          <a:xfrm>
            <a:off x="8553450" y="4465836"/>
            <a:ext cx="2667000" cy="0"/>
          </a:xfrm>
          <a:prstGeom prst="line">
            <a:avLst/>
          </a:prstGeom>
          <a:noFill/>
          <a:ln w="6350">
            <a:solidFill>
              <a:srgbClr val="B9BDC1"/>
            </a:solidFill>
            <a:prstDash val="solid"/>
          </a:ln>
        </p:spPr>
      </p:sp>
      <p:sp>
        <p:nvSpPr>
          <p:cNvPr id="63" name="Shape 61"/>
          <p:cNvSpPr/>
          <p:nvPr/>
        </p:nvSpPr>
        <p:spPr>
          <a:xfrm>
            <a:off x="8553450" y="4643636"/>
            <a:ext cx="2667000" cy="0"/>
          </a:xfrm>
          <a:prstGeom prst="line">
            <a:avLst/>
          </a:prstGeom>
          <a:noFill/>
          <a:ln w="6350">
            <a:solidFill>
              <a:srgbClr val="B9BDC1"/>
            </a:solidFill>
            <a:prstDash val="solid"/>
          </a:ln>
        </p:spPr>
      </p:sp>
      <p:sp>
        <p:nvSpPr>
          <p:cNvPr id="64" name="Text 62"/>
          <p:cNvSpPr/>
          <p:nvPr/>
        </p:nvSpPr>
        <p:spPr>
          <a:xfrm>
            <a:off x="8553450" y="4723011"/>
            <a:ext cx="27470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32 px rows, 14 px body. Analysts in dense data.</a:t>
            </a:r>
            <a:endParaRPr lang="en-US" sz="1200" dirty="0"/>
          </a:p>
        </p:txBody>
      </p:sp>
      <p:sp>
        <p:nvSpPr>
          <p:cNvPr id="65" name="Text 6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66" name="Text 6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03 · FOUNDATIONS · SHAPE, DEPTH, MOTION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Restraint, written down as tokens.</a:t>
            </a:r>
            <a:endParaRPr lang="en-US" sz="3600" dirty="0"/>
          </a:p>
        </p:txBody>
      </p:sp>
      <p:sp>
        <p:nvSpPr>
          <p:cNvPr id="4" name="Shape 2"/>
          <p:cNvSpPr/>
          <p:nvPr/>
        </p:nvSpPr>
        <p:spPr>
          <a:xfrm>
            <a:off x="812800" y="2261791"/>
            <a:ext cx="3318917" cy="0"/>
          </a:xfrm>
          <a:prstGeom prst="line">
            <a:avLst/>
          </a:prstGeom>
          <a:noFill/>
          <a:ln w="12700">
            <a:solidFill>
              <a:srgbClr val="15181C"/>
            </a:solidFill>
            <a:prstDash val="solid"/>
          </a:ln>
        </p:spPr>
      </p:sp>
      <p:sp>
        <p:nvSpPr>
          <p:cNvPr id="5" name="Text 3"/>
          <p:cNvSpPr/>
          <p:nvPr/>
        </p:nvSpPr>
        <p:spPr>
          <a:xfrm>
            <a:off x="812800" y="1935411"/>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Shape</a:t>
            </a:r>
            <a:endParaRPr lang="en-US" sz="1600" dirty="0"/>
          </a:p>
        </p:txBody>
      </p:sp>
      <p:sp>
        <p:nvSpPr>
          <p:cNvPr id="6" name="Shape 4"/>
          <p:cNvSpPr/>
          <p:nvPr/>
        </p:nvSpPr>
        <p:spPr>
          <a:xfrm>
            <a:off x="914400" y="2417961"/>
            <a:ext cx="406400" cy="406400"/>
          </a:xfrm>
          <a:prstGeom prst="rect">
            <a:avLst/>
          </a:prstGeom>
          <a:solidFill>
            <a:srgbClr val="C4A57A"/>
          </a:solidFill>
          <a:ln/>
        </p:spPr>
      </p:sp>
      <p:sp>
        <p:nvSpPr>
          <p:cNvPr id="7" name="Text 5"/>
          <p:cNvSpPr/>
          <p:nvPr/>
        </p:nvSpPr>
        <p:spPr>
          <a:xfrm>
            <a:off x="1574800" y="2395141"/>
            <a:ext cx="18233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radius.none · 0</a:t>
            </a:r>
            <a:endParaRPr lang="en-US" sz="1200" dirty="0"/>
          </a:p>
        </p:txBody>
      </p:sp>
      <p:sp>
        <p:nvSpPr>
          <p:cNvPr id="8" name="Text 6"/>
          <p:cNvSpPr/>
          <p:nvPr/>
        </p:nvSpPr>
        <p:spPr>
          <a:xfrm>
            <a:off x="1574800" y="2633861"/>
            <a:ext cx="21243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Tables, full-bleed panels</a:t>
            </a:r>
            <a:endParaRPr lang="en-US" sz="1200" dirty="0"/>
          </a:p>
        </p:txBody>
      </p:sp>
      <p:sp>
        <p:nvSpPr>
          <p:cNvPr id="9" name="Shape 7"/>
          <p:cNvSpPr/>
          <p:nvPr/>
        </p:nvSpPr>
        <p:spPr>
          <a:xfrm>
            <a:off x="914400" y="2997002"/>
            <a:ext cx="406400" cy="406400"/>
          </a:xfrm>
          <a:prstGeom prst="roundRect">
            <a:avLst>
              <a:gd name="adj" fmla="val 6250"/>
            </a:avLst>
          </a:prstGeom>
          <a:solidFill>
            <a:srgbClr val="C4A57A"/>
          </a:solidFill>
          <a:ln/>
        </p:spPr>
      </p:sp>
      <p:sp>
        <p:nvSpPr>
          <p:cNvPr id="10" name="Text 8"/>
          <p:cNvSpPr/>
          <p:nvPr/>
        </p:nvSpPr>
        <p:spPr>
          <a:xfrm>
            <a:off x="1574800" y="2974181"/>
            <a:ext cx="14264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radius.sm · 4</a:t>
            </a:r>
            <a:endParaRPr lang="en-US" sz="1200" dirty="0"/>
          </a:p>
        </p:txBody>
      </p:sp>
      <p:sp>
        <p:nvSpPr>
          <p:cNvPr id="11" name="Text 9"/>
          <p:cNvSpPr/>
          <p:nvPr/>
        </p:nvSpPr>
        <p:spPr>
          <a:xfrm>
            <a:off x="1574800" y="3212902"/>
            <a:ext cx="1239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Buttons, inputs</a:t>
            </a:r>
            <a:endParaRPr lang="en-US" sz="1200" dirty="0"/>
          </a:p>
        </p:txBody>
      </p:sp>
      <p:sp>
        <p:nvSpPr>
          <p:cNvPr id="12" name="Shape 10"/>
          <p:cNvSpPr/>
          <p:nvPr/>
        </p:nvSpPr>
        <p:spPr>
          <a:xfrm>
            <a:off x="914400" y="3576042"/>
            <a:ext cx="406400" cy="406400"/>
          </a:xfrm>
          <a:prstGeom prst="roundRect">
            <a:avLst>
              <a:gd name="adj" fmla="val 12500"/>
            </a:avLst>
          </a:prstGeom>
          <a:solidFill>
            <a:srgbClr val="C4A57A"/>
          </a:solidFill>
          <a:ln/>
        </p:spPr>
      </p:sp>
      <p:sp>
        <p:nvSpPr>
          <p:cNvPr id="13" name="Text 11"/>
          <p:cNvSpPr/>
          <p:nvPr/>
        </p:nvSpPr>
        <p:spPr>
          <a:xfrm>
            <a:off x="1574800" y="3553222"/>
            <a:ext cx="14264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radius.md · 8</a:t>
            </a:r>
            <a:endParaRPr lang="en-US" sz="1200" dirty="0"/>
          </a:p>
        </p:txBody>
      </p:sp>
      <p:sp>
        <p:nvSpPr>
          <p:cNvPr id="14" name="Text 12"/>
          <p:cNvSpPr/>
          <p:nvPr/>
        </p:nvSpPr>
        <p:spPr>
          <a:xfrm>
            <a:off x="1574800" y="3791942"/>
            <a:ext cx="1239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Cards, dialogs</a:t>
            </a:r>
            <a:endParaRPr lang="en-US" sz="1200" dirty="0"/>
          </a:p>
        </p:txBody>
      </p:sp>
      <p:sp>
        <p:nvSpPr>
          <p:cNvPr id="15" name="Shape 13"/>
          <p:cNvSpPr/>
          <p:nvPr/>
        </p:nvSpPr>
        <p:spPr>
          <a:xfrm>
            <a:off x="812800" y="4231283"/>
            <a:ext cx="609600" cy="254000"/>
          </a:xfrm>
          <a:prstGeom prst="roundRect">
            <a:avLst>
              <a:gd name="adj" fmla="val 50000"/>
            </a:avLst>
          </a:prstGeom>
          <a:solidFill>
            <a:srgbClr val="C4A57A"/>
          </a:solidFill>
          <a:ln/>
        </p:spPr>
      </p:sp>
      <p:sp>
        <p:nvSpPr>
          <p:cNvPr id="16" name="Text 14"/>
          <p:cNvSpPr/>
          <p:nvPr/>
        </p:nvSpPr>
        <p:spPr>
          <a:xfrm>
            <a:off x="1574800" y="4132263"/>
            <a:ext cx="1207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radius.pill</a:t>
            </a:r>
            <a:endParaRPr lang="en-US" sz="1200" dirty="0"/>
          </a:p>
        </p:txBody>
      </p:sp>
      <p:sp>
        <p:nvSpPr>
          <p:cNvPr id="17" name="Text 15"/>
          <p:cNvSpPr/>
          <p:nvPr/>
        </p:nvSpPr>
        <p:spPr>
          <a:xfrm>
            <a:off x="1574800" y="4370983"/>
            <a:ext cx="1056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Badges, tags</a:t>
            </a:r>
            <a:endParaRPr lang="en-US" sz="1200" dirty="0"/>
          </a:p>
        </p:txBody>
      </p:sp>
      <p:sp>
        <p:nvSpPr>
          <p:cNvPr id="18" name="Shape 16"/>
          <p:cNvSpPr/>
          <p:nvPr/>
        </p:nvSpPr>
        <p:spPr>
          <a:xfrm>
            <a:off x="4436517" y="2261791"/>
            <a:ext cx="3318966" cy="0"/>
          </a:xfrm>
          <a:prstGeom prst="line">
            <a:avLst/>
          </a:prstGeom>
          <a:noFill/>
          <a:ln w="12700">
            <a:solidFill>
              <a:srgbClr val="15181C"/>
            </a:solidFill>
            <a:prstDash val="solid"/>
          </a:ln>
        </p:spPr>
      </p:sp>
      <p:sp>
        <p:nvSpPr>
          <p:cNvPr id="19" name="Text 17"/>
          <p:cNvSpPr/>
          <p:nvPr/>
        </p:nvSpPr>
        <p:spPr>
          <a:xfrm>
            <a:off x="4436517" y="1935411"/>
            <a:ext cx="34185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Elevation</a:t>
            </a:r>
            <a:endParaRPr lang="en-US" sz="1600" dirty="0"/>
          </a:p>
        </p:txBody>
      </p:sp>
      <p:sp>
        <p:nvSpPr>
          <p:cNvPr id="20" name="Shape 18"/>
          <p:cNvSpPr/>
          <p:nvPr/>
        </p:nvSpPr>
        <p:spPr>
          <a:xfrm>
            <a:off x="4439692" y="2421136"/>
            <a:ext cx="755650" cy="400050"/>
          </a:xfrm>
          <a:prstGeom prst="roundRect">
            <a:avLst>
              <a:gd name="adj" fmla="val 11905"/>
            </a:avLst>
          </a:prstGeom>
          <a:solidFill>
            <a:srgbClr val="FBF9F4"/>
          </a:solidFill>
          <a:ln w="6350">
            <a:solidFill>
              <a:srgbClr val="DCDAD3"/>
            </a:solidFill>
            <a:prstDash val="solid"/>
          </a:ln>
        </p:spPr>
      </p:sp>
      <p:sp>
        <p:nvSpPr>
          <p:cNvPr id="21" name="Text 19"/>
          <p:cNvSpPr/>
          <p:nvPr/>
        </p:nvSpPr>
        <p:spPr>
          <a:xfrm>
            <a:off x="5350917" y="2395141"/>
            <a:ext cx="13071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elevation.0</a:t>
            </a:r>
            <a:endParaRPr lang="en-US" sz="1200" dirty="0"/>
          </a:p>
        </p:txBody>
      </p:sp>
      <p:sp>
        <p:nvSpPr>
          <p:cNvPr id="22" name="Text 20"/>
          <p:cNvSpPr/>
          <p:nvPr/>
        </p:nvSpPr>
        <p:spPr>
          <a:xfrm>
            <a:off x="5350917" y="2633861"/>
            <a:ext cx="15076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Flat page content</a:t>
            </a:r>
            <a:endParaRPr lang="en-US" sz="1200" dirty="0"/>
          </a:p>
        </p:txBody>
      </p:sp>
      <p:sp>
        <p:nvSpPr>
          <p:cNvPr id="23" name="Shape 21"/>
          <p:cNvSpPr/>
          <p:nvPr/>
        </p:nvSpPr>
        <p:spPr>
          <a:xfrm>
            <a:off x="4436517" y="2997002"/>
            <a:ext cx="762000" cy="406400"/>
          </a:xfrm>
          <a:prstGeom prst="roundRect">
            <a:avLst>
              <a:gd name="adj" fmla="val 12500"/>
            </a:avLst>
          </a:prstGeom>
          <a:solidFill>
            <a:srgbClr val="FBF9F4"/>
          </a:solidFill>
          <a:ln/>
          <a:effectLst>
            <a:outerShdw sx="100000" sy="100000" kx="0" ky="0" algn="bl" rotWithShape="0" blurRad="19050" dist="6350" dir="5400000">
              <a:srgbClr val="15181C">
                <a:alpha val="18000"/>
              </a:srgbClr>
            </a:outerShdw>
          </a:effectLst>
        </p:spPr>
      </p:sp>
      <p:sp>
        <p:nvSpPr>
          <p:cNvPr id="24" name="Text 22"/>
          <p:cNvSpPr/>
          <p:nvPr/>
        </p:nvSpPr>
        <p:spPr>
          <a:xfrm>
            <a:off x="5350917" y="2974181"/>
            <a:ext cx="1207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elevation.1</a:t>
            </a:r>
            <a:endParaRPr lang="en-US" sz="1200" dirty="0"/>
          </a:p>
        </p:txBody>
      </p:sp>
      <p:sp>
        <p:nvSpPr>
          <p:cNvPr id="25" name="Text 23"/>
          <p:cNvSpPr/>
          <p:nvPr/>
        </p:nvSpPr>
        <p:spPr>
          <a:xfrm>
            <a:off x="5350917" y="3212902"/>
            <a:ext cx="1056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Raised cards</a:t>
            </a:r>
            <a:endParaRPr lang="en-US" sz="1200" dirty="0"/>
          </a:p>
        </p:txBody>
      </p:sp>
      <p:sp>
        <p:nvSpPr>
          <p:cNvPr id="26" name="Shape 24"/>
          <p:cNvSpPr/>
          <p:nvPr/>
        </p:nvSpPr>
        <p:spPr>
          <a:xfrm>
            <a:off x="4436517" y="3576042"/>
            <a:ext cx="762000" cy="406400"/>
          </a:xfrm>
          <a:prstGeom prst="roundRect">
            <a:avLst>
              <a:gd name="adj" fmla="val 12500"/>
            </a:avLst>
          </a:prstGeom>
          <a:solidFill>
            <a:srgbClr val="FBF9F4"/>
          </a:solidFill>
          <a:ln/>
          <a:effectLst>
            <a:outerShdw sx="100000" sy="100000" kx="0" ky="0" algn="bl" rotWithShape="0" blurRad="101600" dist="38100" dir="5400000">
              <a:srgbClr val="15181C">
                <a:alpha val="18000"/>
              </a:srgbClr>
            </a:outerShdw>
          </a:effectLst>
        </p:spPr>
      </p:sp>
      <p:sp>
        <p:nvSpPr>
          <p:cNvPr id="27" name="Text 25"/>
          <p:cNvSpPr/>
          <p:nvPr/>
        </p:nvSpPr>
        <p:spPr>
          <a:xfrm>
            <a:off x="5350917" y="3553222"/>
            <a:ext cx="13004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elevation.2</a:t>
            </a:r>
            <a:endParaRPr lang="en-US" sz="1200" dirty="0"/>
          </a:p>
        </p:txBody>
      </p:sp>
      <p:sp>
        <p:nvSpPr>
          <p:cNvPr id="28" name="Text 26"/>
          <p:cNvSpPr/>
          <p:nvPr/>
        </p:nvSpPr>
        <p:spPr>
          <a:xfrm>
            <a:off x="5350917" y="3791942"/>
            <a:ext cx="14995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Menus, popovers</a:t>
            </a:r>
            <a:endParaRPr lang="en-US" sz="1200" dirty="0"/>
          </a:p>
        </p:txBody>
      </p:sp>
      <p:sp>
        <p:nvSpPr>
          <p:cNvPr id="29" name="Shape 27"/>
          <p:cNvSpPr/>
          <p:nvPr/>
        </p:nvSpPr>
        <p:spPr>
          <a:xfrm>
            <a:off x="4436517" y="4155083"/>
            <a:ext cx="762000" cy="406400"/>
          </a:xfrm>
          <a:prstGeom prst="roundRect">
            <a:avLst>
              <a:gd name="adj" fmla="val 12500"/>
            </a:avLst>
          </a:prstGeom>
          <a:solidFill>
            <a:srgbClr val="FBF9F4"/>
          </a:solidFill>
          <a:ln/>
          <a:effectLst>
            <a:outerShdw sx="100000" sy="100000" kx="0" ky="0" algn="bl" rotWithShape="0" blurRad="254000" dist="101600" dir="5400000">
              <a:srgbClr val="15181C">
                <a:alpha val="26000"/>
              </a:srgbClr>
            </a:outerShdw>
          </a:effectLst>
        </p:spPr>
      </p:sp>
      <p:sp>
        <p:nvSpPr>
          <p:cNvPr id="30" name="Text 28"/>
          <p:cNvSpPr/>
          <p:nvPr/>
        </p:nvSpPr>
        <p:spPr>
          <a:xfrm>
            <a:off x="5350917" y="4132263"/>
            <a:ext cx="1207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elevation.3</a:t>
            </a:r>
            <a:endParaRPr lang="en-US" sz="1200" dirty="0"/>
          </a:p>
        </p:txBody>
      </p:sp>
      <p:sp>
        <p:nvSpPr>
          <p:cNvPr id="31" name="Text 29"/>
          <p:cNvSpPr/>
          <p:nvPr/>
        </p:nvSpPr>
        <p:spPr>
          <a:xfrm>
            <a:off x="5350917" y="4370983"/>
            <a:ext cx="1207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Modal dialogs</a:t>
            </a:r>
            <a:endParaRPr lang="en-US" sz="1200" dirty="0"/>
          </a:p>
        </p:txBody>
      </p:sp>
      <p:sp>
        <p:nvSpPr>
          <p:cNvPr id="32" name="Shape 30"/>
          <p:cNvSpPr/>
          <p:nvPr/>
        </p:nvSpPr>
        <p:spPr>
          <a:xfrm>
            <a:off x="8060283" y="2261791"/>
            <a:ext cx="3318917" cy="0"/>
          </a:xfrm>
          <a:prstGeom prst="line">
            <a:avLst/>
          </a:prstGeom>
          <a:noFill/>
          <a:ln w="12700">
            <a:solidFill>
              <a:srgbClr val="15181C"/>
            </a:solidFill>
            <a:prstDash val="solid"/>
          </a:ln>
        </p:spPr>
      </p:sp>
      <p:sp>
        <p:nvSpPr>
          <p:cNvPr id="33" name="Text 31"/>
          <p:cNvSpPr/>
          <p:nvPr/>
        </p:nvSpPr>
        <p:spPr>
          <a:xfrm>
            <a:off x="8060283" y="1935411"/>
            <a:ext cx="3418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Motion</a:t>
            </a:r>
            <a:endParaRPr lang="en-US" sz="1600" dirty="0"/>
          </a:p>
        </p:txBody>
      </p:sp>
      <p:sp>
        <p:nvSpPr>
          <p:cNvPr id="34" name="Shape 32"/>
          <p:cNvSpPr/>
          <p:nvPr/>
        </p:nvSpPr>
        <p:spPr>
          <a:xfrm>
            <a:off x="8060283" y="2583061"/>
            <a:ext cx="190500" cy="76200"/>
          </a:xfrm>
          <a:prstGeom prst="roundRect">
            <a:avLst>
              <a:gd name="adj" fmla="val 50000"/>
            </a:avLst>
          </a:prstGeom>
          <a:solidFill>
            <a:srgbClr val="7A5C30"/>
          </a:solidFill>
          <a:ln/>
        </p:spPr>
      </p:sp>
      <p:sp>
        <p:nvSpPr>
          <p:cNvPr id="35" name="Text 33"/>
          <p:cNvSpPr/>
          <p:nvPr/>
        </p:nvSpPr>
        <p:spPr>
          <a:xfrm>
            <a:off x="8974683" y="2395141"/>
            <a:ext cx="2194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motion.fast · 100 ms</a:t>
            </a:r>
            <a:endParaRPr lang="en-US" sz="1200" dirty="0"/>
          </a:p>
        </p:txBody>
      </p:sp>
      <p:sp>
        <p:nvSpPr>
          <p:cNvPr id="36" name="Text 34"/>
          <p:cNvSpPr/>
          <p:nvPr/>
        </p:nvSpPr>
        <p:spPr>
          <a:xfrm>
            <a:off x="8974683" y="2633861"/>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Hover, toggles</a:t>
            </a:r>
            <a:endParaRPr lang="en-US" sz="1200" dirty="0"/>
          </a:p>
        </p:txBody>
      </p:sp>
      <p:sp>
        <p:nvSpPr>
          <p:cNvPr id="37" name="Shape 35"/>
          <p:cNvSpPr/>
          <p:nvPr/>
        </p:nvSpPr>
        <p:spPr>
          <a:xfrm>
            <a:off x="8060283" y="3162102"/>
            <a:ext cx="381000" cy="76200"/>
          </a:xfrm>
          <a:prstGeom prst="roundRect">
            <a:avLst>
              <a:gd name="adj" fmla="val 50000"/>
            </a:avLst>
          </a:prstGeom>
          <a:solidFill>
            <a:srgbClr val="7A5C30"/>
          </a:solidFill>
          <a:ln/>
        </p:spPr>
      </p:sp>
      <p:sp>
        <p:nvSpPr>
          <p:cNvPr id="38" name="Text 36"/>
          <p:cNvSpPr/>
          <p:nvPr/>
        </p:nvSpPr>
        <p:spPr>
          <a:xfrm>
            <a:off x="8974683" y="2974181"/>
            <a:ext cx="2194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motion.base · 200 ms</a:t>
            </a:r>
            <a:endParaRPr lang="en-US" sz="1200" dirty="0"/>
          </a:p>
        </p:txBody>
      </p:sp>
      <p:sp>
        <p:nvSpPr>
          <p:cNvPr id="39" name="Text 37"/>
          <p:cNvSpPr/>
          <p:nvPr/>
        </p:nvSpPr>
        <p:spPr>
          <a:xfrm>
            <a:off x="8974683" y="3212902"/>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Expand, reveal</a:t>
            </a:r>
            <a:endParaRPr lang="en-US" sz="1200" dirty="0"/>
          </a:p>
        </p:txBody>
      </p:sp>
      <p:sp>
        <p:nvSpPr>
          <p:cNvPr id="40" name="Shape 38"/>
          <p:cNvSpPr/>
          <p:nvPr/>
        </p:nvSpPr>
        <p:spPr>
          <a:xfrm>
            <a:off x="8060283" y="3741142"/>
            <a:ext cx="571500" cy="76200"/>
          </a:xfrm>
          <a:prstGeom prst="roundRect">
            <a:avLst>
              <a:gd name="adj" fmla="val 50000"/>
            </a:avLst>
          </a:prstGeom>
          <a:solidFill>
            <a:srgbClr val="7A5C30"/>
          </a:solidFill>
          <a:ln/>
        </p:spPr>
      </p:sp>
      <p:sp>
        <p:nvSpPr>
          <p:cNvPr id="41" name="Text 39"/>
          <p:cNvSpPr/>
          <p:nvPr/>
        </p:nvSpPr>
        <p:spPr>
          <a:xfrm>
            <a:off x="8974683" y="3553222"/>
            <a:ext cx="2194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motion.slow · 300 ms</a:t>
            </a:r>
            <a:endParaRPr lang="en-US" sz="1200" dirty="0"/>
          </a:p>
        </p:txBody>
      </p:sp>
      <p:sp>
        <p:nvSpPr>
          <p:cNvPr id="42" name="Text 40"/>
          <p:cNvSpPr/>
          <p:nvPr/>
        </p:nvSpPr>
        <p:spPr>
          <a:xfrm>
            <a:off x="8974683" y="3791942"/>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Dialogs, page changes</a:t>
            </a:r>
            <a:endParaRPr lang="en-US" sz="1200" dirty="0"/>
          </a:p>
        </p:txBody>
      </p:sp>
      <p:sp>
        <p:nvSpPr>
          <p:cNvPr id="43" name="Text 41"/>
          <p:cNvSpPr/>
          <p:nvPr/>
        </p:nvSpPr>
        <p:spPr>
          <a:xfrm>
            <a:off x="8060283" y="4183063"/>
            <a:ext cx="3418484"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Ease out to enter, ease in to exit. Motion explains change and never delays work; reduced-motion settings are always honored.</a:t>
            </a:r>
            <a:endParaRPr lang="en-US" sz="1200" dirty="0"/>
          </a:p>
        </p:txBody>
      </p:sp>
      <p:sp>
        <p:nvSpPr>
          <p:cNvPr id="44" name="Text 4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45" name="Text 4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8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04 · COMPONENTS · ARCHITECTURE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EFE6"/>
                </a:solidFill>
                <a:latin typeface="Archivo" pitchFamily="34" charset="0"/>
                <a:ea typeface="Archivo" pitchFamily="34" charset="-122"/>
                <a:cs typeface="Archivo" pitchFamily="34" charset="-120"/>
              </a:rPr>
              <a:t>Five layers, one source of truth.</a:t>
            </a:r>
            <a:endParaRPr lang="en-US" sz="3600" dirty="0"/>
          </a:p>
        </p:txBody>
      </p:sp>
      <p:sp>
        <p:nvSpPr>
          <p:cNvPr id="4" name="Shape 2"/>
          <p:cNvSpPr/>
          <p:nvPr/>
        </p:nvSpPr>
        <p:spPr>
          <a:xfrm>
            <a:off x="812800" y="2476550"/>
            <a:ext cx="1869430" cy="1755031"/>
          </a:xfrm>
          <a:prstGeom prst="roundRect">
            <a:avLst>
              <a:gd name="adj" fmla="val 1447"/>
            </a:avLst>
          </a:prstGeom>
          <a:solidFill>
            <a:srgbClr val="22262B"/>
          </a:solidFill>
          <a:ln/>
        </p:spPr>
      </p:sp>
      <p:sp>
        <p:nvSpPr>
          <p:cNvPr id="5" name="Shape 3"/>
          <p:cNvSpPr/>
          <p:nvPr/>
        </p:nvSpPr>
        <p:spPr>
          <a:xfrm>
            <a:off x="812800" y="2476550"/>
            <a:ext cx="1869430" cy="1755031"/>
          </a:xfrm>
          <a:custGeom>
            <a:avLst/>
            <a:gdLst/>
            <a:ahLst/>
            <a:cxnLst/>
            <a:rect l="l" t="t" r="r" b="b"/>
            <a:pathLst>
              <a:path w="1869430" h="1755031">
                <a:moveTo>
                  <a:pt x="0" y="25400"/>
                </a:moveTo>
                <a:lnTo>
                  <a:pt x="0" y="25400"/>
                </a:lnTo>
                <a:arcTo hR="25400" wR="25400" stAng="10800000" swAng="5400000"/>
                <a:lnTo>
                  <a:pt x="1844030" y="0"/>
                </a:lnTo>
                <a:arcTo hR="25400" wR="25400" stAng="16200000" swAng="5400000"/>
                <a:lnTo>
                  <a:pt x="1869430" y="25400"/>
                </a:lnTo>
                <a:lnTo>
                  <a:pt x="0" y="25400"/>
                </a:lnTo>
                <a:close/>
              </a:path>
            </a:pathLst>
          </a:custGeom>
          <a:solidFill>
            <a:srgbClr val="C4A57A"/>
          </a:solidFill>
          <a:ln/>
        </p:spPr>
      </p:sp>
      <p:sp>
        <p:nvSpPr>
          <p:cNvPr id="6" name="Text 4"/>
          <p:cNvSpPr/>
          <p:nvPr/>
        </p:nvSpPr>
        <p:spPr>
          <a:xfrm>
            <a:off x="1016000" y="2705150"/>
            <a:ext cx="1513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1016000" y="3020070"/>
            <a:ext cx="15138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Tokens</a:t>
            </a:r>
            <a:endParaRPr lang="en-US" sz="1600" dirty="0"/>
          </a:p>
        </p:txBody>
      </p:sp>
      <p:sp>
        <p:nvSpPr>
          <p:cNvPr id="8" name="Text 6"/>
          <p:cNvSpPr/>
          <p:nvPr/>
        </p:nvSpPr>
        <p:spPr>
          <a:xfrm>
            <a:off x="1016000" y="3365500"/>
            <a:ext cx="151383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Color, type, space, radius, motion</a:t>
            </a:r>
            <a:endParaRPr lang="en-US" sz="1200" dirty="0"/>
          </a:p>
        </p:txBody>
      </p:sp>
      <p:pic>
        <p:nvPicPr>
          <p:cNvPr id="9" name="Image 0" descr="connector">    </p:cNvPr>
          <p:cNvPicPr>
            <a:picLocks noChangeAspect="1"/>
          </p:cNvPicPr>
          <p:nvPr/>
        </p:nvPicPr>
        <p:blipFill>
          <a:blip r:embed="rId1"/>
          <a:srcRect l="0" r="0" t="0" b="0"/>
          <a:stretch/>
        </p:blipFill>
        <p:spPr>
          <a:xfrm>
            <a:off x="2644130" y="3303240"/>
            <a:ext cx="381000" cy="101600"/>
          </a:xfrm>
          <a:prstGeom prst="rect">
            <a:avLst/>
          </a:prstGeom>
        </p:spPr>
      </p:pic>
      <p:sp>
        <p:nvSpPr>
          <p:cNvPr id="10" name="Shape 7"/>
          <p:cNvSpPr/>
          <p:nvPr/>
        </p:nvSpPr>
        <p:spPr>
          <a:xfrm>
            <a:off x="2987030" y="2476550"/>
            <a:ext cx="1869480" cy="1755031"/>
          </a:xfrm>
          <a:prstGeom prst="roundRect">
            <a:avLst>
              <a:gd name="adj" fmla="val 1447"/>
            </a:avLst>
          </a:prstGeom>
          <a:solidFill>
            <a:srgbClr val="22262B"/>
          </a:solidFill>
          <a:ln/>
        </p:spPr>
      </p:sp>
      <p:sp>
        <p:nvSpPr>
          <p:cNvPr id="11" name="Shape 8"/>
          <p:cNvSpPr/>
          <p:nvPr/>
        </p:nvSpPr>
        <p:spPr>
          <a:xfrm>
            <a:off x="2987030" y="2476550"/>
            <a:ext cx="1869480" cy="1755031"/>
          </a:xfrm>
          <a:custGeom>
            <a:avLst/>
            <a:gdLst/>
            <a:ahLst/>
            <a:cxnLst/>
            <a:rect l="l" t="t" r="r" b="b"/>
            <a:pathLst>
              <a:path w="1869480" h="1755031">
                <a:moveTo>
                  <a:pt x="0" y="25400"/>
                </a:moveTo>
                <a:lnTo>
                  <a:pt x="0" y="25400"/>
                </a:lnTo>
                <a:arcTo hR="25400" wR="25400" stAng="10800000" swAng="5400000"/>
                <a:lnTo>
                  <a:pt x="1844080" y="0"/>
                </a:lnTo>
                <a:arcTo hR="25400" wR="25400" stAng="16200000" swAng="5400000"/>
                <a:lnTo>
                  <a:pt x="1869480" y="25400"/>
                </a:lnTo>
                <a:lnTo>
                  <a:pt x="0" y="25400"/>
                </a:lnTo>
                <a:close/>
              </a:path>
            </a:pathLst>
          </a:custGeom>
          <a:solidFill>
            <a:srgbClr val="C4A57A"/>
          </a:solidFill>
          <a:ln/>
        </p:spPr>
      </p:sp>
      <p:sp>
        <p:nvSpPr>
          <p:cNvPr id="12" name="Text 9"/>
          <p:cNvSpPr/>
          <p:nvPr/>
        </p:nvSpPr>
        <p:spPr>
          <a:xfrm>
            <a:off x="3190230" y="2705150"/>
            <a:ext cx="15138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02</a:t>
            </a:r>
            <a:endParaRPr lang="en-US" sz="1200" dirty="0"/>
          </a:p>
        </p:txBody>
      </p:sp>
      <p:sp>
        <p:nvSpPr>
          <p:cNvPr id="13" name="Text 10"/>
          <p:cNvSpPr/>
          <p:nvPr/>
        </p:nvSpPr>
        <p:spPr>
          <a:xfrm>
            <a:off x="3190230" y="3020070"/>
            <a:ext cx="151388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Primitives</a:t>
            </a:r>
            <a:endParaRPr lang="en-US" sz="1600" dirty="0"/>
          </a:p>
        </p:txBody>
      </p:sp>
      <p:sp>
        <p:nvSpPr>
          <p:cNvPr id="14" name="Text 11"/>
          <p:cNvSpPr/>
          <p:nvPr/>
        </p:nvSpPr>
        <p:spPr>
          <a:xfrm>
            <a:off x="3190230" y="3365500"/>
            <a:ext cx="151388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Box, stack, grid, text, icon</a:t>
            </a:r>
            <a:endParaRPr lang="en-US" sz="1200" dirty="0"/>
          </a:p>
        </p:txBody>
      </p:sp>
      <p:pic>
        <p:nvPicPr>
          <p:cNvPr id="15" name="Image 1" descr="connector">    </p:cNvPr>
          <p:cNvPicPr>
            <a:picLocks noChangeAspect="1"/>
          </p:cNvPicPr>
          <p:nvPr/>
        </p:nvPicPr>
        <p:blipFill>
          <a:blip r:embed="rId2"/>
          <a:srcRect l="0" r="0" t="0" b="0"/>
          <a:stretch/>
        </p:blipFill>
        <p:spPr>
          <a:xfrm>
            <a:off x="4818410" y="3303240"/>
            <a:ext cx="381000" cy="101600"/>
          </a:xfrm>
          <a:prstGeom prst="rect">
            <a:avLst/>
          </a:prstGeom>
        </p:spPr>
      </p:pic>
      <p:sp>
        <p:nvSpPr>
          <p:cNvPr id="16" name="Shape 12"/>
          <p:cNvSpPr/>
          <p:nvPr/>
        </p:nvSpPr>
        <p:spPr>
          <a:xfrm>
            <a:off x="5161310" y="2476550"/>
            <a:ext cx="1869430" cy="1755031"/>
          </a:xfrm>
          <a:prstGeom prst="roundRect">
            <a:avLst>
              <a:gd name="adj" fmla="val 1447"/>
            </a:avLst>
          </a:prstGeom>
          <a:solidFill>
            <a:srgbClr val="22262B"/>
          </a:solidFill>
          <a:ln/>
        </p:spPr>
      </p:sp>
      <p:sp>
        <p:nvSpPr>
          <p:cNvPr id="17" name="Shape 13"/>
          <p:cNvSpPr/>
          <p:nvPr/>
        </p:nvSpPr>
        <p:spPr>
          <a:xfrm>
            <a:off x="5161310" y="2476550"/>
            <a:ext cx="1869430" cy="1755031"/>
          </a:xfrm>
          <a:custGeom>
            <a:avLst/>
            <a:gdLst/>
            <a:ahLst/>
            <a:cxnLst/>
            <a:rect l="l" t="t" r="r" b="b"/>
            <a:pathLst>
              <a:path w="1869430" h="1755031">
                <a:moveTo>
                  <a:pt x="0" y="25400"/>
                </a:moveTo>
                <a:lnTo>
                  <a:pt x="0" y="25400"/>
                </a:lnTo>
                <a:arcTo hR="25400" wR="25400" stAng="10800000" swAng="5400000"/>
                <a:lnTo>
                  <a:pt x="1844030" y="0"/>
                </a:lnTo>
                <a:arcTo hR="25400" wR="25400" stAng="16200000" swAng="5400000"/>
                <a:lnTo>
                  <a:pt x="1869430" y="25400"/>
                </a:lnTo>
                <a:lnTo>
                  <a:pt x="0" y="25400"/>
                </a:lnTo>
                <a:close/>
              </a:path>
            </a:pathLst>
          </a:custGeom>
          <a:solidFill>
            <a:srgbClr val="C4A57A"/>
          </a:solidFill>
          <a:ln/>
        </p:spPr>
      </p:sp>
      <p:sp>
        <p:nvSpPr>
          <p:cNvPr id="18" name="Text 14"/>
          <p:cNvSpPr/>
          <p:nvPr/>
        </p:nvSpPr>
        <p:spPr>
          <a:xfrm>
            <a:off x="5364510" y="2705150"/>
            <a:ext cx="1513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03</a:t>
            </a:r>
            <a:endParaRPr lang="en-US" sz="1200" dirty="0"/>
          </a:p>
        </p:txBody>
      </p:sp>
      <p:sp>
        <p:nvSpPr>
          <p:cNvPr id="19" name="Text 15"/>
          <p:cNvSpPr/>
          <p:nvPr/>
        </p:nvSpPr>
        <p:spPr>
          <a:xfrm>
            <a:off x="5364510" y="3020070"/>
            <a:ext cx="15138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Components</a:t>
            </a:r>
            <a:endParaRPr lang="en-US" sz="1600" dirty="0"/>
          </a:p>
        </p:txBody>
      </p:sp>
      <p:sp>
        <p:nvSpPr>
          <p:cNvPr id="20" name="Text 16"/>
          <p:cNvSpPr/>
          <p:nvPr/>
        </p:nvSpPr>
        <p:spPr>
          <a:xfrm>
            <a:off x="5364510" y="3365500"/>
            <a:ext cx="151383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Button, field, table, badge, dialog</a:t>
            </a:r>
            <a:endParaRPr lang="en-US" sz="1200" dirty="0"/>
          </a:p>
        </p:txBody>
      </p:sp>
      <p:pic>
        <p:nvPicPr>
          <p:cNvPr id="21" name="Image 2" descr="connector">    </p:cNvPr>
          <p:cNvPicPr>
            <a:picLocks noChangeAspect="1"/>
          </p:cNvPicPr>
          <p:nvPr/>
        </p:nvPicPr>
        <p:blipFill>
          <a:blip r:embed="rId3"/>
          <a:srcRect l="0" r="0" t="0" b="0"/>
          <a:stretch/>
        </p:blipFill>
        <p:spPr>
          <a:xfrm>
            <a:off x="6992640" y="3303240"/>
            <a:ext cx="381000" cy="101600"/>
          </a:xfrm>
          <a:prstGeom prst="rect">
            <a:avLst/>
          </a:prstGeom>
        </p:spPr>
      </p:pic>
      <p:sp>
        <p:nvSpPr>
          <p:cNvPr id="22" name="Shape 17"/>
          <p:cNvSpPr/>
          <p:nvPr/>
        </p:nvSpPr>
        <p:spPr>
          <a:xfrm>
            <a:off x="7335540" y="2476550"/>
            <a:ext cx="1869430" cy="1755031"/>
          </a:xfrm>
          <a:prstGeom prst="roundRect">
            <a:avLst>
              <a:gd name="adj" fmla="val 1447"/>
            </a:avLst>
          </a:prstGeom>
          <a:solidFill>
            <a:srgbClr val="22262B"/>
          </a:solidFill>
          <a:ln/>
        </p:spPr>
      </p:sp>
      <p:sp>
        <p:nvSpPr>
          <p:cNvPr id="23" name="Shape 18"/>
          <p:cNvSpPr/>
          <p:nvPr/>
        </p:nvSpPr>
        <p:spPr>
          <a:xfrm>
            <a:off x="7335540" y="2476550"/>
            <a:ext cx="1869430" cy="1755031"/>
          </a:xfrm>
          <a:custGeom>
            <a:avLst/>
            <a:gdLst/>
            <a:ahLst/>
            <a:cxnLst/>
            <a:rect l="l" t="t" r="r" b="b"/>
            <a:pathLst>
              <a:path w="1869430" h="1755031">
                <a:moveTo>
                  <a:pt x="0" y="25400"/>
                </a:moveTo>
                <a:lnTo>
                  <a:pt x="0" y="25400"/>
                </a:lnTo>
                <a:arcTo hR="25400" wR="25400" stAng="10800000" swAng="5400000"/>
                <a:lnTo>
                  <a:pt x="1844030" y="0"/>
                </a:lnTo>
                <a:arcTo hR="25400" wR="25400" stAng="16200000" swAng="5400000"/>
                <a:lnTo>
                  <a:pt x="1869430" y="25400"/>
                </a:lnTo>
                <a:lnTo>
                  <a:pt x="0" y="25400"/>
                </a:lnTo>
                <a:close/>
              </a:path>
            </a:pathLst>
          </a:custGeom>
          <a:solidFill>
            <a:srgbClr val="8B9198"/>
          </a:solidFill>
          <a:ln/>
        </p:spPr>
      </p:sp>
      <p:sp>
        <p:nvSpPr>
          <p:cNvPr id="24" name="Text 19"/>
          <p:cNvSpPr/>
          <p:nvPr/>
        </p:nvSpPr>
        <p:spPr>
          <a:xfrm>
            <a:off x="7538740" y="2705150"/>
            <a:ext cx="1513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04</a:t>
            </a:r>
            <a:endParaRPr lang="en-US" sz="1200" dirty="0"/>
          </a:p>
        </p:txBody>
      </p:sp>
      <p:sp>
        <p:nvSpPr>
          <p:cNvPr id="25" name="Text 20"/>
          <p:cNvSpPr/>
          <p:nvPr/>
        </p:nvSpPr>
        <p:spPr>
          <a:xfrm>
            <a:off x="7538740" y="3020070"/>
            <a:ext cx="15138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Patterns</a:t>
            </a:r>
            <a:endParaRPr lang="en-US" sz="1600" dirty="0"/>
          </a:p>
        </p:txBody>
      </p:sp>
      <p:sp>
        <p:nvSpPr>
          <p:cNvPr id="26" name="Text 21"/>
          <p:cNvSpPr/>
          <p:nvPr/>
        </p:nvSpPr>
        <p:spPr>
          <a:xfrm>
            <a:off x="7538740" y="3365500"/>
            <a:ext cx="151383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Filter bar, SI insight card, approval flow</a:t>
            </a:r>
            <a:endParaRPr lang="en-US" sz="1200" dirty="0"/>
          </a:p>
        </p:txBody>
      </p:sp>
      <p:pic>
        <p:nvPicPr>
          <p:cNvPr id="27" name="Image 3" descr="connector">    </p:cNvPr>
          <p:cNvPicPr>
            <a:picLocks noChangeAspect="1"/>
          </p:cNvPicPr>
          <p:nvPr/>
        </p:nvPicPr>
        <p:blipFill>
          <a:blip r:embed="rId4"/>
          <a:srcRect l="0" r="0" t="0" b="0"/>
          <a:stretch/>
        </p:blipFill>
        <p:spPr>
          <a:xfrm>
            <a:off x="9166870" y="3303240"/>
            <a:ext cx="381000" cy="101600"/>
          </a:xfrm>
          <a:prstGeom prst="rect">
            <a:avLst/>
          </a:prstGeom>
        </p:spPr>
      </p:pic>
      <p:sp>
        <p:nvSpPr>
          <p:cNvPr id="28" name="Shape 22"/>
          <p:cNvSpPr/>
          <p:nvPr/>
        </p:nvSpPr>
        <p:spPr>
          <a:xfrm>
            <a:off x="9509770" y="2476550"/>
            <a:ext cx="1869430" cy="1755031"/>
          </a:xfrm>
          <a:prstGeom prst="roundRect">
            <a:avLst>
              <a:gd name="adj" fmla="val 1447"/>
            </a:avLst>
          </a:prstGeom>
          <a:solidFill>
            <a:srgbClr val="22262B"/>
          </a:solidFill>
          <a:ln/>
        </p:spPr>
      </p:sp>
      <p:sp>
        <p:nvSpPr>
          <p:cNvPr id="29" name="Shape 23"/>
          <p:cNvSpPr/>
          <p:nvPr/>
        </p:nvSpPr>
        <p:spPr>
          <a:xfrm>
            <a:off x="9509770" y="2476550"/>
            <a:ext cx="1869430" cy="1755031"/>
          </a:xfrm>
          <a:custGeom>
            <a:avLst/>
            <a:gdLst/>
            <a:ahLst/>
            <a:cxnLst/>
            <a:rect l="l" t="t" r="r" b="b"/>
            <a:pathLst>
              <a:path w="1869430" h="1755031">
                <a:moveTo>
                  <a:pt x="0" y="25400"/>
                </a:moveTo>
                <a:lnTo>
                  <a:pt x="0" y="25400"/>
                </a:lnTo>
                <a:arcTo hR="25400" wR="25400" stAng="10800000" swAng="5400000"/>
                <a:lnTo>
                  <a:pt x="1844030" y="0"/>
                </a:lnTo>
                <a:arcTo hR="25400" wR="25400" stAng="16200000" swAng="5400000"/>
                <a:lnTo>
                  <a:pt x="1869430" y="25400"/>
                </a:lnTo>
                <a:lnTo>
                  <a:pt x="0" y="25400"/>
                </a:lnTo>
                <a:close/>
              </a:path>
            </a:pathLst>
          </a:custGeom>
          <a:solidFill>
            <a:srgbClr val="8B9198"/>
          </a:solidFill>
          <a:ln/>
        </p:spPr>
      </p:sp>
      <p:sp>
        <p:nvSpPr>
          <p:cNvPr id="30" name="Text 24"/>
          <p:cNvSpPr/>
          <p:nvPr/>
        </p:nvSpPr>
        <p:spPr>
          <a:xfrm>
            <a:off x="9712970" y="2705150"/>
            <a:ext cx="1513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05</a:t>
            </a:r>
            <a:endParaRPr lang="en-US" sz="1200" dirty="0"/>
          </a:p>
        </p:txBody>
      </p:sp>
      <p:sp>
        <p:nvSpPr>
          <p:cNvPr id="31" name="Text 25"/>
          <p:cNvSpPr/>
          <p:nvPr/>
        </p:nvSpPr>
        <p:spPr>
          <a:xfrm>
            <a:off x="9712970" y="3020070"/>
            <a:ext cx="15138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Templates</a:t>
            </a:r>
            <a:endParaRPr lang="en-US" sz="1600" dirty="0"/>
          </a:p>
        </p:txBody>
      </p:sp>
      <p:sp>
        <p:nvSpPr>
          <p:cNvPr id="32" name="Text 26"/>
          <p:cNvSpPr/>
          <p:nvPr/>
        </p:nvSpPr>
        <p:spPr>
          <a:xfrm>
            <a:off x="9712970" y="3365500"/>
            <a:ext cx="151383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Dashboard, record detail, map workspace</a:t>
            </a:r>
            <a:endParaRPr lang="en-US" sz="1200" dirty="0"/>
          </a:p>
        </p:txBody>
      </p:sp>
      <p:sp>
        <p:nvSpPr>
          <p:cNvPr id="33" name="Shape 27"/>
          <p:cNvSpPr/>
          <p:nvPr/>
        </p:nvSpPr>
        <p:spPr>
          <a:xfrm>
            <a:off x="812800" y="4390330"/>
            <a:ext cx="6156970" cy="0"/>
          </a:xfrm>
          <a:prstGeom prst="line">
            <a:avLst/>
          </a:prstGeom>
          <a:noFill/>
          <a:ln w="12700">
            <a:solidFill>
              <a:srgbClr val="C4A57A"/>
            </a:solidFill>
            <a:prstDash val="dash"/>
          </a:ln>
        </p:spPr>
      </p:sp>
      <p:sp>
        <p:nvSpPr>
          <p:cNvPr id="34" name="Text 28"/>
          <p:cNvSpPr/>
          <p:nvPr/>
        </p:nvSpPr>
        <p:spPr>
          <a:xfrm>
            <a:off x="812800" y="4498280"/>
            <a:ext cx="63416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Owned by the Trenchcoat core team</a:t>
            </a:r>
            <a:endParaRPr lang="en-US" sz="1200" dirty="0"/>
          </a:p>
        </p:txBody>
      </p:sp>
      <p:sp>
        <p:nvSpPr>
          <p:cNvPr id="35" name="Shape 29"/>
          <p:cNvSpPr/>
          <p:nvPr/>
        </p:nvSpPr>
        <p:spPr>
          <a:xfrm>
            <a:off x="7274570" y="4390330"/>
            <a:ext cx="4104630" cy="0"/>
          </a:xfrm>
          <a:prstGeom prst="line">
            <a:avLst/>
          </a:prstGeom>
          <a:noFill/>
          <a:ln w="12700">
            <a:solidFill>
              <a:srgbClr val="8B9198"/>
            </a:solidFill>
            <a:prstDash val="dash"/>
          </a:ln>
        </p:spPr>
      </p:sp>
      <p:sp>
        <p:nvSpPr>
          <p:cNvPr id="36" name="Text 30"/>
          <p:cNvSpPr/>
          <p:nvPr/>
        </p:nvSpPr>
        <p:spPr>
          <a:xfrm>
            <a:off x="7274570" y="4498280"/>
            <a:ext cx="42277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Co-owned with app teams</a:t>
            </a:r>
            <a:endParaRPr lang="en-US" sz="1200" dirty="0"/>
          </a:p>
        </p:txBody>
      </p:sp>
      <p:sp>
        <p:nvSpPr>
          <p:cNvPr id="37" name="Text 31"/>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4A8"/>
                </a:solidFill>
                <a:latin typeface="Inter" pitchFamily="34" charset="0"/>
                <a:ea typeface="Inter" pitchFamily="34" charset="-122"/>
                <a:cs typeface="Inter" pitchFamily="34" charset="-120"/>
              </a:rPr>
              <a:t>Change one token and it reaches </a:t>
            </a:r>
            <a:r>
              <a:rPr lang="en-US" sz="1600" dirty="0">
                <a:solidFill>
                  <a:srgbClr val="F3EFE6"/>
                </a:solidFill>
                <a:latin typeface="Inter" pitchFamily="34" charset="0"/>
                <a:ea typeface="Inter" pitchFamily="34" charset="-122"/>
                <a:cs typeface="Inter" pitchFamily="34" charset="-120"/>
              </a:rPr>
              <a:t>every component, pattern and app</a:t>
            </a:r>
            <a:r>
              <a:rPr lang="en-US" sz="1600" dirty="0">
                <a:solidFill>
                  <a:srgbClr val="B9B4A8"/>
                </a:solidFill>
                <a:latin typeface="Inter" pitchFamily="34" charset="0"/>
                <a:ea typeface="Inter" pitchFamily="34" charset="-122"/>
                <a:cs typeface="Inter" pitchFamily="34" charset="-120"/>
              </a:rPr>
              <a:t> that uses it.</a:t>
            </a:r>
            <a:endParaRPr lang="en-US" sz="1600" dirty="0"/>
          </a:p>
        </p:txBody>
      </p:sp>
      <p:sp>
        <p:nvSpPr>
          <p:cNvPr id="38" name="Text 3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TRENCHCOAT · BRAND BOOK v0.1</a:t>
            </a:r>
            <a:endParaRPr lang="en-US" sz="1200" dirty="0"/>
          </a:p>
        </p:txBody>
      </p:sp>
      <p:sp>
        <p:nvSpPr>
          <p:cNvPr id="39"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04 · COMPONENTS · BUTTONS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Four variants. Every state designed.</a:t>
            </a:r>
            <a:endParaRPr lang="en-US" sz="3600" dirty="0"/>
          </a:p>
        </p:txBody>
      </p:sp>
      <p:sp>
        <p:nvSpPr>
          <p:cNvPr id="4" name="Text 2"/>
          <p:cNvSpPr/>
          <p:nvPr/>
        </p:nvSpPr>
        <p:spPr>
          <a:xfrm>
            <a:off x="812800" y="1935411"/>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Variant</a:t>
            </a:r>
            <a:endParaRPr lang="en-US" sz="1200" dirty="0"/>
          </a:p>
        </p:txBody>
      </p:sp>
      <p:sp>
        <p:nvSpPr>
          <p:cNvPr id="5" name="Text 3"/>
          <p:cNvSpPr/>
          <p:nvPr/>
        </p:nvSpPr>
        <p:spPr>
          <a:xfrm>
            <a:off x="2667000" y="1935411"/>
            <a:ext cx="20864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Default</a:t>
            </a:r>
            <a:endParaRPr lang="en-US" sz="1200" dirty="0"/>
          </a:p>
        </p:txBody>
      </p:sp>
      <p:sp>
        <p:nvSpPr>
          <p:cNvPr id="6" name="Text 4"/>
          <p:cNvSpPr/>
          <p:nvPr/>
        </p:nvSpPr>
        <p:spPr>
          <a:xfrm>
            <a:off x="4895850" y="1935411"/>
            <a:ext cx="20864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Hover</a:t>
            </a:r>
            <a:endParaRPr lang="en-US" sz="1200" dirty="0"/>
          </a:p>
        </p:txBody>
      </p:sp>
      <p:sp>
        <p:nvSpPr>
          <p:cNvPr id="7" name="Text 5"/>
          <p:cNvSpPr/>
          <p:nvPr/>
        </p:nvSpPr>
        <p:spPr>
          <a:xfrm>
            <a:off x="7124700" y="1935411"/>
            <a:ext cx="20864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Focus</a:t>
            </a:r>
            <a:endParaRPr lang="en-US" sz="1200" dirty="0"/>
          </a:p>
        </p:txBody>
      </p:sp>
      <p:sp>
        <p:nvSpPr>
          <p:cNvPr id="8" name="Text 6"/>
          <p:cNvSpPr/>
          <p:nvPr/>
        </p:nvSpPr>
        <p:spPr>
          <a:xfrm>
            <a:off x="9353550" y="1935411"/>
            <a:ext cx="20864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Disabled</a:t>
            </a:r>
            <a:endParaRPr lang="en-US" sz="1200" dirty="0"/>
          </a:p>
        </p:txBody>
      </p:sp>
      <p:sp>
        <p:nvSpPr>
          <p:cNvPr id="9" name="Text 7"/>
          <p:cNvSpPr/>
          <p:nvPr/>
        </p:nvSpPr>
        <p:spPr>
          <a:xfrm>
            <a:off x="812800" y="2387451"/>
            <a:ext cx="1701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Primary</a:t>
            </a:r>
            <a:endParaRPr lang="en-US" sz="1600" dirty="0"/>
          </a:p>
        </p:txBody>
      </p:sp>
      <p:sp>
        <p:nvSpPr>
          <p:cNvPr id="10" name="Text 8"/>
          <p:cNvSpPr/>
          <p:nvPr/>
        </p:nvSpPr>
        <p:spPr>
          <a:xfrm>
            <a:off x="2667000" y="2326531"/>
            <a:ext cx="1325314" cy="365720"/>
          </a:xfrm>
          <a:prstGeom prst="roundRect">
            <a:avLst>
              <a:gd name="adj" fmla="val 6945"/>
            </a:avLst>
          </a:prstGeom>
          <a:solidFill>
            <a:srgbClr val="2F5FD0"/>
          </a:solidFill>
          <a:ln/>
        </p:spPr>
        <p:txBody>
          <a:bodyPr wrap="none" lIns="0" tIns="0" rIns="0" bIns="0" rtlCol="0" anchor="ctr">
            <a:normAutofit/>
          </a:bodyPr>
          <a:lstStyle/>
          <a:p>
            <a:pPr algn="ctr" indent="0" marL="0">
              <a:lnSpc>
                <a:spcPts val="1680"/>
              </a:lnSpc>
              <a:buNone/>
            </a:pPr>
            <a:r>
              <a:rPr lang="en-US" sz="1200" b="1" dirty="0">
                <a:solidFill>
                  <a:srgbClr val="F3EFE6"/>
                </a:solidFill>
                <a:latin typeface="Inter" pitchFamily="34" charset="0"/>
                <a:ea typeface="Inter" pitchFamily="34" charset="-122"/>
                <a:cs typeface="Inter" pitchFamily="34" charset="-120"/>
              </a:rPr>
              <a:t>Save mission</a:t>
            </a:r>
            <a:endParaRPr lang="en-US" sz="1200" dirty="0"/>
          </a:p>
        </p:txBody>
      </p:sp>
      <p:sp>
        <p:nvSpPr>
          <p:cNvPr id="11" name="Text 9"/>
          <p:cNvSpPr/>
          <p:nvPr/>
        </p:nvSpPr>
        <p:spPr>
          <a:xfrm>
            <a:off x="4895850" y="2326531"/>
            <a:ext cx="1325314" cy="365720"/>
          </a:xfrm>
          <a:prstGeom prst="roundRect">
            <a:avLst>
              <a:gd name="adj" fmla="val 6945"/>
            </a:avLst>
          </a:prstGeom>
          <a:solidFill>
            <a:srgbClr val="244CA8"/>
          </a:solidFill>
          <a:ln/>
        </p:spPr>
        <p:txBody>
          <a:bodyPr wrap="none" lIns="0" tIns="0" rIns="0" bIns="0" rtlCol="0" anchor="ctr">
            <a:normAutofit/>
          </a:bodyPr>
          <a:lstStyle/>
          <a:p>
            <a:pPr algn="ctr" indent="0" marL="0">
              <a:lnSpc>
                <a:spcPts val="1680"/>
              </a:lnSpc>
              <a:buNone/>
            </a:pPr>
            <a:r>
              <a:rPr lang="en-US" sz="1200" b="1" dirty="0">
                <a:solidFill>
                  <a:srgbClr val="F3EFE6"/>
                </a:solidFill>
                <a:latin typeface="Inter" pitchFamily="34" charset="0"/>
                <a:ea typeface="Inter" pitchFamily="34" charset="-122"/>
                <a:cs typeface="Inter" pitchFamily="34" charset="-120"/>
              </a:rPr>
              <a:t>Save mission</a:t>
            </a:r>
            <a:endParaRPr lang="en-US" sz="1200" dirty="0"/>
          </a:p>
        </p:txBody>
      </p:sp>
      <p:sp>
        <p:nvSpPr>
          <p:cNvPr id="12" name="Text 10"/>
          <p:cNvSpPr/>
          <p:nvPr/>
        </p:nvSpPr>
        <p:spPr>
          <a:xfrm>
            <a:off x="7124700" y="2326531"/>
            <a:ext cx="1325314" cy="365720"/>
          </a:xfrm>
          <a:prstGeom prst="roundRect">
            <a:avLst>
              <a:gd name="adj" fmla="val 6945"/>
            </a:avLst>
          </a:prstGeom>
          <a:solidFill>
            <a:srgbClr val="2F5FD0"/>
          </a:solidFill>
          <a:ln/>
          <a:effectLst>
            <a:outerShdw sx="100000" sy="100000" kx="0" ky="0" algn="bl" rotWithShape="0" blurRad="19050" dist="0" dir="60000">
              <a:srgbClr val="F3EFE6">
                <a:alpha val="100000"/>
              </a:srgbClr>
            </a:outerShdw>
          </a:effectLst>
        </p:spPr>
        <p:txBody>
          <a:bodyPr wrap="none" lIns="0" tIns="0" rIns="0" bIns="0" rtlCol="0" anchor="ctr">
            <a:normAutofit/>
          </a:bodyPr>
          <a:lstStyle/>
          <a:p>
            <a:pPr algn="ctr" indent="0" marL="0">
              <a:lnSpc>
                <a:spcPts val="1680"/>
              </a:lnSpc>
              <a:buNone/>
            </a:pPr>
            <a:r>
              <a:rPr lang="en-US" sz="1200" b="1" dirty="0">
                <a:solidFill>
                  <a:srgbClr val="F3EFE6"/>
                </a:solidFill>
                <a:latin typeface="Inter" pitchFamily="34" charset="0"/>
                <a:ea typeface="Inter" pitchFamily="34" charset="-122"/>
                <a:cs typeface="Inter" pitchFamily="34" charset="-120"/>
              </a:rPr>
              <a:t>Save mission</a:t>
            </a:r>
            <a:endParaRPr lang="en-US" sz="1200" dirty="0"/>
          </a:p>
        </p:txBody>
      </p:sp>
      <p:sp>
        <p:nvSpPr>
          <p:cNvPr id="13" name="Text 11"/>
          <p:cNvSpPr/>
          <p:nvPr/>
        </p:nvSpPr>
        <p:spPr>
          <a:xfrm>
            <a:off x="9353550" y="2326531"/>
            <a:ext cx="1325314" cy="365720"/>
          </a:xfrm>
          <a:prstGeom prst="roundRect">
            <a:avLst>
              <a:gd name="adj" fmla="val 6945"/>
            </a:avLst>
          </a:prstGeom>
          <a:solidFill>
            <a:srgbClr val="DCDAD3"/>
          </a:solidFill>
          <a:ln/>
        </p:spPr>
        <p:txBody>
          <a:bodyPr wrap="none" lIns="0" tIns="0" rIns="0" bIns="0" rtlCol="0" anchor="ctr">
            <a:normAutofit/>
          </a:bodyPr>
          <a:lstStyle/>
          <a:p>
            <a:pPr algn="ctr" indent="0" marL="0">
              <a:lnSpc>
                <a:spcPts val="1680"/>
              </a:lnSpc>
              <a:buNone/>
            </a:pPr>
            <a:r>
              <a:rPr lang="en-US" sz="1200" b="1" dirty="0">
                <a:solidFill>
                  <a:srgbClr val="5F666E"/>
                </a:solidFill>
                <a:latin typeface="Inter" pitchFamily="34" charset="0"/>
                <a:ea typeface="Inter" pitchFamily="34" charset="-122"/>
                <a:cs typeface="Inter" pitchFamily="34" charset="-120"/>
              </a:rPr>
              <a:t>Save mission</a:t>
            </a:r>
            <a:endParaRPr lang="en-US" sz="1200" dirty="0"/>
          </a:p>
        </p:txBody>
      </p:sp>
      <p:sp>
        <p:nvSpPr>
          <p:cNvPr id="14" name="Text 12"/>
          <p:cNvSpPr/>
          <p:nvPr/>
        </p:nvSpPr>
        <p:spPr>
          <a:xfrm>
            <a:off x="812800" y="2930971"/>
            <a:ext cx="1701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Secondary</a:t>
            </a:r>
            <a:endParaRPr lang="en-US" sz="1600" dirty="0"/>
          </a:p>
        </p:txBody>
      </p:sp>
      <p:sp>
        <p:nvSpPr>
          <p:cNvPr id="15" name="Text 13"/>
          <p:cNvSpPr/>
          <p:nvPr/>
        </p:nvSpPr>
        <p:spPr>
          <a:xfrm>
            <a:off x="2673350" y="2876401"/>
            <a:ext cx="854720" cy="353020"/>
          </a:xfrm>
          <a:prstGeom prst="roundRect">
            <a:avLst>
              <a:gd name="adj" fmla="val 5396"/>
            </a:avLst>
          </a:prstGeom>
          <a:noFill/>
          <a:ln w="12700">
            <a:solidFill>
              <a:srgbClr val="15181C"/>
            </a:solidFill>
            <a:prstDash val="solid"/>
          </a:ln>
        </p:spPr>
        <p:txBody>
          <a:bodyPr wrap="none" lIns="0" tIns="0" rIns="0" bIns="0" rtlCol="0" anchor="ctr">
            <a:normAutofit/>
          </a:bodyPr>
          <a:lstStyle/>
          <a:p>
            <a:pPr algn="ctr" indent="0" marL="0">
              <a:lnSpc>
                <a:spcPts val="1680"/>
              </a:lnSpc>
              <a:buNone/>
            </a:pPr>
            <a:r>
              <a:rPr lang="en-US" sz="1200" b="1" dirty="0">
                <a:solidFill>
                  <a:srgbClr val="15181C"/>
                </a:solidFill>
                <a:latin typeface="Inter" pitchFamily="34" charset="0"/>
                <a:ea typeface="Inter" pitchFamily="34" charset="-122"/>
                <a:cs typeface="Inter" pitchFamily="34" charset="-120"/>
              </a:rPr>
              <a:t>Cancel</a:t>
            </a:r>
            <a:endParaRPr lang="en-US" sz="1200" dirty="0"/>
          </a:p>
        </p:txBody>
      </p:sp>
      <p:sp>
        <p:nvSpPr>
          <p:cNvPr id="16" name="Text 14"/>
          <p:cNvSpPr/>
          <p:nvPr/>
        </p:nvSpPr>
        <p:spPr>
          <a:xfrm>
            <a:off x="4902200" y="2876401"/>
            <a:ext cx="854720" cy="353020"/>
          </a:xfrm>
          <a:prstGeom prst="roundRect">
            <a:avLst>
              <a:gd name="adj" fmla="val 5396"/>
            </a:avLst>
          </a:prstGeom>
          <a:solidFill>
            <a:srgbClr val="EAE6DC"/>
          </a:solidFill>
          <a:ln w="12700">
            <a:solidFill>
              <a:srgbClr val="15181C"/>
            </a:solidFill>
            <a:prstDash val="solid"/>
          </a:ln>
        </p:spPr>
        <p:txBody>
          <a:bodyPr wrap="none" lIns="0" tIns="0" rIns="0" bIns="0" rtlCol="0" anchor="ctr">
            <a:normAutofit/>
          </a:bodyPr>
          <a:lstStyle/>
          <a:p>
            <a:pPr algn="ctr" indent="0" marL="0">
              <a:lnSpc>
                <a:spcPts val="1680"/>
              </a:lnSpc>
              <a:buNone/>
            </a:pPr>
            <a:r>
              <a:rPr lang="en-US" sz="1200" b="1" dirty="0">
                <a:solidFill>
                  <a:srgbClr val="15181C"/>
                </a:solidFill>
                <a:latin typeface="Inter" pitchFamily="34" charset="0"/>
                <a:ea typeface="Inter" pitchFamily="34" charset="-122"/>
                <a:cs typeface="Inter" pitchFamily="34" charset="-120"/>
              </a:rPr>
              <a:t>Cancel</a:t>
            </a:r>
            <a:endParaRPr lang="en-US" sz="1200" dirty="0"/>
          </a:p>
        </p:txBody>
      </p:sp>
      <p:sp>
        <p:nvSpPr>
          <p:cNvPr id="17" name="Shape 15"/>
          <p:cNvSpPr/>
          <p:nvPr/>
        </p:nvSpPr>
        <p:spPr>
          <a:xfrm>
            <a:off x="7131050" y="2876401"/>
            <a:ext cx="854720" cy="353020"/>
          </a:xfrm>
          <a:prstGeom prst="roundRect">
            <a:avLst>
              <a:gd name="adj" fmla="val 5396"/>
            </a:avLst>
          </a:prstGeom>
          <a:noFill/>
          <a:ln w="12700">
            <a:solidFill>
              <a:srgbClr val="15181C"/>
            </a:solidFill>
            <a:prstDash val="solid"/>
          </a:ln>
          <a:effectLst>
            <a:outerShdw sx="100000" sy="100000" kx="0" ky="0" algn="bl" rotWithShape="0" blurRad="19050" dist="0" dir="60000">
              <a:srgbClr val="F3EFE6">
                <a:alpha val="100000"/>
              </a:srgbClr>
            </a:outerShdw>
          </a:effectLst>
        </p:spPr>
      </p:sp>
      <p:sp>
        <p:nvSpPr>
          <p:cNvPr id="18" name="Text 16"/>
          <p:cNvSpPr/>
          <p:nvPr/>
        </p:nvSpPr>
        <p:spPr>
          <a:xfrm>
            <a:off x="7302500" y="2946251"/>
            <a:ext cx="5626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C"/>
                </a:solidFill>
                <a:latin typeface="Inter" pitchFamily="34" charset="0"/>
                <a:ea typeface="Inter" pitchFamily="34" charset="-122"/>
                <a:cs typeface="Inter" pitchFamily="34" charset="-120"/>
              </a:rPr>
              <a:t>Cancel</a:t>
            </a:r>
            <a:endParaRPr lang="en-US" sz="1200" dirty="0"/>
          </a:p>
        </p:txBody>
      </p:sp>
      <p:sp>
        <p:nvSpPr>
          <p:cNvPr id="19" name="Text 17"/>
          <p:cNvSpPr/>
          <p:nvPr/>
        </p:nvSpPr>
        <p:spPr>
          <a:xfrm>
            <a:off x="9359900" y="2876401"/>
            <a:ext cx="854720" cy="353020"/>
          </a:xfrm>
          <a:prstGeom prst="roundRect">
            <a:avLst>
              <a:gd name="adj" fmla="val 5396"/>
            </a:avLst>
          </a:prstGeom>
          <a:noFill/>
          <a:ln w="12700">
            <a:solidFill>
              <a:srgbClr val="B9BDC1"/>
            </a:solidFill>
            <a:prstDash val="solid"/>
          </a:ln>
        </p:spPr>
        <p:txBody>
          <a:bodyPr wrap="none" lIns="0" tIns="0" rIns="0" bIns="0" rtlCol="0" anchor="ctr">
            <a:normAutofit/>
          </a:bodyPr>
          <a:lstStyle/>
          <a:p>
            <a:pPr algn="ctr" indent="0" marL="0">
              <a:lnSpc>
                <a:spcPts val="1680"/>
              </a:lnSpc>
              <a:buNone/>
            </a:pPr>
            <a:r>
              <a:rPr lang="en-US" sz="1200" b="1" dirty="0">
                <a:solidFill>
                  <a:srgbClr val="8B9198"/>
                </a:solidFill>
                <a:latin typeface="Inter" pitchFamily="34" charset="0"/>
                <a:ea typeface="Inter" pitchFamily="34" charset="-122"/>
                <a:cs typeface="Inter" pitchFamily="34" charset="-120"/>
              </a:rPr>
              <a:t>Cancel</a:t>
            </a:r>
            <a:endParaRPr lang="en-US" sz="1200" dirty="0"/>
          </a:p>
        </p:txBody>
      </p:sp>
      <p:sp>
        <p:nvSpPr>
          <p:cNvPr id="20" name="Text 18"/>
          <p:cNvSpPr/>
          <p:nvPr/>
        </p:nvSpPr>
        <p:spPr>
          <a:xfrm>
            <a:off x="812800" y="3474492"/>
            <a:ext cx="1701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Tertiary</a:t>
            </a:r>
            <a:endParaRPr lang="en-US" sz="1600" dirty="0"/>
          </a:p>
        </p:txBody>
      </p:sp>
      <p:sp>
        <p:nvSpPr>
          <p:cNvPr id="21" name="Text 19"/>
          <p:cNvSpPr/>
          <p:nvPr/>
        </p:nvSpPr>
        <p:spPr>
          <a:xfrm>
            <a:off x="2844800" y="3489771"/>
            <a:ext cx="1074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D0"/>
                </a:solidFill>
                <a:latin typeface="Inter" pitchFamily="34" charset="0"/>
                <a:ea typeface="Inter" pitchFamily="34" charset="-122"/>
                <a:cs typeface="Inter" pitchFamily="34" charset="-120"/>
              </a:rPr>
              <a:t>View details</a:t>
            </a:r>
            <a:endParaRPr lang="en-US" sz="1200" dirty="0"/>
          </a:p>
        </p:txBody>
      </p:sp>
      <p:sp>
        <p:nvSpPr>
          <p:cNvPr id="22" name="Text 20"/>
          <p:cNvSpPr/>
          <p:nvPr/>
        </p:nvSpPr>
        <p:spPr>
          <a:xfrm>
            <a:off x="4895850" y="3413571"/>
            <a:ext cx="1251297" cy="365720"/>
          </a:xfrm>
          <a:prstGeom prst="roundRect">
            <a:avLst>
              <a:gd name="adj" fmla="val 6945"/>
            </a:avLst>
          </a:prstGeom>
          <a:solidFill>
            <a:srgbClr val="E4E8F3"/>
          </a:solidFill>
          <a:ln/>
        </p:spPr>
        <p:txBody>
          <a:bodyPr wrap="none" lIns="0" tIns="0" rIns="0" bIns="0" rtlCol="0" anchor="ctr">
            <a:normAutofit/>
          </a:bodyPr>
          <a:lstStyle/>
          <a:p>
            <a:pPr algn="ctr" indent="0" marL="0">
              <a:lnSpc>
                <a:spcPts val="1680"/>
              </a:lnSpc>
              <a:buNone/>
            </a:pPr>
            <a:r>
              <a:rPr lang="en-US" sz="1200" b="1" u="sng" dirty="0">
                <a:solidFill>
                  <a:srgbClr val="244CA8"/>
                </a:solidFill>
                <a:latin typeface="Inter" pitchFamily="34" charset="0"/>
                <a:ea typeface="Inter" pitchFamily="34" charset="-122"/>
                <a:cs typeface="Inter" pitchFamily="34" charset="-120"/>
              </a:rPr>
              <a:t>View details</a:t>
            </a:r>
            <a:endParaRPr lang="en-US" sz="1200" dirty="0"/>
          </a:p>
        </p:txBody>
      </p:sp>
      <p:sp>
        <p:nvSpPr>
          <p:cNvPr id="23" name="Text 21"/>
          <p:cNvSpPr/>
          <p:nvPr/>
        </p:nvSpPr>
        <p:spPr>
          <a:xfrm>
            <a:off x="7302500" y="3489771"/>
            <a:ext cx="1074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D0"/>
                </a:solidFill>
                <a:latin typeface="Inter" pitchFamily="34" charset="0"/>
                <a:ea typeface="Inter" pitchFamily="34" charset="-122"/>
                <a:cs typeface="Inter" pitchFamily="34" charset="-120"/>
              </a:rPr>
              <a:t>View details</a:t>
            </a:r>
            <a:endParaRPr lang="en-US" sz="1200" dirty="0"/>
          </a:p>
        </p:txBody>
      </p:sp>
      <p:sp>
        <p:nvSpPr>
          <p:cNvPr id="24" name="Text 22"/>
          <p:cNvSpPr/>
          <p:nvPr/>
        </p:nvSpPr>
        <p:spPr>
          <a:xfrm>
            <a:off x="9531350" y="3489771"/>
            <a:ext cx="1074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9198"/>
                </a:solidFill>
                <a:latin typeface="Inter" pitchFamily="34" charset="0"/>
                <a:ea typeface="Inter" pitchFamily="34" charset="-122"/>
                <a:cs typeface="Inter" pitchFamily="34" charset="-120"/>
              </a:rPr>
              <a:t>View details</a:t>
            </a:r>
            <a:endParaRPr lang="en-US" sz="1200" dirty="0"/>
          </a:p>
        </p:txBody>
      </p:sp>
      <p:sp>
        <p:nvSpPr>
          <p:cNvPr id="25" name="Text 23"/>
          <p:cNvSpPr/>
          <p:nvPr/>
        </p:nvSpPr>
        <p:spPr>
          <a:xfrm>
            <a:off x="812800" y="4018012"/>
            <a:ext cx="17018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Destructive</a:t>
            </a:r>
            <a:endParaRPr lang="en-US" sz="1600" dirty="0"/>
          </a:p>
        </p:txBody>
      </p:sp>
      <p:sp>
        <p:nvSpPr>
          <p:cNvPr id="26" name="Text 24"/>
          <p:cNvSpPr/>
          <p:nvPr/>
        </p:nvSpPr>
        <p:spPr>
          <a:xfrm>
            <a:off x="2667000" y="3957092"/>
            <a:ext cx="1347837" cy="365720"/>
          </a:xfrm>
          <a:prstGeom prst="roundRect">
            <a:avLst>
              <a:gd name="adj" fmla="val 6945"/>
            </a:avLst>
          </a:prstGeom>
          <a:solidFill>
            <a:srgbClr val="C2362B"/>
          </a:solidFill>
          <a:ln/>
        </p:spPr>
        <p:txBody>
          <a:bodyPr wrap="none" lIns="0" tIns="0" rIns="0" bIns="0" rtlCol="0" anchor="ctr">
            <a:normAutofit/>
          </a:bodyPr>
          <a:lstStyle/>
          <a:p>
            <a:pPr algn="ctr" indent="0" marL="0">
              <a:lnSpc>
                <a:spcPts val="1680"/>
              </a:lnSpc>
              <a:buNone/>
            </a:pPr>
            <a:r>
              <a:rPr lang="en-US" sz="1200" b="1" dirty="0">
                <a:solidFill>
                  <a:srgbClr val="F3EFE6"/>
                </a:solidFill>
                <a:latin typeface="Inter" pitchFamily="34" charset="0"/>
                <a:ea typeface="Inter" pitchFamily="34" charset="-122"/>
                <a:cs typeface="Inter" pitchFamily="34" charset="-120"/>
              </a:rPr>
              <a:t>Delete record</a:t>
            </a:r>
            <a:endParaRPr lang="en-US" sz="1200" dirty="0"/>
          </a:p>
        </p:txBody>
      </p:sp>
      <p:sp>
        <p:nvSpPr>
          <p:cNvPr id="27" name="Text 25"/>
          <p:cNvSpPr/>
          <p:nvPr/>
        </p:nvSpPr>
        <p:spPr>
          <a:xfrm>
            <a:off x="4895850" y="3957092"/>
            <a:ext cx="1347837" cy="365720"/>
          </a:xfrm>
          <a:prstGeom prst="roundRect">
            <a:avLst>
              <a:gd name="adj" fmla="val 6945"/>
            </a:avLst>
          </a:prstGeom>
          <a:solidFill>
            <a:srgbClr val="A02A21"/>
          </a:solidFill>
          <a:ln/>
        </p:spPr>
        <p:txBody>
          <a:bodyPr wrap="none" lIns="0" tIns="0" rIns="0" bIns="0" rtlCol="0" anchor="ctr">
            <a:normAutofit/>
          </a:bodyPr>
          <a:lstStyle/>
          <a:p>
            <a:pPr algn="ctr" indent="0" marL="0">
              <a:lnSpc>
                <a:spcPts val="1680"/>
              </a:lnSpc>
              <a:buNone/>
            </a:pPr>
            <a:r>
              <a:rPr lang="en-US" sz="1200" b="1" dirty="0">
                <a:solidFill>
                  <a:srgbClr val="F3EFE6"/>
                </a:solidFill>
                <a:latin typeface="Inter" pitchFamily="34" charset="0"/>
                <a:ea typeface="Inter" pitchFamily="34" charset="-122"/>
                <a:cs typeface="Inter" pitchFamily="34" charset="-120"/>
              </a:rPr>
              <a:t>Delete record</a:t>
            </a:r>
            <a:endParaRPr lang="en-US" sz="1200" dirty="0"/>
          </a:p>
        </p:txBody>
      </p:sp>
      <p:sp>
        <p:nvSpPr>
          <p:cNvPr id="28" name="Text 26"/>
          <p:cNvSpPr/>
          <p:nvPr/>
        </p:nvSpPr>
        <p:spPr>
          <a:xfrm>
            <a:off x="7124700" y="3957092"/>
            <a:ext cx="1347837" cy="365720"/>
          </a:xfrm>
          <a:prstGeom prst="roundRect">
            <a:avLst>
              <a:gd name="adj" fmla="val 6945"/>
            </a:avLst>
          </a:prstGeom>
          <a:solidFill>
            <a:srgbClr val="C2362B"/>
          </a:solidFill>
          <a:ln/>
          <a:effectLst>
            <a:outerShdw sx="100000" sy="100000" kx="0" ky="0" algn="bl" rotWithShape="0" blurRad="19050" dist="0" dir="60000">
              <a:srgbClr val="F3EFE6">
                <a:alpha val="100000"/>
              </a:srgbClr>
            </a:outerShdw>
          </a:effectLst>
        </p:spPr>
        <p:txBody>
          <a:bodyPr wrap="none" lIns="0" tIns="0" rIns="0" bIns="0" rtlCol="0" anchor="ctr">
            <a:normAutofit/>
          </a:bodyPr>
          <a:lstStyle/>
          <a:p>
            <a:pPr algn="ctr" indent="0" marL="0">
              <a:lnSpc>
                <a:spcPts val="1680"/>
              </a:lnSpc>
              <a:buNone/>
            </a:pPr>
            <a:r>
              <a:rPr lang="en-US" sz="1200" b="1" dirty="0">
                <a:solidFill>
                  <a:srgbClr val="F3EFE6"/>
                </a:solidFill>
                <a:latin typeface="Inter" pitchFamily="34" charset="0"/>
                <a:ea typeface="Inter" pitchFamily="34" charset="-122"/>
                <a:cs typeface="Inter" pitchFamily="34" charset="-120"/>
              </a:rPr>
              <a:t>Delete record</a:t>
            </a:r>
            <a:endParaRPr lang="en-US" sz="1200" dirty="0"/>
          </a:p>
        </p:txBody>
      </p:sp>
      <p:sp>
        <p:nvSpPr>
          <p:cNvPr id="29" name="Text 27"/>
          <p:cNvSpPr/>
          <p:nvPr/>
        </p:nvSpPr>
        <p:spPr>
          <a:xfrm>
            <a:off x="9353550" y="3957092"/>
            <a:ext cx="1347837" cy="365720"/>
          </a:xfrm>
          <a:prstGeom prst="roundRect">
            <a:avLst>
              <a:gd name="adj" fmla="val 6945"/>
            </a:avLst>
          </a:prstGeom>
          <a:solidFill>
            <a:srgbClr val="DCDAD3"/>
          </a:solidFill>
          <a:ln/>
        </p:spPr>
        <p:txBody>
          <a:bodyPr wrap="none" lIns="0" tIns="0" rIns="0" bIns="0" rtlCol="0" anchor="ctr">
            <a:normAutofit/>
          </a:bodyPr>
          <a:lstStyle/>
          <a:p>
            <a:pPr algn="ctr" indent="0" marL="0">
              <a:lnSpc>
                <a:spcPts val="1680"/>
              </a:lnSpc>
              <a:buNone/>
            </a:pPr>
            <a:r>
              <a:rPr lang="en-US" sz="1200" b="1" dirty="0">
                <a:solidFill>
                  <a:srgbClr val="5F666E"/>
                </a:solidFill>
                <a:latin typeface="Inter" pitchFamily="34" charset="0"/>
                <a:ea typeface="Inter" pitchFamily="34" charset="-122"/>
                <a:cs typeface="Inter" pitchFamily="34" charset="-120"/>
              </a:rPr>
              <a:t>Delete record</a:t>
            </a:r>
            <a:endParaRPr lang="en-US" sz="1200" dirty="0"/>
          </a:p>
        </p:txBody>
      </p:sp>
      <p:sp>
        <p:nvSpPr>
          <p:cNvPr id="30" name="Shape 28"/>
          <p:cNvSpPr/>
          <p:nvPr/>
        </p:nvSpPr>
        <p:spPr>
          <a:xfrm>
            <a:off x="812800" y="5295305"/>
            <a:ext cx="3318917" cy="0"/>
          </a:xfrm>
          <a:prstGeom prst="line">
            <a:avLst/>
          </a:prstGeom>
          <a:noFill/>
          <a:ln w="6350">
            <a:solidFill>
              <a:srgbClr val="C9C5BA"/>
            </a:solidFill>
            <a:prstDash val="solid"/>
          </a:ln>
        </p:spPr>
      </p:sp>
      <p:sp>
        <p:nvSpPr>
          <p:cNvPr id="31" name="Text 29"/>
          <p:cNvSpPr/>
          <p:nvPr/>
        </p:nvSpPr>
        <p:spPr>
          <a:xfrm>
            <a:off x="812800" y="5400080"/>
            <a:ext cx="3418484"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81C"/>
                </a:solidFill>
                <a:latin typeface="Inter" pitchFamily="34" charset="0"/>
                <a:ea typeface="Inter" pitchFamily="34" charset="-122"/>
                <a:cs typeface="Inter" pitchFamily="34" charset="-120"/>
              </a:rPr>
              <a:t>One primary per view.</a:t>
            </a:r>
            <a:r>
              <a:rPr lang="en-US" sz="1200" dirty="0">
                <a:solidFill>
                  <a:srgbClr val="4A5159"/>
                </a:solidFill>
                <a:latin typeface="Inter" pitchFamily="34" charset="0"/>
                <a:ea typeface="Inter" pitchFamily="34" charset="-122"/>
                <a:cs typeface="Inter" pitchFamily="34" charset="-120"/>
              </a:rPr>
              <a:t> If everything is primary, nothing is.</a:t>
            </a:r>
            <a:endParaRPr lang="en-US" sz="1200" dirty="0"/>
          </a:p>
        </p:txBody>
      </p:sp>
      <p:sp>
        <p:nvSpPr>
          <p:cNvPr id="32" name="Shape 30"/>
          <p:cNvSpPr/>
          <p:nvPr/>
        </p:nvSpPr>
        <p:spPr>
          <a:xfrm>
            <a:off x="4436517" y="5295305"/>
            <a:ext cx="3318966" cy="0"/>
          </a:xfrm>
          <a:prstGeom prst="line">
            <a:avLst/>
          </a:prstGeom>
          <a:noFill/>
          <a:ln w="6350">
            <a:solidFill>
              <a:srgbClr val="C9C5BA"/>
            </a:solidFill>
            <a:prstDash val="solid"/>
          </a:ln>
        </p:spPr>
      </p:sp>
      <p:sp>
        <p:nvSpPr>
          <p:cNvPr id="33" name="Text 31"/>
          <p:cNvSpPr/>
          <p:nvPr/>
        </p:nvSpPr>
        <p:spPr>
          <a:xfrm>
            <a:off x="4436517" y="5400080"/>
            <a:ext cx="3418535"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81C"/>
                </a:solidFill>
                <a:latin typeface="Inter" pitchFamily="34" charset="0"/>
                <a:ea typeface="Inter" pitchFamily="34" charset="-122"/>
                <a:cs typeface="Inter" pitchFamily="34" charset="-120"/>
              </a:rPr>
              <a:t>Labels are verbs.</a:t>
            </a:r>
            <a:r>
              <a:rPr lang="en-US" sz="1200" dirty="0">
                <a:solidFill>
                  <a:srgbClr val="4A5159"/>
                </a:solidFill>
                <a:latin typeface="Inter" pitchFamily="34" charset="0"/>
                <a:ea typeface="Inter" pitchFamily="34" charset="-122"/>
                <a:cs typeface="Inter" pitchFamily="34" charset="-120"/>
              </a:rPr>
              <a:t> “Save mission”, never “OK” or “Submit”.</a:t>
            </a:r>
            <a:endParaRPr lang="en-US" sz="1200" dirty="0"/>
          </a:p>
        </p:txBody>
      </p:sp>
      <p:sp>
        <p:nvSpPr>
          <p:cNvPr id="34" name="Shape 32"/>
          <p:cNvSpPr/>
          <p:nvPr/>
        </p:nvSpPr>
        <p:spPr>
          <a:xfrm>
            <a:off x="8060283" y="5295305"/>
            <a:ext cx="3318917" cy="0"/>
          </a:xfrm>
          <a:prstGeom prst="line">
            <a:avLst/>
          </a:prstGeom>
          <a:noFill/>
          <a:ln w="6350">
            <a:solidFill>
              <a:srgbClr val="C9C5BA"/>
            </a:solidFill>
            <a:prstDash val="solid"/>
          </a:ln>
        </p:spPr>
      </p:sp>
      <p:sp>
        <p:nvSpPr>
          <p:cNvPr id="35" name="Text 33"/>
          <p:cNvSpPr/>
          <p:nvPr/>
        </p:nvSpPr>
        <p:spPr>
          <a:xfrm>
            <a:off x="8060283" y="5400080"/>
            <a:ext cx="3418484"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81C"/>
                </a:solidFill>
                <a:latin typeface="Inter" pitchFamily="34" charset="0"/>
                <a:ea typeface="Inter" pitchFamily="34" charset="-122"/>
                <a:cs typeface="Inter" pitchFamily="34" charset="-120"/>
              </a:rPr>
              <a:t>Three heights.</a:t>
            </a:r>
            <a:r>
              <a:rPr lang="en-US" sz="1200" dirty="0">
                <a:solidFill>
                  <a:srgbClr val="4A5159"/>
                </a:solidFill>
                <a:latin typeface="Inter" pitchFamily="34" charset="0"/>
                <a:ea typeface="Inter" pitchFamily="34" charset="-122"/>
                <a:cs typeface="Inter" pitchFamily="34" charset="-120"/>
              </a:rPr>
              <a:t> 32 compact · 40 default · 48 touch.</a:t>
            </a:r>
            <a:endParaRPr lang="en-US" sz="1200" dirty="0"/>
          </a:p>
        </p:txBody>
      </p:sp>
      <p:sp>
        <p:nvSpPr>
          <p:cNvPr id="36" name="Text 3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04 · COMPONENTS · FORMS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Forms that tell you how to fix them.</a:t>
            </a:r>
            <a:endParaRPr lang="en-US" sz="3600" dirty="0"/>
          </a:p>
        </p:txBody>
      </p:sp>
      <p:sp>
        <p:nvSpPr>
          <p:cNvPr id="4" name="Shape 2"/>
          <p:cNvSpPr/>
          <p:nvPr/>
        </p:nvSpPr>
        <p:spPr>
          <a:xfrm>
            <a:off x="815975" y="1938586"/>
            <a:ext cx="6851650" cy="3325813"/>
          </a:xfrm>
          <a:prstGeom prst="roundRect">
            <a:avLst>
              <a:gd name="adj" fmla="val 2196"/>
            </a:avLst>
          </a:prstGeom>
          <a:solidFill>
            <a:srgbClr val="FBF9F4"/>
          </a:solidFill>
          <a:ln w="6350">
            <a:solidFill>
              <a:srgbClr val="DCDAD3"/>
            </a:solidFill>
            <a:prstDash val="solid"/>
          </a:ln>
        </p:spPr>
      </p:sp>
      <p:sp>
        <p:nvSpPr>
          <p:cNvPr id="5" name="Text 3"/>
          <p:cNvSpPr/>
          <p:nvPr/>
        </p:nvSpPr>
        <p:spPr>
          <a:xfrm>
            <a:off x="1073150" y="2195761"/>
            <a:ext cx="65274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C"/>
                </a:solidFill>
                <a:latin typeface="Inter" pitchFamily="34" charset="0"/>
                <a:ea typeface="Inter" pitchFamily="34" charset="-122"/>
                <a:cs typeface="Inter" pitchFamily="34" charset="-120"/>
              </a:rPr>
              <a:t>Exercise name </a:t>
            </a:r>
            <a:r>
              <a:rPr lang="en-US" sz="1200" b="1" dirty="0">
                <a:solidFill>
                  <a:srgbClr val="5F666E"/>
                </a:solidFill>
                <a:latin typeface="Inter" pitchFamily="34" charset="0"/>
                <a:ea typeface="Inter" pitchFamily="34" charset="-122"/>
                <a:cs typeface="Inter" pitchFamily="34" charset="-120"/>
              </a:rPr>
              <a:t>(required)</a:t>
            </a:r>
            <a:endParaRPr lang="en-US" sz="1200" dirty="0"/>
          </a:p>
        </p:txBody>
      </p:sp>
      <p:sp>
        <p:nvSpPr>
          <p:cNvPr id="6" name="Text 4"/>
          <p:cNvSpPr/>
          <p:nvPr/>
        </p:nvSpPr>
        <p:spPr>
          <a:xfrm>
            <a:off x="1076325" y="2463056"/>
            <a:ext cx="6330950" cy="372070"/>
          </a:xfrm>
          <a:prstGeom prst="roundRect">
            <a:avLst>
              <a:gd name="adj" fmla="val 5973"/>
            </a:avLst>
          </a:prstGeom>
          <a:solidFill>
            <a:srgbClr val="FFFEFB"/>
          </a:solidFill>
          <a:ln w="6350">
            <a:solidFill>
              <a:srgbClr val="8B9198"/>
            </a:solidFill>
            <a:prstDash val="solid"/>
          </a:ln>
        </p:spPr>
        <p:txBody>
          <a:bodyPr wrap="square" lIns="123666" tIns="72866" rIns="123666" bIns="47466"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Granite Shield</a:t>
            </a:r>
            <a:endParaRPr lang="en-US" sz="1200" dirty="0"/>
          </a:p>
        </p:txBody>
      </p:sp>
      <p:sp>
        <p:nvSpPr>
          <p:cNvPr id="7" name="Text 5"/>
          <p:cNvSpPr/>
          <p:nvPr/>
        </p:nvSpPr>
        <p:spPr>
          <a:xfrm>
            <a:off x="1073150" y="2889101"/>
            <a:ext cx="65274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Inter" pitchFamily="34" charset="0"/>
                <a:ea typeface="Inter" pitchFamily="34" charset="-122"/>
                <a:cs typeface="Inter" pitchFamily="34" charset="-120"/>
              </a:rPr>
              <a:t>Appears on every report header.</a:t>
            </a:r>
            <a:endParaRPr lang="en-US" sz="1200" dirty="0"/>
          </a:p>
        </p:txBody>
      </p:sp>
      <p:sp>
        <p:nvSpPr>
          <p:cNvPr id="8" name="Text 6"/>
          <p:cNvSpPr/>
          <p:nvPr/>
        </p:nvSpPr>
        <p:spPr>
          <a:xfrm>
            <a:off x="1073150" y="3280221"/>
            <a:ext cx="65274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C"/>
                </a:solidFill>
                <a:latin typeface="Inter" pitchFamily="34" charset="0"/>
                <a:ea typeface="Inter" pitchFamily="34" charset="-122"/>
                <a:cs typeface="Inter" pitchFamily="34" charset="-120"/>
              </a:rPr>
              <a:t>Grid reference (MGRS)</a:t>
            </a:r>
            <a:endParaRPr lang="en-US" sz="1200" dirty="0"/>
          </a:p>
        </p:txBody>
      </p:sp>
      <p:sp>
        <p:nvSpPr>
          <p:cNvPr id="9" name="Text 7"/>
          <p:cNvSpPr/>
          <p:nvPr/>
        </p:nvSpPr>
        <p:spPr>
          <a:xfrm>
            <a:off x="1079500" y="3550692"/>
            <a:ext cx="6324600" cy="365720"/>
          </a:xfrm>
          <a:prstGeom prst="roundRect">
            <a:avLst>
              <a:gd name="adj" fmla="val 5209"/>
            </a:avLst>
          </a:prstGeom>
          <a:solidFill>
            <a:srgbClr val="FFFEFB"/>
          </a:solidFill>
          <a:ln w="12700">
            <a:solidFill>
              <a:srgbClr val="C2362B"/>
            </a:solidFill>
            <a:prstDash val="solid"/>
          </a:ln>
        </p:spPr>
        <p:txBody>
          <a:bodyPr wrap="square" lIns="121420" tIns="70620" rIns="121420" bIns="4522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18S UJ 2234 064</a:t>
            </a:r>
            <a:endParaRPr lang="en-US" sz="1200" dirty="0"/>
          </a:p>
        </p:txBody>
      </p:sp>
      <p:pic>
        <p:nvPicPr>
          <p:cNvPr id="10" name="Image 0" descr="Warning">    </p:cNvPr>
          <p:cNvPicPr>
            <a:picLocks noChangeAspect="1"/>
          </p:cNvPicPr>
          <p:nvPr/>
        </p:nvPicPr>
        <p:blipFill>
          <a:blip r:embed="rId1"/>
          <a:srcRect l="0" r="0" t="0" b="0"/>
          <a:stretch/>
        </p:blipFill>
        <p:spPr>
          <a:xfrm>
            <a:off x="1073150" y="3991322"/>
            <a:ext cx="177800" cy="177800"/>
          </a:xfrm>
          <a:prstGeom prst="rect">
            <a:avLst/>
          </a:prstGeom>
        </p:spPr>
      </p:pic>
      <p:sp>
        <p:nvSpPr>
          <p:cNvPr id="11" name="Text 8"/>
          <p:cNvSpPr/>
          <p:nvPr/>
        </p:nvSpPr>
        <p:spPr>
          <a:xfrm>
            <a:off x="1327150" y="3973562"/>
            <a:ext cx="44793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2A20"/>
                </a:solidFill>
                <a:latin typeface="Inter" pitchFamily="34" charset="0"/>
                <a:ea typeface="Inter" pitchFamily="34" charset="-122"/>
                <a:cs typeface="Inter" pitchFamily="34" charset="-120"/>
              </a:rPr>
              <a:t>Enter a 10-digit reference, like 18S UJ 22348 06471.</a:t>
            </a:r>
            <a:endParaRPr lang="en-US" sz="1200" dirty="0"/>
          </a:p>
        </p:txBody>
      </p:sp>
      <p:sp>
        <p:nvSpPr>
          <p:cNvPr id="12" name="Text 9"/>
          <p:cNvSpPr/>
          <p:nvPr/>
        </p:nvSpPr>
        <p:spPr>
          <a:xfrm>
            <a:off x="1073150" y="4364682"/>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C"/>
                </a:solidFill>
                <a:latin typeface="Inter" pitchFamily="34" charset="0"/>
                <a:ea typeface="Inter" pitchFamily="34" charset="-122"/>
                <a:cs typeface="Inter" pitchFamily="34" charset="-120"/>
              </a:rPr>
              <a:t>Priority</a:t>
            </a:r>
            <a:endParaRPr lang="en-US" sz="1200" dirty="0"/>
          </a:p>
        </p:txBody>
      </p:sp>
      <p:sp>
        <p:nvSpPr>
          <p:cNvPr id="13" name="Shape 10"/>
          <p:cNvSpPr/>
          <p:nvPr/>
        </p:nvSpPr>
        <p:spPr>
          <a:xfrm>
            <a:off x="1079500" y="4635153"/>
            <a:ext cx="1638300" cy="365720"/>
          </a:xfrm>
          <a:prstGeom prst="roundRect">
            <a:avLst>
              <a:gd name="adj" fmla="val 5209"/>
            </a:avLst>
          </a:prstGeom>
          <a:solidFill>
            <a:srgbClr val="FFFEFB"/>
          </a:solidFill>
          <a:ln w="12700">
            <a:solidFill>
              <a:srgbClr val="2F5FD0"/>
            </a:solidFill>
            <a:prstDash val="solid"/>
          </a:ln>
          <a:effectLst>
            <a:outerShdw sx="100000" sy="100000" kx="0" ky="0" algn="bl" rotWithShape="0" blurRad="19050" dist="0" dir="60000">
              <a:srgbClr val="2F5FD0">
                <a:alpha val="22000"/>
              </a:srgbClr>
            </a:outerShdw>
          </a:effectLst>
        </p:spPr>
      </p:sp>
      <p:sp>
        <p:nvSpPr>
          <p:cNvPr id="14" name="Text 11"/>
          <p:cNvSpPr/>
          <p:nvPr/>
        </p:nvSpPr>
        <p:spPr>
          <a:xfrm>
            <a:off x="1206500" y="4711353"/>
            <a:ext cx="4005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High</a:t>
            </a:r>
            <a:endParaRPr lang="en-US" sz="1200" dirty="0"/>
          </a:p>
        </p:txBody>
      </p:sp>
      <p:pic>
        <p:nvPicPr>
          <p:cNvPr id="15" name="Image 1" descr="Open menu">    </p:cNvPr>
          <p:cNvPicPr>
            <a:picLocks noChangeAspect="1"/>
          </p:cNvPicPr>
          <p:nvPr/>
        </p:nvPicPr>
        <p:blipFill>
          <a:blip r:embed="rId2"/>
          <a:srcRect l="0" r="0" t="0" b="0"/>
          <a:stretch/>
        </p:blipFill>
        <p:spPr>
          <a:xfrm>
            <a:off x="2438400" y="4741813"/>
            <a:ext cx="152400" cy="152400"/>
          </a:xfrm>
          <a:prstGeom prst="rect">
            <a:avLst/>
          </a:prstGeom>
        </p:spPr>
      </p:pic>
      <p:sp>
        <p:nvSpPr>
          <p:cNvPr id="16" name="Shape 12"/>
          <p:cNvSpPr/>
          <p:nvPr/>
        </p:nvSpPr>
        <p:spPr>
          <a:xfrm>
            <a:off x="2978150" y="4710063"/>
            <a:ext cx="203200" cy="203200"/>
          </a:xfrm>
          <a:prstGeom prst="roundRect">
            <a:avLst>
              <a:gd name="adj" fmla="val 12500"/>
            </a:avLst>
          </a:prstGeom>
          <a:solidFill>
            <a:srgbClr val="2F5FD0"/>
          </a:solidFill>
          <a:ln/>
        </p:spPr>
      </p:sp>
      <p:pic>
        <p:nvPicPr>
          <p:cNvPr id="17" name="Image 2" descr="Check">    </p:cNvPr>
          <p:cNvPicPr>
            <a:picLocks noChangeAspect="1"/>
          </p:cNvPicPr>
          <p:nvPr/>
        </p:nvPicPr>
        <p:blipFill>
          <a:blip r:embed="rId3"/>
          <a:srcRect l="0" r="0" t="0" b="0"/>
          <a:stretch/>
        </p:blipFill>
        <p:spPr>
          <a:xfrm>
            <a:off x="3003550" y="4735463"/>
            <a:ext cx="152400" cy="152400"/>
          </a:xfrm>
          <a:prstGeom prst="rect">
            <a:avLst/>
          </a:prstGeom>
        </p:spPr>
      </p:pic>
      <p:sp>
        <p:nvSpPr>
          <p:cNvPr id="18" name="Text 13"/>
          <p:cNvSpPr/>
          <p:nvPr/>
        </p:nvSpPr>
        <p:spPr>
          <a:xfrm>
            <a:off x="3257550" y="4705003"/>
            <a:ext cx="16790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Notify watch officer</a:t>
            </a:r>
            <a:endParaRPr lang="en-US" sz="1200" dirty="0"/>
          </a:p>
        </p:txBody>
      </p:sp>
      <p:sp>
        <p:nvSpPr>
          <p:cNvPr id="19" name="Shape 14"/>
          <p:cNvSpPr/>
          <p:nvPr/>
        </p:nvSpPr>
        <p:spPr>
          <a:xfrm>
            <a:off x="4936579" y="4702423"/>
            <a:ext cx="381000" cy="215900"/>
          </a:xfrm>
          <a:prstGeom prst="roundRect">
            <a:avLst>
              <a:gd name="adj" fmla="val 50000"/>
            </a:avLst>
          </a:prstGeom>
          <a:solidFill>
            <a:srgbClr val="2F5FD0"/>
          </a:solidFill>
          <a:ln/>
        </p:spPr>
      </p:sp>
      <p:sp>
        <p:nvSpPr>
          <p:cNvPr id="20" name="Shape 15"/>
          <p:cNvSpPr/>
          <p:nvPr/>
        </p:nvSpPr>
        <p:spPr>
          <a:xfrm>
            <a:off x="5127079" y="4727823"/>
            <a:ext cx="165100" cy="165100"/>
          </a:xfrm>
          <a:prstGeom prst="roundRect">
            <a:avLst>
              <a:gd name="adj" fmla="val 50000"/>
            </a:avLst>
          </a:prstGeom>
          <a:solidFill>
            <a:srgbClr val="F3EFE6"/>
          </a:solidFill>
          <a:ln/>
        </p:spPr>
      </p:sp>
      <p:sp>
        <p:nvSpPr>
          <p:cNvPr id="21" name="Text 16"/>
          <p:cNvSpPr/>
          <p:nvPr/>
        </p:nvSpPr>
        <p:spPr>
          <a:xfrm>
            <a:off x="5393779" y="4703713"/>
            <a:ext cx="7842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Compact</a:t>
            </a:r>
            <a:endParaRPr lang="en-US" sz="1200" dirty="0"/>
          </a:p>
        </p:txBody>
      </p:sp>
      <p:sp>
        <p:nvSpPr>
          <p:cNvPr id="22" name="Shape 17"/>
          <p:cNvSpPr/>
          <p:nvPr/>
        </p:nvSpPr>
        <p:spPr>
          <a:xfrm>
            <a:off x="8077200" y="1941761"/>
            <a:ext cx="3302000" cy="0"/>
          </a:xfrm>
          <a:prstGeom prst="line">
            <a:avLst/>
          </a:prstGeom>
          <a:noFill/>
          <a:ln w="12700">
            <a:solidFill>
              <a:srgbClr val="15181C"/>
            </a:solidFill>
            <a:prstDash val="solid"/>
          </a:ln>
        </p:spPr>
      </p:sp>
      <p:sp>
        <p:nvSpPr>
          <p:cNvPr id="23" name="Text 18"/>
          <p:cNvSpPr/>
          <p:nvPr/>
        </p:nvSpPr>
        <p:spPr>
          <a:xfrm>
            <a:off x="8077200" y="2075111"/>
            <a:ext cx="3401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Labels stay put</a:t>
            </a:r>
            <a:endParaRPr lang="en-US" sz="1600" dirty="0"/>
          </a:p>
        </p:txBody>
      </p:sp>
      <p:sp>
        <p:nvSpPr>
          <p:cNvPr id="24" name="Text 19"/>
          <p:cNvSpPr/>
          <p:nvPr/>
        </p:nvSpPr>
        <p:spPr>
          <a:xfrm>
            <a:off x="8077200" y="2369741"/>
            <a:ext cx="340106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Above the field, always visible. No placeholder-only labels.</a:t>
            </a:r>
            <a:endParaRPr lang="en-US" sz="1200" dirty="0"/>
          </a:p>
        </p:txBody>
      </p:sp>
      <p:sp>
        <p:nvSpPr>
          <p:cNvPr id="25" name="Shape 20"/>
          <p:cNvSpPr/>
          <p:nvPr/>
        </p:nvSpPr>
        <p:spPr>
          <a:xfrm>
            <a:off x="8077200" y="2941836"/>
            <a:ext cx="3302000" cy="0"/>
          </a:xfrm>
          <a:prstGeom prst="line">
            <a:avLst/>
          </a:prstGeom>
          <a:noFill/>
          <a:ln w="6350">
            <a:solidFill>
              <a:srgbClr val="C9C5BA"/>
            </a:solidFill>
            <a:prstDash val="solid"/>
          </a:ln>
        </p:spPr>
      </p:sp>
      <p:sp>
        <p:nvSpPr>
          <p:cNvPr id="26" name="Text 21"/>
          <p:cNvSpPr/>
          <p:nvPr/>
        </p:nvSpPr>
        <p:spPr>
          <a:xfrm>
            <a:off x="8077200" y="3072011"/>
            <a:ext cx="3401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Errors teach</a:t>
            </a:r>
            <a:endParaRPr lang="en-US" sz="1600" dirty="0"/>
          </a:p>
        </p:txBody>
      </p:sp>
      <p:sp>
        <p:nvSpPr>
          <p:cNvPr id="27" name="Text 22"/>
          <p:cNvSpPr/>
          <p:nvPr/>
        </p:nvSpPr>
        <p:spPr>
          <a:xfrm>
            <a:off x="8077200" y="3366641"/>
            <a:ext cx="340106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Say what went wrong and show a valid example.</a:t>
            </a:r>
            <a:endParaRPr lang="en-US" sz="1200" dirty="0"/>
          </a:p>
        </p:txBody>
      </p:sp>
      <p:sp>
        <p:nvSpPr>
          <p:cNvPr id="28" name="Shape 23"/>
          <p:cNvSpPr/>
          <p:nvPr/>
        </p:nvSpPr>
        <p:spPr>
          <a:xfrm>
            <a:off x="8077200" y="3938736"/>
            <a:ext cx="3302000" cy="0"/>
          </a:xfrm>
          <a:prstGeom prst="line">
            <a:avLst/>
          </a:prstGeom>
          <a:noFill/>
          <a:ln w="6350">
            <a:solidFill>
              <a:srgbClr val="C9C5BA"/>
            </a:solidFill>
            <a:prstDash val="solid"/>
          </a:ln>
        </p:spPr>
      </p:sp>
      <p:sp>
        <p:nvSpPr>
          <p:cNvPr id="29" name="Shape 24"/>
          <p:cNvSpPr/>
          <p:nvPr/>
        </p:nvSpPr>
        <p:spPr>
          <a:xfrm>
            <a:off x="8077200" y="4935637"/>
            <a:ext cx="3302000" cy="0"/>
          </a:xfrm>
          <a:prstGeom prst="line">
            <a:avLst/>
          </a:prstGeom>
          <a:noFill/>
          <a:ln w="6350">
            <a:solidFill>
              <a:srgbClr val="C9C5BA"/>
            </a:solidFill>
            <a:prstDash val="solid"/>
          </a:ln>
        </p:spPr>
      </p:sp>
      <p:sp>
        <p:nvSpPr>
          <p:cNvPr id="30" name="Text 25"/>
          <p:cNvSpPr/>
          <p:nvPr/>
        </p:nvSpPr>
        <p:spPr>
          <a:xfrm>
            <a:off x="8077200" y="4068911"/>
            <a:ext cx="3401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Keyboard first</a:t>
            </a:r>
            <a:endParaRPr lang="en-US" sz="1600" dirty="0"/>
          </a:p>
        </p:txBody>
      </p:sp>
      <p:sp>
        <p:nvSpPr>
          <p:cNvPr id="31" name="Text 26"/>
          <p:cNvSpPr/>
          <p:nvPr/>
        </p:nvSpPr>
        <p:spPr>
          <a:xfrm>
            <a:off x="8077200" y="4363541"/>
            <a:ext cx="340106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Full keyboard flow and visible focus for expert data entry.</a:t>
            </a:r>
            <a:endParaRPr lang="en-US" sz="1200" dirty="0"/>
          </a:p>
        </p:txBody>
      </p:sp>
      <p:sp>
        <p:nvSpPr>
          <p:cNvPr id="32"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33"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04 · COMPONENTS · DATA DISPLAY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Dense data, read at a glance.</a:t>
            </a:r>
            <a:endParaRPr lang="en-US" sz="3600" dirty="0"/>
          </a:p>
        </p:txBody>
      </p:sp>
      <p:sp>
        <p:nvSpPr>
          <p:cNvPr id="4" name="Shape 2"/>
          <p:cNvSpPr/>
          <p:nvPr/>
        </p:nvSpPr>
        <p:spPr>
          <a:xfrm>
            <a:off x="815975" y="1938586"/>
            <a:ext cx="3414167" cy="651470"/>
          </a:xfrm>
          <a:prstGeom prst="roundRect">
            <a:avLst>
              <a:gd name="adj" fmla="val 7310"/>
            </a:avLst>
          </a:prstGeom>
          <a:solidFill>
            <a:srgbClr val="FBF9F4"/>
          </a:solidFill>
          <a:ln w="6350">
            <a:solidFill>
              <a:srgbClr val="DCDAD3"/>
            </a:solidFill>
            <a:prstDash val="solid"/>
          </a:ln>
        </p:spPr>
      </p:sp>
      <p:sp>
        <p:nvSpPr>
          <p:cNvPr id="5" name="Text 3"/>
          <p:cNvSpPr/>
          <p:nvPr/>
        </p:nvSpPr>
        <p:spPr>
          <a:xfrm>
            <a:off x="996950" y="2068761"/>
            <a:ext cx="41957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5181C"/>
                </a:solidFill>
                <a:latin typeface="Archivo" pitchFamily="34" charset="0"/>
                <a:ea typeface="Archivo" pitchFamily="34" charset="-122"/>
                <a:cs typeface="Archivo" pitchFamily="34" charset="-120"/>
              </a:rPr>
              <a:t>41</a:t>
            </a:r>
            <a:endParaRPr lang="en-US" sz="2200" dirty="0"/>
          </a:p>
        </p:txBody>
      </p:sp>
      <p:sp>
        <p:nvSpPr>
          <p:cNvPr id="6" name="Text 4"/>
          <p:cNvSpPr/>
          <p:nvPr/>
        </p:nvSpPr>
        <p:spPr>
          <a:xfrm>
            <a:off x="1473597" y="2157661"/>
            <a:ext cx="12856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assets nominal</a:t>
            </a:r>
            <a:endParaRPr lang="en-US" sz="1200" dirty="0"/>
          </a:p>
        </p:txBody>
      </p:sp>
      <p:sp>
        <p:nvSpPr>
          <p:cNvPr id="7" name="Shape 5"/>
          <p:cNvSpPr/>
          <p:nvPr/>
        </p:nvSpPr>
        <p:spPr>
          <a:xfrm>
            <a:off x="4388892" y="1938586"/>
            <a:ext cx="3414216" cy="651470"/>
          </a:xfrm>
          <a:prstGeom prst="roundRect">
            <a:avLst>
              <a:gd name="adj" fmla="val 7310"/>
            </a:avLst>
          </a:prstGeom>
          <a:solidFill>
            <a:srgbClr val="FBF9F4"/>
          </a:solidFill>
          <a:ln w="6350">
            <a:solidFill>
              <a:srgbClr val="DCDAD3"/>
            </a:solidFill>
            <a:prstDash val="solid"/>
          </a:ln>
        </p:spPr>
      </p:sp>
      <p:sp>
        <p:nvSpPr>
          <p:cNvPr id="8" name="Text 6"/>
          <p:cNvSpPr/>
          <p:nvPr/>
        </p:nvSpPr>
        <p:spPr>
          <a:xfrm>
            <a:off x="4569867" y="2068761"/>
            <a:ext cx="22542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5181C"/>
                </a:solidFill>
                <a:latin typeface="Archivo" pitchFamily="34" charset="0"/>
                <a:ea typeface="Archivo" pitchFamily="34" charset="-122"/>
                <a:cs typeface="Archivo" pitchFamily="34" charset="-120"/>
              </a:rPr>
              <a:t>5</a:t>
            </a:r>
            <a:endParaRPr lang="en-US" sz="2200" dirty="0"/>
          </a:p>
        </p:txBody>
      </p:sp>
      <p:sp>
        <p:nvSpPr>
          <p:cNvPr id="9" name="Text 7"/>
          <p:cNvSpPr/>
          <p:nvPr/>
        </p:nvSpPr>
        <p:spPr>
          <a:xfrm>
            <a:off x="4871492" y="2157661"/>
            <a:ext cx="14412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assets degraded</a:t>
            </a:r>
            <a:endParaRPr lang="en-US" sz="1200" dirty="0"/>
          </a:p>
        </p:txBody>
      </p:sp>
      <p:sp>
        <p:nvSpPr>
          <p:cNvPr id="10" name="Shape 8"/>
          <p:cNvSpPr/>
          <p:nvPr/>
        </p:nvSpPr>
        <p:spPr>
          <a:xfrm>
            <a:off x="7961858" y="1938586"/>
            <a:ext cx="3414167" cy="651470"/>
          </a:xfrm>
          <a:prstGeom prst="roundRect">
            <a:avLst>
              <a:gd name="adj" fmla="val 7310"/>
            </a:avLst>
          </a:prstGeom>
          <a:solidFill>
            <a:srgbClr val="FBF9F4"/>
          </a:solidFill>
          <a:ln w="6350">
            <a:solidFill>
              <a:srgbClr val="DCDAD3"/>
            </a:solidFill>
            <a:prstDash val="solid"/>
          </a:ln>
        </p:spPr>
      </p:sp>
      <p:sp>
        <p:nvSpPr>
          <p:cNvPr id="11" name="Text 9"/>
          <p:cNvSpPr/>
          <p:nvPr/>
        </p:nvSpPr>
        <p:spPr>
          <a:xfrm>
            <a:off x="8142833" y="2068761"/>
            <a:ext cx="22557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5181C"/>
                </a:solidFill>
                <a:latin typeface="Archivo" pitchFamily="34" charset="0"/>
                <a:ea typeface="Archivo" pitchFamily="34" charset="-122"/>
                <a:cs typeface="Archivo" pitchFamily="34" charset="-120"/>
              </a:rPr>
              <a:t>2</a:t>
            </a:r>
            <a:endParaRPr lang="en-US" sz="2200" dirty="0"/>
          </a:p>
        </p:txBody>
      </p:sp>
      <p:sp>
        <p:nvSpPr>
          <p:cNvPr id="12" name="Text 10"/>
          <p:cNvSpPr/>
          <p:nvPr/>
        </p:nvSpPr>
        <p:spPr>
          <a:xfrm>
            <a:off x="8444607" y="2157661"/>
            <a:ext cx="11851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assets critical</a:t>
            </a:r>
            <a:endParaRPr lang="en-US" sz="1200" dirty="0"/>
          </a:p>
        </p:txBody>
      </p:sp>
      <p:sp>
        <p:nvSpPr>
          <p:cNvPr id="13" name="Shape 11"/>
          <p:cNvSpPr/>
          <p:nvPr/>
        </p:nvSpPr>
        <p:spPr>
          <a:xfrm>
            <a:off x="815975" y="2748806"/>
            <a:ext cx="10560050" cy="2384822"/>
          </a:xfrm>
          <a:prstGeom prst="roundRect">
            <a:avLst>
              <a:gd name="adj" fmla="val 1997"/>
            </a:avLst>
          </a:prstGeom>
          <a:solidFill>
            <a:srgbClr val="FBF9F4"/>
          </a:solidFill>
          <a:ln w="6350">
            <a:solidFill>
              <a:srgbClr val="DCDAD3"/>
            </a:solidFill>
            <a:prstDash val="solid"/>
          </a:ln>
        </p:spPr>
      </p:sp>
      <p:sp>
        <p:nvSpPr>
          <p:cNvPr id="14" name="Shape 12"/>
          <p:cNvSpPr/>
          <p:nvPr/>
        </p:nvSpPr>
        <p:spPr>
          <a:xfrm>
            <a:off x="819150" y="2751981"/>
            <a:ext cx="10553700" cy="391120"/>
          </a:xfrm>
          <a:prstGeom prst="rect">
            <a:avLst/>
          </a:prstGeom>
          <a:solidFill>
            <a:srgbClr val="EAE6DC"/>
          </a:solidFill>
          <a:ln/>
        </p:spPr>
      </p:sp>
      <p:sp>
        <p:nvSpPr>
          <p:cNvPr id="15" name="Text 13"/>
          <p:cNvSpPr/>
          <p:nvPr/>
        </p:nvSpPr>
        <p:spPr>
          <a:xfrm>
            <a:off x="996950" y="2840881"/>
            <a:ext cx="26260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159"/>
                </a:solidFill>
                <a:latin typeface="Inter" pitchFamily="34" charset="0"/>
                <a:ea typeface="Inter" pitchFamily="34" charset="-122"/>
                <a:cs typeface="Inter" pitchFamily="34" charset="-120"/>
              </a:rPr>
              <a:t>ASSET</a:t>
            </a:r>
            <a:endParaRPr lang="en-US" sz="1200" dirty="0"/>
          </a:p>
        </p:txBody>
      </p:sp>
      <p:sp>
        <p:nvSpPr>
          <p:cNvPr id="16" name="Text 14"/>
          <p:cNvSpPr/>
          <p:nvPr/>
        </p:nvSpPr>
        <p:spPr>
          <a:xfrm>
            <a:off x="3546475" y="2840881"/>
            <a:ext cx="26260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159"/>
                </a:solidFill>
                <a:latin typeface="Inter" pitchFamily="34" charset="0"/>
                <a:ea typeface="Inter" pitchFamily="34" charset="-122"/>
                <a:cs typeface="Inter" pitchFamily="34" charset="-120"/>
              </a:rPr>
              <a:t>STATUS</a:t>
            </a:r>
            <a:endParaRPr lang="en-US" sz="1200" dirty="0"/>
          </a:p>
        </p:txBody>
      </p:sp>
      <p:sp>
        <p:nvSpPr>
          <p:cNvPr id="17" name="Text 15"/>
          <p:cNvSpPr/>
          <p:nvPr/>
        </p:nvSpPr>
        <p:spPr>
          <a:xfrm>
            <a:off x="6096000" y="2840881"/>
            <a:ext cx="26260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159"/>
                </a:solidFill>
                <a:latin typeface="Inter" pitchFamily="34" charset="0"/>
                <a:ea typeface="Inter" pitchFamily="34" charset="-122"/>
                <a:cs typeface="Inter" pitchFamily="34" charset="-120"/>
              </a:rPr>
              <a:t>LAST CONTACT</a:t>
            </a:r>
            <a:endParaRPr lang="en-US" sz="1200" dirty="0"/>
          </a:p>
        </p:txBody>
      </p:sp>
      <p:sp>
        <p:nvSpPr>
          <p:cNvPr id="18" name="Text 16"/>
          <p:cNvSpPr/>
          <p:nvPr/>
        </p:nvSpPr>
        <p:spPr>
          <a:xfrm>
            <a:off x="8645525" y="2840881"/>
            <a:ext cx="26260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159"/>
                </a:solidFill>
                <a:latin typeface="Inter" pitchFamily="34" charset="0"/>
                <a:ea typeface="Inter" pitchFamily="34" charset="-122"/>
                <a:cs typeface="Inter" pitchFamily="34" charset="-120"/>
              </a:rPr>
              <a:t>OWNER</a:t>
            </a:r>
            <a:endParaRPr lang="en-US" sz="1200" dirty="0"/>
          </a:p>
        </p:txBody>
      </p:sp>
      <p:sp>
        <p:nvSpPr>
          <p:cNvPr id="19" name="Shape 17"/>
          <p:cNvSpPr/>
          <p:nvPr/>
        </p:nvSpPr>
        <p:spPr>
          <a:xfrm>
            <a:off x="819150" y="3146276"/>
            <a:ext cx="10553700" cy="0"/>
          </a:xfrm>
          <a:prstGeom prst="line">
            <a:avLst/>
          </a:prstGeom>
          <a:noFill/>
          <a:ln w="6350">
            <a:solidFill>
              <a:srgbClr val="DCDAD3"/>
            </a:solidFill>
            <a:prstDash val="solid"/>
          </a:ln>
        </p:spPr>
      </p:sp>
      <p:sp>
        <p:nvSpPr>
          <p:cNvPr id="20" name="Text 18"/>
          <p:cNvSpPr/>
          <p:nvPr/>
        </p:nvSpPr>
        <p:spPr>
          <a:xfrm>
            <a:off x="996950" y="3238351"/>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SAT-0412</a:t>
            </a:r>
            <a:endParaRPr lang="en-US" sz="1200" dirty="0"/>
          </a:p>
        </p:txBody>
      </p:sp>
      <p:sp>
        <p:nvSpPr>
          <p:cNvPr id="21" name="Text 19"/>
          <p:cNvSpPr/>
          <p:nvPr/>
        </p:nvSpPr>
        <p:spPr>
          <a:xfrm>
            <a:off x="3546475" y="3225651"/>
            <a:ext cx="809377" cy="238720"/>
          </a:xfrm>
          <a:custGeom>
            <a:avLst/>
            <a:gdLst/>
            <a:ahLst/>
            <a:cxnLst/>
            <a:rect l="l" t="t" r="r" b="b"/>
            <a:pathLst>
              <a:path w="809377" h="238720">
                <a:moveTo>
                  <a:pt x="119360" y="0"/>
                </a:moveTo>
                <a:lnTo>
                  <a:pt x="690017" y="0"/>
                </a:lnTo>
                <a:arcTo hR="119360" wR="119360" stAng="16200000" swAng="5400000"/>
                <a:lnTo>
                  <a:pt x="809377"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BDF"/>
          </a:solidFill>
          <a:ln/>
        </p:spPr>
        <p:txBody>
          <a:bodyPr wrap="none" lIns="0" tIns="0" rIns="0" bIns="0" rtlCol="0" anchor="ctr">
            <a:normAutofit/>
          </a:bodyPr>
          <a:lstStyle/>
          <a:p>
            <a:pPr algn="ctr" indent="0" marL="0">
              <a:lnSpc>
                <a:spcPts val="1680"/>
              </a:lnSpc>
              <a:buNone/>
            </a:pPr>
            <a:r>
              <a:rPr lang="en-US" sz="1200" b="1" dirty="0">
                <a:solidFill>
                  <a:srgbClr val="17603B"/>
                </a:solidFill>
                <a:latin typeface="Inter" pitchFamily="34" charset="0"/>
                <a:ea typeface="Inter" pitchFamily="34" charset="-122"/>
                <a:cs typeface="Inter" pitchFamily="34" charset="-120"/>
              </a:rPr>
              <a:t>Nominal</a:t>
            </a:r>
            <a:endParaRPr lang="en-US" sz="1200" dirty="0"/>
          </a:p>
        </p:txBody>
      </p:sp>
      <p:sp>
        <p:nvSpPr>
          <p:cNvPr id="22" name="Text 20"/>
          <p:cNvSpPr/>
          <p:nvPr/>
        </p:nvSpPr>
        <p:spPr>
          <a:xfrm>
            <a:off x="6096000" y="3238351"/>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14:32:07Z</a:t>
            </a:r>
            <a:endParaRPr lang="en-US" sz="1200" dirty="0"/>
          </a:p>
        </p:txBody>
      </p:sp>
      <p:sp>
        <p:nvSpPr>
          <p:cNvPr id="23" name="Text 21"/>
          <p:cNvSpPr/>
          <p:nvPr/>
        </p:nvSpPr>
        <p:spPr>
          <a:xfrm>
            <a:off x="8645525" y="3238351"/>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Ops Cell 1</a:t>
            </a:r>
            <a:endParaRPr lang="en-US" sz="1200" dirty="0"/>
          </a:p>
        </p:txBody>
      </p:sp>
      <p:sp>
        <p:nvSpPr>
          <p:cNvPr id="24" name="Shape 22"/>
          <p:cNvSpPr/>
          <p:nvPr/>
        </p:nvSpPr>
        <p:spPr>
          <a:xfrm>
            <a:off x="819150" y="3543746"/>
            <a:ext cx="10553700" cy="0"/>
          </a:xfrm>
          <a:prstGeom prst="line">
            <a:avLst/>
          </a:prstGeom>
          <a:noFill/>
          <a:ln w="6350">
            <a:solidFill>
              <a:srgbClr val="DCDAD3"/>
            </a:solidFill>
            <a:prstDash val="solid"/>
          </a:ln>
        </p:spPr>
      </p:sp>
      <p:sp>
        <p:nvSpPr>
          <p:cNvPr id="25" name="Text 23"/>
          <p:cNvSpPr/>
          <p:nvPr/>
        </p:nvSpPr>
        <p:spPr>
          <a:xfrm>
            <a:off x="996950" y="3635821"/>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SAT-0418</a:t>
            </a:r>
            <a:endParaRPr lang="en-US" sz="1200" dirty="0"/>
          </a:p>
        </p:txBody>
      </p:sp>
      <p:sp>
        <p:nvSpPr>
          <p:cNvPr id="26" name="Text 24"/>
          <p:cNvSpPr/>
          <p:nvPr/>
        </p:nvSpPr>
        <p:spPr>
          <a:xfrm>
            <a:off x="3546475" y="3623121"/>
            <a:ext cx="925761" cy="238720"/>
          </a:xfrm>
          <a:custGeom>
            <a:avLst/>
            <a:gdLst/>
            <a:ahLst/>
            <a:cxnLst/>
            <a:rect l="l" t="t" r="r" b="b"/>
            <a:pathLst>
              <a:path w="925761" h="238720">
                <a:moveTo>
                  <a:pt x="119360" y="0"/>
                </a:moveTo>
                <a:lnTo>
                  <a:pt x="806400" y="0"/>
                </a:lnTo>
                <a:arcTo hR="119360" wR="119360" stAng="16200000" swAng="5400000"/>
                <a:lnTo>
                  <a:pt x="925761" y="119360"/>
                </a:lnTo>
                <a:arcTo hR="119360" wR="119360" stAng="0" swAng="5400000"/>
                <a:lnTo>
                  <a:pt x="119360" y="238720"/>
                </a:lnTo>
                <a:arcTo hR="119360" wR="119360" stAng="5400000" swAng="5400000"/>
                <a:lnTo>
                  <a:pt x="0" y="119360"/>
                </a:lnTo>
                <a:arcTo hR="119360" wR="119360" stAng="10800000" swAng="5400000"/>
                <a:close/>
              </a:path>
            </a:pathLst>
          </a:custGeom>
          <a:solidFill>
            <a:srgbClr val="F3E3C7"/>
          </a:solidFill>
          <a:ln/>
        </p:spPr>
        <p:txBody>
          <a:bodyPr wrap="none" lIns="0" tIns="0" rIns="0" bIns="0" rtlCol="0" anchor="ctr">
            <a:normAutofit/>
          </a:bodyPr>
          <a:lstStyle/>
          <a:p>
            <a:pPr algn="ctr" indent="0" marL="0">
              <a:lnSpc>
                <a:spcPts val="1680"/>
              </a:lnSpc>
              <a:buNone/>
            </a:pPr>
            <a:r>
              <a:rPr lang="en-US" sz="1200" b="1" dirty="0">
                <a:solidFill>
                  <a:srgbClr val="7A4700"/>
                </a:solidFill>
                <a:latin typeface="Inter" pitchFamily="34" charset="0"/>
                <a:ea typeface="Inter" pitchFamily="34" charset="-122"/>
                <a:cs typeface="Inter" pitchFamily="34" charset="-120"/>
              </a:rPr>
              <a:t>Degraded</a:t>
            </a:r>
            <a:endParaRPr lang="en-US" sz="1200" dirty="0"/>
          </a:p>
        </p:txBody>
      </p:sp>
      <p:sp>
        <p:nvSpPr>
          <p:cNvPr id="27" name="Text 25"/>
          <p:cNvSpPr/>
          <p:nvPr/>
        </p:nvSpPr>
        <p:spPr>
          <a:xfrm>
            <a:off x="6096000" y="3635821"/>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14:29:51Z</a:t>
            </a:r>
            <a:endParaRPr lang="en-US" sz="1200" dirty="0"/>
          </a:p>
        </p:txBody>
      </p:sp>
      <p:sp>
        <p:nvSpPr>
          <p:cNvPr id="28" name="Text 26"/>
          <p:cNvSpPr/>
          <p:nvPr/>
        </p:nvSpPr>
        <p:spPr>
          <a:xfrm>
            <a:off x="8645525" y="3635821"/>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Ops Cell 1</a:t>
            </a:r>
            <a:endParaRPr lang="en-US" sz="1200" dirty="0"/>
          </a:p>
        </p:txBody>
      </p:sp>
      <p:sp>
        <p:nvSpPr>
          <p:cNvPr id="29" name="Shape 27"/>
          <p:cNvSpPr/>
          <p:nvPr/>
        </p:nvSpPr>
        <p:spPr>
          <a:xfrm>
            <a:off x="819150" y="3941217"/>
            <a:ext cx="10553700" cy="0"/>
          </a:xfrm>
          <a:prstGeom prst="line">
            <a:avLst/>
          </a:prstGeom>
          <a:noFill/>
          <a:ln w="6350">
            <a:solidFill>
              <a:srgbClr val="DCDAD3"/>
            </a:solidFill>
            <a:prstDash val="solid"/>
          </a:ln>
        </p:spPr>
      </p:sp>
      <p:sp>
        <p:nvSpPr>
          <p:cNvPr id="30" name="Text 28"/>
          <p:cNvSpPr/>
          <p:nvPr/>
        </p:nvSpPr>
        <p:spPr>
          <a:xfrm>
            <a:off x="996950" y="403329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GRD-1107</a:t>
            </a:r>
            <a:endParaRPr lang="en-US" sz="1200" dirty="0"/>
          </a:p>
        </p:txBody>
      </p:sp>
      <p:sp>
        <p:nvSpPr>
          <p:cNvPr id="31" name="Text 29"/>
          <p:cNvSpPr/>
          <p:nvPr/>
        </p:nvSpPr>
        <p:spPr>
          <a:xfrm>
            <a:off x="3546475" y="4020592"/>
            <a:ext cx="809377" cy="238720"/>
          </a:xfrm>
          <a:custGeom>
            <a:avLst/>
            <a:gdLst/>
            <a:ahLst/>
            <a:cxnLst/>
            <a:rect l="l" t="t" r="r" b="b"/>
            <a:pathLst>
              <a:path w="809377" h="238720">
                <a:moveTo>
                  <a:pt x="119360" y="0"/>
                </a:moveTo>
                <a:lnTo>
                  <a:pt x="690017" y="0"/>
                </a:lnTo>
                <a:arcTo hR="119360" wR="119360" stAng="16200000" swAng="5400000"/>
                <a:lnTo>
                  <a:pt x="809377"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BDF"/>
          </a:solidFill>
          <a:ln/>
        </p:spPr>
        <p:txBody>
          <a:bodyPr wrap="none" lIns="0" tIns="0" rIns="0" bIns="0" rtlCol="0" anchor="ctr">
            <a:normAutofit/>
          </a:bodyPr>
          <a:lstStyle/>
          <a:p>
            <a:pPr algn="ctr" indent="0" marL="0">
              <a:lnSpc>
                <a:spcPts val="1680"/>
              </a:lnSpc>
              <a:buNone/>
            </a:pPr>
            <a:r>
              <a:rPr lang="en-US" sz="1200" b="1" dirty="0">
                <a:solidFill>
                  <a:srgbClr val="17603B"/>
                </a:solidFill>
                <a:latin typeface="Inter" pitchFamily="34" charset="0"/>
                <a:ea typeface="Inter" pitchFamily="34" charset="-122"/>
                <a:cs typeface="Inter" pitchFamily="34" charset="-120"/>
              </a:rPr>
              <a:t>Nominal</a:t>
            </a:r>
            <a:endParaRPr lang="en-US" sz="1200" dirty="0"/>
          </a:p>
        </p:txBody>
      </p:sp>
      <p:sp>
        <p:nvSpPr>
          <p:cNvPr id="32" name="Text 30"/>
          <p:cNvSpPr/>
          <p:nvPr/>
        </p:nvSpPr>
        <p:spPr>
          <a:xfrm>
            <a:off x="6096000" y="403329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14:31:40Z</a:t>
            </a:r>
            <a:endParaRPr lang="en-US" sz="1200" dirty="0"/>
          </a:p>
        </p:txBody>
      </p:sp>
      <p:sp>
        <p:nvSpPr>
          <p:cNvPr id="33" name="Text 31"/>
          <p:cNvSpPr/>
          <p:nvPr/>
        </p:nvSpPr>
        <p:spPr>
          <a:xfrm>
            <a:off x="8645525" y="403329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Ground Team B</a:t>
            </a:r>
            <a:endParaRPr lang="en-US" sz="1200" dirty="0"/>
          </a:p>
        </p:txBody>
      </p:sp>
      <p:sp>
        <p:nvSpPr>
          <p:cNvPr id="34" name="Shape 32"/>
          <p:cNvSpPr/>
          <p:nvPr/>
        </p:nvSpPr>
        <p:spPr>
          <a:xfrm>
            <a:off x="819150" y="4338687"/>
            <a:ext cx="10553700" cy="0"/>
          </a:xfrm>
          <a:prstGeom prst="line">
            <a:avLst/>
          </a:prstGeom>
          <a:noFill/>
          <a:ln w="6350">
            <a:solidFill>
              <a:srgbClr val="DCDAD3"/>
            </a:solidFill>
            <a:prstDash val="solid"/>
          </a:ln>
        </p:spPr>
      </p:sp>
      <p:sp>
        <p:nvSpPr>
          <p:cNvPr id="35" name="Text 33"/>
          <p:cNvSpPr/>
          <p:nvPr/>
        </p:nvSpPr>
        <p:spPr>
          <a:xfrm>
            <a:off x="996950" y="443076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GRD-1123</a:t>
            </a:r>
            <a:endParaRPr lang="en-US" sz="1200" dirty="0"/>
          </a:p>
        </p:txBody>
      </p:sp>
      <p:sp>
        <p:nvSpPr>
          <p:cNvPr id="36" name="Text 34"/>
          <p:cNvSpPr/>
          <p:nvPr/>
        </p:nvSpPr>
        <p:spPr>
          <a:xfrm>
            <a:off x="3546475" y="4418062"/>
            <a:ext cx="728117" cy="238720"/>
          </a:xfrm>
          <a:custGeom>
            <a:avLst/>
            <a:gdLst/>
            <a:ahLst/>
            <a:cxnLst/>
            <a:rect l="l" t="t" r="r" b="b"/>
            <a:pathLst>
              <a:path w="728117" h="238720">
                <a:moveTo>
                  <a:pt x="119360" y="0"/>
                </a:moveTo>
                <a:lnTo>
                  <a:pt x="608757" y="0"/>
                </a:lnTo>
                <a:arcTo hR="119360" wR="119360" stAng="16200000" swAng="5400000"/>
                <a:lnTo>
                  <a:pt x="728117" y="119360"/>
                </a:lnTo>
                <a:arcTo hR="119360" wR="119360" stAng="0" swAng="5400000"/>
                <a:lnTo>
                  <a:pt x="119360" y="238720"/>
                </a:lnTo>
                <a:arcTo hR="119360" wR="119360" stAng="5400000" swAng="5400000"/>
                <a:lnTo>
                  <a:pt x="0" y="119360"/>
                </a:lnTo>
                <a:arcTo hR="119360" wR="119360" stAng="10800000" swAng="5400000"/>
                <a:close/>
              </a:path>
            </a:pathLst>
          </a:custGeom>
          <a:solidFill>
            <a:srgbClr val="F5DAD6"/>
          </a:solidFill>
          <a:ln/>
        </p:spPr>
        <p:txBody>
          <a:bodyPr wrap="none" lIns="0" tIns="0" rIns="0" bIns="0" rtlCol="0" anchor="ctr">
            <a:normAutofit/>
          </a:bodyPr>
          <a:lstStyle/>
          <a:p>
            <a:pPr algn="ctr" indent="0" marL="0">
              <a:lnSpc>
                <a:spcPts val="1680"/>
              </a:lnSpc>
              <a:buNone/>
            </a:pPr>
            <a:r>
              <a:rPr lang="en-US" sz="1200" b="1" dirty="0">
                <a:solidFill>
                  <a:srgbClr val="9E2A20"/>
                </a:solidFill>
                <a:latin typeface="Inter" pitchFamily="34" charset="0"/>
                <a:ea typeface="Inter" pitchFamily="34" charset="-122"/>
                <a:cs typeface="Inter" pitchFamily="34" charset="-120"/>
              </a:rPr>
              <a:t>Critical</a:t>
            </a:r>
            <a:endParaRPr lang="en-US" sz="1200" dirty="0"/>
          </a:p>
        </p:txBody>
      </p:sp>
      <p:sp>
        <p:nvSpPr>
          <p:cNvPr id="37" name="Text 35"/>
          <p:cNvSpPr/>
          <p:nvPr/>
        </p:nvSpPr>
        <p:spPr>
          <a:xfrm>
            <a:off x="6096000" y="443076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13:58:02Z</a:t>
            </a:r>
            <a:endParaRPr lang="en-US" sz="1200" dirty="0"/>
          </a:p>
        </p:txBody>
      </p:sp>
      <p:sp>
        <p:nvSpPr>
          <p:cNvPr id="38" name="Text 36"/>
          <p:cNvSpPr/>
          <p:nvPr/>
        </p:nvSpPr>
        <p:spPr>
          <a:xfrm>
            <a:off x="8645525" y="443076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Ground Team B</a:t>
            </a:r>
            <a:endParaRPr lang="en-US" sz="1200" dirty="0"/>
          </a:p>
        </p:txBody>
      </p:sp>
      <p:sp>
        <p:nvSpPr>
          <p:cNvPr id="39" name="Shape 37"/>
          <p:cNvSpPr/>
          <p:nvPr/>
        </p:nvSpPr>
        <p:spPr>
          <a:xfrm>
            <a:off x="819150" y="4736157"/>
            <a:ext cx="10553700" cy="0"/>
          </a:xfrm>
          <a:prstGeom prst="line">
            <a:avLst/>
          </a:prstGeom>
          <a:noFill/>
          <a:ln w="6350">
            <a:solidFill>
              <a:srgbClr val="DCDAD3"/>
            </a:solidFill>
            <a:prstDash val="solid"/>
          </a:ln>
        </p:spPr>
      </p:sp>
      <p:sp>
        <p:nvSpPr>
          <p:cNvPr id="40" name="Text 38"/>
          <p:cNvSpPr/>
          <p:nvPr/>
        </p:nvSpPr>
        <p:spPr>
          <a:xfrm>
            <a:off x="996950" y="482823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RLY-0031</a:t>
            </a:r>
            <a:endParaRPr lang="en-US" sz="1200" dirty="0"/>
          </a:p>
        </p:txBody>
      </p:sp>
      <p:sp>
        <p:nvSpPr>
          <p:cNvPr id="41" name="Text 39"/>
          <p:cNvSpPr/>
          <p:nvPr/>
        </p:nvSpPr>
        <p:spPr>
          <a:xfrm>
            <a:off x="3546475" y="4815532"/>
            <a:ext cx="695722" cy="238720"/>
          </a:xfrm>
          <a:custGeom>
            <a:avLst/>
            <a:gdLst/>
            <a:ahLst/>
            <a:cxnLst/>
            <a:rect l="l" t="t" r="r" b="b"/>
            <a:pathLst>
              <a:path w="695722" h="238720">
                <a:moveTo>
                  <a:pt x="119360" y="0"/>
                </a:moveTo>
                <a:lnTo>
                  <a:pt x="576362" y="0"/>
                </a:lnTo>
                <a:arcTo hR="119360" wR="119360" stAng="16200000" swAng="5400000"/>
                <a:lnTo>
                  <a:pt x="695722" y="119360"/>
                </a:lnTo>
                <a:arcTo hR="119360" wR="119360" stAng="0" swAng="5400000"/>
                <a:lnTo>
                  <a:pt x="119360" y="238720"/>
                </a:lnTo>
                <a:arcTo hR="119360" wR="119360" stAng="5400000" swAng="5400000"/>
                <a:lnTo>
                  <a:pt x="0" y="119360"/>
                </a:lnTo>
                <a:arcTo hR="119360" wR="119360" stAng="10800000" swAng="5400000"/>
                <a:close/>
              </a:path>
            </a:pathLst>
          </a:custGeom>
          <a:solidFill>
            <a:srgbClr val="E4E2DC"/>
          </a:solidFill>
          <a:ln/>
        </p:spPr>
        <p:txBody>
          <a:bodyPr wrap="none" lIns="0" tIns="0" rIns="0" bIns="0" rtlCol="0" anchor="ctr">
            <a:normAutofit/>
          </a:bodyPr>
          <a:lstStyle/>
          <a:p>
            <a:pPr algn="ctr" indent="0" marL="0">
              <a:lnSpc>
                <a:spcPts val="1680"/>
              </a:lnSpc>
              <a:buNone/>
            </a:pPr>
            <a:r>
              <a:rPr lang="en-US" sz="1200" b="1" dirty="0">
                <a:solidFill>
                  <a:srgbClr val="4A5159"/>
                </a:solidFill>
                <a:latin typeface="Inter" pitchFamily="34" charset="0"/>
                <a:ea typeface="Inter" pitchFamily="34" charset="-122"/>
                <a:cs typeface="Inter" pitchFamily="34" charset="-120"/>
              </a:rPr>
              <a:t>Offline</a:t>
            </a:r>
            <a:endParaRPr lang="en-US" sz="1200" dirty="0"/>
          </a:p>
        </p:txBody>
      </p:sp>
      <p:sp>
        <p:nvSpPr>
          <p:cNvPr id="42" name="Text 40"/>
          <p:cNvSpPr/>
          <p:nvPr/>
        </p:nvSpPr>
        <p:spPr>
          <a:xfrm>
            <a:off x="6096000" y="482823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11:04:16Z</a:t>
            </a:r>
            <a:endParaRPr lang="en-US" sz="1200" dirty="0"/>
          </a:p>
        </p:txBody>
      </p:sp>
      <p:sp>
        <p:nvSpPr>
          <p:cNvPr id="43" name="Text 41"/>
          <p:cNvSpPr/>
          <p:nvPr/>
        </p:nvSpPr>
        <p:spPr>
          <a:xfrm>
            <a:off x="8645525" y="4828232"/>
            <a:ext cx="262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Inter" pitchFamily="34" charset="0"/>
                <a:ea typeface="Inter" pitchFamily="34" charset="-122"/>
                <a:cs typeface="Inter" pitchFamily="34" charset="-120"/>
              </a:rPr>
              <a:t>Relay Ops</a:t>
            </a:r>
            <a:endParaRPr lang="en-US" sz="1200" dirty="0"/>
          </a:p>
        </p:txBody>
      </p:sp>
      <p:sp>
        <p:nvSpPr>
          <p:cNvPr id="44" name="Text 4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 · ILLUSTRATIVE DATA</a:t>
            </a:r>
            <a:endParaRPr lang="en-US" sz="1200" dirty="0"/>
          </a:p>
        </p:txBody>
      </p:sp>
      <p:sp>
        <p:nvSpPr>
          <p:cNvPr id="45" name="Text 4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04 · COMPONENTS · SI PATTERNS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SI output earns trust by showing its work.</a:t>
            </a:r>
            <a:endParaRPr lang="en-US" sz="3600" dirty="0"/>
          </a:p>
        </p:txBody>
      </p:sp>
      <p:sp>
        <p:nvSpPr>
          <p:cNvPr id="4" name="Shape 2"/>
          <p:cNvSpPr/>
          <p:nvPr/>
        </p:nvSpPr>
        <p:spPr>
          <a:xfrm>
            <a:off x="815975" y="1938586"/>
            <a:ext cx="6089650" cy="3443883"/>
          </a:xfrm>
          <a:prstGeom prst="roundRect">
            <a:avLst>
              <a:gd name="adj" fmla="val 2120"/>
            </a:avLst>
          </a:prstGeom>
          <a:solidFill>
            <a:srgbClr val="FBF9F4"/>
          </a:solidFill>
          <a:ln w="6350">
            <a:solidFill>
              <a:srgbClr val="DCDAD3"/>
            </a:solidFill>
            <a:prstDash val="solid"/>
          </a:ln>
          <a:effectLst>
            <a:outerShdw sx="100000" sy="100000" kx="0" ky="0" algn="bl" rotWithShape="0" blurRad="19050" dist="6350" dir="5400000">
              <a:srgbClr val="15181C">
                <a:alpha val="18000"/>
              </a:srgbClr>
            </a:outerShdw>
          </a:effectLst>
        </p:spPr>
      </p:sp>
      <p:sp>
        <p:nvSpPr>
          <p:cNvPr id="5" name="Text 3"/>
          <p:cNvSpPr/>
          <p:nvPr/>
        </p:nvSpPr>
        <p:spPr>
          <a:xfrm>
            <a:off x="1047750" y="2170361"/>
            <a:ext cx="1300510" cy="264120"/>
          </a:xfrm>
          <a:custGeom>
            <a:avLst/>
            <a:gdLst/>
            <a:ahLst/>
            <a:cxnLst/>
            <a:rect l="l" t="t" r="r" b="b"/>
            <a:pathLst>
              <a:path w="1300510" h="264120">
                <a:moveTo>
                  <a:pt x="132060" y="0"/>
                </a:moveTo>
                <a:lnTo>
                  <a:pt x="1168450" y="0"/>
                </a:lnTo>
                <a:arcTo hR="132060" wR="132060" stAng="16200000" swAng="5400000"/>
                <a:lnTo>
                  <a:pt x="1300510" y="132060"/>
                </a:lnTo>
                <a:arcTo hR="132060" wR="132060" stAng="0" swAng="5400000"/>
                <a:lnTo>
                  <a:pt x="132060" y="264120"/>
                </a:lnTo>
                <a:arcTo hR="132060" wR="132060" stAng="5400000" swAng="5400000"/>
                <a:lnTo>
                  <a:pt x="0" y="132060"/>
                </a:lnTo>
                <a:arcTo hR="132060" wR="132060" stAng="10800000" swAng="5400000"/>
                <a:close/>
              </a:path>
            </a:pathLst>
          </a:custGeom>
          <a:solidFill>
            <a:srgbClr val="15181C"/>
          </a:solidFill>
          <a:ln/>
        </p:spPr>
        <p:txBody>
          <a:bodyPr wrap="none" lIns="0" tIns="0" rIns="0" bIns="0" rtlCol="0" anchor="ctr">
            <a:normAutofit/>
          </a:bodyPr>
          <a:lstStyle/>
          <a:p>
            <a:pPr algn="ctr"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SI-generated</a:t>
            </a:r>
            <a:endParaRPr lang="en-US" sz="1200" dirty="0"/>
          </a:p>
        </p:txBody>
      </p:sp>
      <p:sp>
        <p:nvSpPr>
          <p:cNvPr id="6" name="Text 4"/>
          <p:cNvSpPr/>
          <p:nvPr/>
        </p:nvSpPr>
        <p:spPr>
          <a:xfrm>
            <a:off x="6015434" y="2195761"/>
            <a:ext cx="6584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14:32Z</a:t>
            </a:r>
            <a:endParaRPr lang="en-US" sz="1200" dirty="0"/>
          </a:p>
        </p:txBody>
      </p:sp>
      <p:sp>
        <p:nvSpPr>
          <p:cNvPr id="7" name="Text 5"/>
          <p:cNvSpPr/>
          <p:nvPr/>
        </p:nvSpPr>
        <p:spPr>
          <a:xfrm>
            <a:off x="1047750" y="2561481"/>
            <a:ext cx="5794883"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5181C"/>
                </a:solidFill>
                <a:latin typeface="Inter" pitchFamily="34" charset="0"/>
                <a:ea typeface="Inter" pitchFamily="34" charset="-122"/>
                <a:cs typeface="Inter" pitchFamily="34" charset="-120"/>
              </a:rPr>
              <a:t>Vessel traffic through the northern channel is 40% above its 30-day baseline.</a:t>
            </a:r>
            <a:endParaRPr lang="en-US" sz="1600" dirty="0"/>
          </a:p>
        </p:txBody>
      </p:sp>
      <p:sp>
        <p:nvSpPr>
          <p:cNvPr id="8" name="Text 6"/>
          <p:cNvSpPr/>
          <p:nvPr/>
        </p:nvSpPr>
        <p:spPr>
          <a:xfrm>
            <a:off x="1047750" y="3216721"/>
            <a:ext cx="9357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Confidence</a:t>
            </a:r>
            <a:endParaRPr lang="en-US" sz="1200" dirty="0"/>
          </a:p>
        </p:txBody>
      </p:sp>
      <p:sp>
        <p:nvSpPr>
          <p:cNvPr id="9" name="Shape 7"/>
          <p:cNvSpPr/>
          <p:nvPr/>
        </p:nvSpPr>
        <p:spPr>
          <a:xfrm>
            <a:off x="1983532" y="3285282"/>
            <a:ext cx="304800" cy="76200"/>
          </a:xfrm>
          <a:prstGeom prst="roundRect">
            <a:avLst>
              <a:gd name="adj" fmla="val 16667"/>
            </a:avLst>
          </a:prstGeom>
          <a:solidFill>
            <a:srgbClr val="7A5C30"/>
          </a:solidFill>
          <a:ln/>
        </p:spPr>
      </p:sp>
      <p:sp>
        <p:nvSpPr>
          <p:cNvPr id="10" name="Shape 8"/>
          <p:cNvSpPr/>
          <p:nvPr/>
        </p:nvSpPr>
        <p:spPr>
          <a:xfrm>
            <a:off x="2326432" y="3285282"/>
            <a:ext cx="304800" cy="76200"/>
          </a:xfrm>
          <a:prstGeom prst="roundRect">
            <a:avLst>
              <a:gd name="adj" fmla="val 16667"/>
            </a:avLst>
          </a:prstGeom>
          <a:solidFill>
            <a:srgbClr val="7A5C30"/>
          </a:solidFill>
          <a:ln/>
        </p:spPr>
      </p:sp>
      <p:sp>
        <p:nvSpPr>
          <p:cNvPr id="11" name="Shape 9"/>
          <p:cNvSpPr/>
          <p:nvPr/>
        </p:nvSpPr>
        <p:spPr>
          <a:xfrm>
            <a:off x="2669332" y="3285282"/>
            <a:ext cx="304800" cy="76200"/>
          </a:xfrm>
          <a:prstGeom prst="roundRect">
            <a:avLst>
              <a:gd name="adj" fmla="val 16667"/>
            </a:avLst>
          </a:prstGeom>
          <a:solidFill>
            <a:srgbClr val="DCDAD3"/>
          </a:solidFill>
          <a:ln/>
        </p:spPr>
      </p:sp>
      <p:sp>
        <p:nvSpPr>
          <p:cNvPr id="12" name="Text 10"/>
          <p:cNvSpPr/>
          <p:nvPr/>
        </p:nvSpPr>
        <p:spPr>
          <a:xfrm>
            <a:off x="3075732" y="3216721"/>
            <a:ext cx="8492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181C"/>
                </a:solidFill>
                <a:latin typeface="Inter" pitchFamily="34" charset="0"/>
                <a:ea typeface="Inter" pitchFamily="34" charset="-122"/>
                <a:cs typeface="Inter" pitchFamily="34" charset="-120"/>
              </a:rPr>
              <a:t>Moderate</a:t>
            </a:r>
            <a:endParaRPr lang="en-US" sz="1200" dirty="0"/>
          </a:p>
        </p:txBody>
      </p:sp>
      <p:sp>
        <p:nvSpPr>
          <p:cNvPr id="13" name="Shape 11"/>
          <p:cNvSpPr/>
          <p:nvPr/>
        </p:nvSpPr>
        <p:spPr>
          <a:xfrm>
            <a:off x="1047750" y="3560217"/>
            <a:ext cx="5626100" cy="0"/>
          </a:xfrm>
          <a:prstGeom prst="line">
            <a:avLst/>
          </a:prstGeom>
          <a:noFill/>
          <a:ln w="6350">
            <a:solidFill>
              <a:srgbClr val="DCDAD3"/>
            </a:solidFill>
            <a:prstDash val="solid"/>
          </a:ln>
        </p:spPr>
      </p:sp>
      <p:sp>
        <p:nvSpPr>
          <p:cNvPr id="14" name="Text 12"/>
          <p:cNvSpPr/>
          <p:nvPr/>
        </p:nvSpPr>
        <p:spPr>
          <a:xfrm>
            <a:off x="1047750" y="3664992"/>
            <a:ext cx="5794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159"/>
                </a:solidFill>
                <a:latin typeface="Inter" pitchFamily="34" charset="0"/>
                <a:ea typeface="Inter" pitchFamily="34" charset="-122"/>
                <a:cs typeface="Inter" pitchFamily="34" charset="-120"/>
              </a:rPr>
              <a:t>Based on 3 sources</a:t>
            </a:r>
            <a:endParaRPr lang="en-US" sz="1200" dirty="0"/>
          </a:p>
        </p:txBody>
      </p:sp>
      <p:sp>
        <p:nvSpPr>
          <p:cNvPr id="15" name="Text 13"/>
          <p:cNvSpPr/>
          <p:nvPr/>
        </p:nvSpPr>
        <p:spPr>
          <a:xfrm>
            <a:off x="1047750" y="3916412"/>
            <a:ext cx="5794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AIS feed · 1,204 tracks</a:t>
            </a:r>
            <a:endParaRPr lang="en-US" sz="1200" dirty="0"/>
          </a:p>
        </p:txBody>
      </p:sp>
      <p:sp>
        <p:nvSpPr>
          <p:cNvPr id="16" name="Text 14"/>
          <p:cNvSpPr/>
          <p:nvPr/>
        </p:nvSpPr>
        <p:spPr>
          <a:xfrm>
            <a:off x="1047750" y="4167832"/>
            <a:ext cx="5794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Port authority report · 26 Oct</a:t>
            </a:r>
            <a:endParaRPr lang="en-US" sz="1200" dirty="0"/>
          </a:p>
        </p:txBody>
      </p:sp>
      <p:sp>
        <p:nvSpPr>
          <p:cNvPr id="17" name="Text 15"/>
          <p:cNvSpPr/>
          <p:nvPr/>
        </p:nvSpPr>
        <p:spPr>
          <a:xfrm>
            <a:off x="1047750" y="4419253"/>
            <a:ext cx="5794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Analyst note · 25 Oct</a:t>
            </a:r>
            <a:endParaRPr lang="en-US" sz="1200" dirty="0"/>
          </a:p>
        </p:txBody>
      </p:sp>
      <p:sp>
        <p:nvSpPr>
          <p:cNvPr id="18" name="Text 16"/>
          <p:cNvSpPr/>
          <p:nvPr/>
        </p:nvSpPr>
        <p:spPr>
          <a:xfrm>
            <a:off x="1047750" y="4810373"/>
            <a:ext cx="830114" cy="340320"/>
          </a:xfrm>
          <a:prstGeom prst="roundRect">
            <a:avLst>
              <a:gd name="adj" fmla="val 7464"/>
            </a:avLst>
          </a:prstGeom>
          <a:solidFill>
            <a:srgbClr val="2F5FD0"/>
          </a:solidFill>
          <a:ln/>
        </p:spPr>
        <p:txBody>
          <a:bodyPr wrap="none" lIns="0" tIns="0" rIns="0" bIns="0" rtlCol="0" anchor="ctr">
            <a:normAutofit/>
          </a:bodyPr>
          <a:lstStyle/>
          <a:p>
            <a:pPr algn="ctr" indent="0" marL="0">
              <a:lnSpc>
                <a:spcPts val="1680"/>
              </a:lnSpc>
              <a:buNone/>
            </a:pPr>
            <a:r>
              <a:rPr lang="en-US" sz="1200" b="1" dirty="0">
                <a:solidFill>
                  <a:srgbClr val="F3EFE6"/>
                </a:solidFill>
                <a:latin typeface="Inter" pitchFamily="34" charset="0"/>
                <a:ea typeface="Inter" pitchFamily="34" charset="-122"/>
                <a:cs typeface="Inter" pitchFamily="34" charset="-120"/>
              </a:rPr>
              <a:t>Accept</a:t>
            </a:r>
            <a:endParaRPr lang="en-US" sz="1200" dirty="0"/>
          </a:p>
        </p:txBody>
      </p:sp>
      <p:sp>
        <p:nvSpPr>
          <p:cNvPr id="19" name="Text 17"/>
          <p:cNvSpPr/>
          <p:nvPr/>
        </p:nvSpPr>
        <p:spPr>
          <a:xfrm>
            <a:off x="1985814" y="4816723"/>
            <a:ext cx="573187" cy="327620"/>
          </a:xfrm>
          <a:prstGeom prst="roundRect">
            <a:avLst>
              <a:gd name="adj" fmla="val 5815"/>
            </a:avLst>
          </a:prstGeom>
          <a:noFill/>
          <a:ln w="12700">
            <a:solidFill>
              <a:srgbClr val="15181C"/>
            </a:solidFill>
            <a:prstDash val="solid"/>
          </a:ln>
        </p:spPr>
        <p:txBody>
          <a:bodyPr wrap="none" lIns="0" tIns="0" rIns="0" bIns="0" rtlCol="0" anchor="ctr">
            <a:normAutofit/>
          </a:bodyPr>
          <a:lstStyle/>
          <a:p>
            <a:pPr algn="ctr" indent="0" marL="0">
              <a:lnSpc>
                <a:spcPts val="1680"/>
              </a:lnSpc>
              <a:buNone/>
            </a:pPr>
            <a:r>
              <a:rPr lang="en-US" sz="1200" b="1" dirty="0">
                <a:solidFill>
                  <a:srgbClr val="15181C"/>
                </a:solidFill>
                <a:latin typeface="Inter" pitchFamily="34" charset="0"/>
                <a:ea typeface="Inter" pitchFamily="34" charset="-122"/>
                <a:cs typeface="Inter" pitchFamily="34" charset="-120"/>
              </a:rPr>
              <a:t>Edit</a:t>
            </a:r>
            <a:endParaRPr lang="en-US" sz="1200" dirty="0"/>
          </a:p>
        </p:txBody>
      </p:sp>
      <p:sp>
        <p:nvSpPr>
          <p:cNvPr id="20" name="Text 18"/>
          <p:cNvSpPr/>
          <p:nvPr/>
        </p:nvSpPr>
        <p:spPr>
          <a:xfrm>
            <a:off x="2819350" y="4873873"/>
            <a:ext cx="6938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D0"/>
                </a:solidFill>
                <a:latin typeface="Inter" pitchFamily="34" charset="0"/>
                <a:ea typeface="Inter" pitchFamily="34" charset="-122"/>
                <a:cs typeface="Inter" pitchFamily="34" charset="-120"/>
              </a:rPr>
              <a:t>Dismiss</a:t>
            </a:r>
            <a:endParaRPr lang="en-US" sz="1200" dirty="0"/>
          </a:p>
        </p:txBody>
      </p:sp>
      <p:sp>
        <p:nvSpPr>
          <p:cNvPr id="21" name="Shape 19"/>
          <p:cNvSpPr/>
          <p:nvPr/>
        </p:nvSpPr>
        <p:spPr>
          <a:xfrm>
            <a:off x="7315200" y="1941761"/>
            <a:ext cx="4064000" cy="0"/>
          </a:xfrm>
          <a:prstGeom prst="line">
            <a:avLst/>
          </a:prstGeom>
          <a:noFill/>
          <a:ln w="12700">
            <a:solidFill>
              <a:srgbClr val="15181C"/>
            </a:solidFill>
            <a:prstDash val="solid"/>
          </a:ln>
        </p:spPr>
      </p:sp>
      <p:sp>
        <p:nvSpPr>
          <p:cNvPr id="22" name="Text 20"/>
          <p:cNvSpPr/>
          <p:nvPr/>
        </p:nvSpPr>
        <p:spPr>
          <a:xfrm>
            <a:off x="7315200" y="206241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Provenance</a:t>
            </a:r>
            <a:endParaRPr lang="en-US" sz="1600" dirty="0"/>
          </a:p>
        </p:txBody>
      </p:sp>
      <p:sp>
        <p:nvSpPr>
          <p:cNvPr id="23" name="Text 21"/>
          <p:cNvSpPr/>
          <p:nvPr/>
        </p:nvSpPr>
        <p:spPr>
          <a:xfrm>
            <a:off x="7315200" y="2344341"/>
            <a:ext cx="418592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Always labeled as SI. Never passed off as human or system fact.</a:t>
            </a:r>
            <a:endParaRPr lang="en-US" sz="1200" dirty="0"/>
          </a:p>
        </p:txBody>
      </p:sp>
      <p:sp>
        <p:nvSpPr>
          <p:cNvPr id="24" name="Shape 22"/>
          <p:cNvSpPr/>
          <p:nvPr/>
        </p:nvSpPr>
        <p:spPr>
          <a:xfrm>
            <a:off x="7315200" y="2903736"/>
            <a:ext cx="4064000" cy="0"/>
          </a:xfrm>
          <a:prstGeom prst="line">
            <a:avLst/>
          </a:prstGeom>
          <a:noFill/>
          <a:ln w="6350">
            <a:solidFill>
              <a:srgbClr val="C9C5BA"/>
            </a:solidFill>
            <a:prstDash val="solid"/>
          </a:ln>
        </p:spPr>
      </p:sp>
      <p:sp>
        <p:nvSpPr>
          <p:cNvPr id="25" name="Text 23"/>
          <p:cNvSpPr/>
          <p:nvPr/>
        </p:nvSpPr>
        <p:spPr>
          <a:xfrm>
            <a:off x="7315200" y="302121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Confidence</a:t>
            </a:r>
            <a:endParaRPr lang="en-US" sz="1600" dirty="0"/>
          </a:p>
        </p:txBody>
      </p:sp>
      <p:sp>
        <p:nvSpPr>
          <p:cNvPr id="26" name="Text 24"/>
          <p:cNvSpPr/>
          <p:nvPr/>
        </p:nvSpPr>
        <p:spPr>
          <a:xfrm>
            <a:off x="7315200" y="3303141"/>
            <a:ext cx="418592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Stated in words plus a visual, calibrated to the evidence.</a:t>
            </a:r>
            <a:endParaRPr lang="en-US" sz="1200" dirty="0"/>
          </a:p>
        </p:txBody>
      </p:sp>
      <p:sp>
        <p:nvSpPr>
          <p:cNvPr id="27" name="Shape 25"/>
          <p:cNvSpPr/>
          <p:nvPr/>
        </p:nvSpPr>
        <p:spPr>
          <a:xfrm>
            <a:off x="7315200" y="3641576"/>
            <a:ext cx="4064000" cy="0"/>
          </a:xfrm>
          <a:prstGeom prst="line">
            <a:avLst/>
          </a:prstGeom>
          <a:noFill/>
          <a:ln w="6350">
            <a:solidFill>
              <a:srgbClr val="C9C5BA"/>
            </a:solidFill>
            <a:prstDash val="solid"/>
          </a:ln>
        </p:spPr>
      </p:sp>
      <p:sp>
        <p:nvSpPr>
          <p:cNvPr id="28" name="Text 26"/>
          <p:cNvSpPr/>
          <p:nvPr/>
        </p:nvSpPr>
        <p:spPr>
          <a:xfrm>
            <a:off x="7315200" y="375905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Evidence</a:t>
            </a:r>
            <a:endParaRPr lang="en-US" sz="1600" dirty="0"/>
          </a:p>
        </p:txBody>
      </p:sp>
      <p:sp>
        <p:nvSpPr>
          <p:cNvPr id="29" name="Text 27"/>
          <p:cNvSpPr/>
          <p:nvPr/>
        </p:nvSpPr>
        <p:spPr>
          <a:xfrm>
            <a:off x="7315200" y="4040981"/>
            <a:ext cx="418592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One click from every claim to its sources.</a:t>
            </a:r>
            <a:endParaRPr lang="en-US" sz="1200" dirty="0"/>
          </a:p>
        </p:txBody>
      </p:sp>
      <p:sp>
        <p:nvSpPr>
          <p:cNvPr id="30" name="Shape 28"/>
          <p:cNvSpPr/>
          <p:nvPr/>
        </p:nvSpPr>
        <p:spPr>
          <a:xfrm>
            <a:off x="7315200" y="4379416"/>
            <a:ext cx="4064000" cy="0"/>
          </a:xfrm>
          <a:prstGeom prst="line">
            <a:avLst/>
          </a:prstGeom>
          <a:noFill/>
          <a:ln w="6350">
            <a:solidFill>
              <a:srgbClr val="C9C5BA"/>
            </a:solidFill>
            <a:prstDash val="solid"/>
          </a:ln>
        </p:spPr>
      </p:sp>
      <p:sp>
        <p:nvSpPr>
          <p:cNvPr id="31" name="Shape 29"/>
          <p:cNvSpPr/>
          <p:nvPr/>
        </p:nvSpPr>
        <p:spPr>
          <a:xfrm>
            <a:off x="7315200" y="5338217"/>
            <a:ext cx="4064000" cy="0"/>
          </a:xfrm>
          <a:prstGeom prst="line">
            <a:avLst/>
          </a:prstGeom>
          <a:noFill/>
          <a:ln w="6350">
            <a:solidFill>
              <a:srgbClr val="C9C5BA"/>
            </a:solidFill>
            <a:prstDash val="solid"/>
          </a:ln>
        </p:spPr>
      </p:sp>
      <p:sp>
        <p:nvSpPr>
          <p:cNvPr id="32" name="Text 30"/>
          <p:cNvSpPr/>
          <p:nvPr/>
        </p:nvSpPr>
        <p:spPr>
          <a:xfrm>
            <a:off x="7315200" y="449689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Control</a:t>
            </a:r>
            <a:endParaRPr lang="en-US" sz="1600" dirty="0"/>
          </a:p>
        </p:txBody>
      </p:sp>
      <p:sp>
        <p:nvSpPr>
          <p:cNvPr id="33" name="Text 31"/>
          <p:cNvSpPr/>
          <p:nvPr/>
        </p:nvSpPr>
        <p:spPr>
          <a:xfrm>
            <a:off x="7315200" y="4778821"/>
            <a:ext cx="418592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Accept, edit or dismiss. No silent auto-apply on consequential actions.</a:t>
            </a:r>
            <a:endParaRPr lang="en-US" sz="1200" dirty="0"/>
          </a:p>
        </p:txBody>
      </p:sp>
      <p:sp>
        <p:nvSpPr>
          <p:cNvPr id="34" name="Text 3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 · ILLUSTRATIVE DATA</a:t>
            </a:r>
            <a:endParaRPr lang="en-US" sz="1200" dirty="0"/>
          </a:p>
        </p:txBody>
      </p:sp>
      <p:sp>
        <p:nvSpPr>
          <p:cNvPr id="35"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518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05 · MAKING IT REAL · ARCHITECTURE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EFE6"/>
                </a:solidFill>
                <a:latin typeface="Archivo" pitchFamily="34" charset="0"/>
                <a:ea typeface="Archivo" pitchFamily="34" charset="-122"/>
                <a:cs typeface="Archivo" pitchFamily="34" charset="-120"/>
              </a:rPr>
              <a:t>One token file feeds every app we run.</a:t>
            </a:r>
            <a:endParaRPr lang="en-US" sz="3600" dirty="0"/>
          </a:p>
        </p:txBody>
      </p:sp>
      <p:sp>
        <p:nvSpPr>
          <p:cNvPr id="4" name="Shape 2"/>
          <p:cNvSpPr/>
          <p:nvPr/>
        </p:nvSpPr>
        <p:spPr>
          <a:xfrm>
            <a:off x="812800" y="2032000"/>
            <a:ext cx="2260600" cy="1524000"/>
          </a:xfrm>
          <a:prstGeom prst="roundRect">
            <a:avLst>
              <a:gd name="adj" fmla="val 1667"/>
            </a:avLst>
          </a:prstGeom>
          <a:solidFill>
            <a:srgbClr val="22262B"/>
          </a:solidFill>
          <a:ln/>
        </p:spPr>
      </p:sp>
      <p:sp>
        <p:nvSpPr>
          <p:cNvPr id="5" name="Shape 3"/>
          <p:cNvSpPr/>
          <p:nvPr/>
        </p:nvSpPr>
        <p:spPr>
          <a:xfrm>
            <a:off x="812800" y="20320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C4A57A"/>
          </a:solidFill>
          <a:ln/>
        </p:spPr>
      </p:sp>
      <p:sp>
        <p:nvSpPr>
          <p:cNvPr id="6" name="Text 4"/>
          <p:cNvSpPr/>
          <p:nvPr/>
        </p:nvSpPr>
        <p:spPr>
          <a:xfrm>
            <a:off x="965200" y="21844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01 · Design</a:t>
            </a:r>
            <a:endParaRPr lang="en-US" sz="1200" dirty="0"/>
          </a:p>
        </p:txBody>
      </p:sp>
      <p:sp>
        <p:nvSpPr>
          <p:cNvPr id="7" name="Text 5"/>
          <p:cNvSpPr/>
          <p:nvPr/>
        </p:nvSpPr>
        <p:spPr>
          <a:xfrm>
            <a:off x="965200" y="24485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Penpot</a:t>
            </a:r>
            <a:endParaRPr lang="en-US" sz="1600" dirty="0"/>
          </a:p>
        </p:txBody>
      </p:sp>
      <p:sp>
        <p:nvSpPr>
          <p:cNvPr id="8" name="Text 6"/>
          <p:cNvSpPr/>
          <p:nvPr/>
        </p:nvSpPr>
        <p:spPr>
          <a:xfrm>
            <a:off x="965200" y="27431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Open source, self-hosted, native tokens.</a:t>
            </a:r>
            <a:endParaRPr lang="en-US" sz="1200" dirty="0"/>
          </a:p>
        </p:txBody>
      </p:sp>
      <p:sp>
        <p:nvSpPr>
          <p:cNvPr id="9" name="Shape 7"/>
          <p:cNvSpPr/>
          <p:nvPr/>
        </p:nvSpPr>
        <p:spPr>
          <a:xfrm>
            <a:off x="3581400" y="2032000"/>
            <a:ext cx="2260600" cy="1524000"/>
          </a:xfrm>
          <a:prstGeom prst="roundRect">
            <a:avLst>
              <a:gd name="adj" fmla="val 1667"/>
            </a:avLst>
          </a:prstGeom>
          <a:solidFill>
            <a:srgbClr val="22262B"/>
          </a:solidFill>
          <a:ln/>
        </p:spPr>
      </p:sp>
      <p:sp>
        <p:nvSpPr>
          <p:cNvPr id="10" name="Shape 8"/>
          <p:cNvSpPr/>
          <p:nvPr/>
        </p:nvSpPr>
        <p:spPr>
          <a:xfrm>
            <a:off x="3581400" y="20320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C4A57A"/>
          </a:solidFill>
          <a:ln/>
        </p:spPr>
      </p:sp>
      <p:sp>
        <p:nvSpPr>
          <p:cNvPr id="11" name="Text 9"/>
          <p:cNvSpPr/>
          <p:nvPr/>
        </p:nvSpPr>
        <p:spPr>
          <a:xfrm>
            <a:off x="3733800" y="21844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02 · Source</a:t>
            </a:r>
            <a:endParaRPr lang="en-US" sz="1200" dirty="0"/>
          </a:p>
        </p:txBody>
      </p:sp>
      <p:sp>
        <p:nvSpPr>
          <p:cNvPr id="12" name="Text 10"/>
          <p:cNvSpPr/>
          <p:nvPr/>
        </p:nvSpPr>
        <p:spPr>
          <a:xfrm>
            <a:off x="3733800" y="24485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Token repo</a:t>
            </a:r>
            <a:endParaRPr lang="en-US" sz="1600" dirty="0"/>
          </a:p>
        </p:txBody>
      </p:sp>
      <p:sp>
        <p:nvSpPr>
          <p:cNvPr id="13" name="Text 11"/>
          <p:cNvSpPr/>
          <p:nvPr/>
        </p:nvSpPr>
        <p:spPr>
          <a:xfrm>
            <a:off x="3733800" y="27431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DTCG-format JSON in Git, reviewed like code.</a:t>
            </a:r>
            <a:endParaRPr lang="en-US" sz="1200" dirty="0"/>
          </a:p>
        </p:txBody>
      </p:sp>
      <p:sp>
        <p:nvSpPr>
          <p:cNvPr id="14" name="Shape 12"/>
          <p:cNvSpPr/>
          <p:nvPr/>
        </p:nvSpPr>
        <p:spPr>
          <a:xfrm>
            <a:off x="6350000" y="2032000"/>
            <a:ext cx="2260600" cy="1524000"/>
          </a:xfrm>
          <a:prstGeom prst="roundRect">
            <a:avLst>
              <a:gd name="adj" fmla="val 1667"/>
            </a:avLst>
          </a:prstGeom>
          <a:solidFill>
            <a:srgbClr val="22262B"/>
          </a:solidFill>
          <a:ln/>
        </p:spPr>
      </p:sp>
      <p:sp>
        <p:nvSpPr>
          <p:cNvPr id="15" name="Shape 13"/>
          <p:cNvSpPr/>
          <p:nvPr/>
        </p:nvSpPr>
        <p:spPr>
          <a:xfrm>
            <a:off x="6350000" y="20320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C4A57A"/>
          </a:solidFill>
          <a:ln/>
        </p:spPr>
      </p:sp>
      <p:sp>
        <p:nvSpPr>
          <p:cNvPr id="16" name="Text 14"/>
          <p:cNvSpPr/>
          <p:nvPr/>
        </p:nvSpPr>
        <p:spPr>
          <a:xfrm>
            <a:off x="6502400" y="21844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03 · Build</a:t>
            </a:r>
            <a:endParaRPr lang="en-US" sz="1200" dirty="0"/>
          </a:p>
        </p:txBody>
      </p:sp>
      <p:sp>
        <p:nvSpPr>
          <p:cNvPr id="17" name="Text 15"/>
          <p:cNvSpPr/>
          <p:nvPr/>
        </p:nvSpPr>
        <p:spPr>
          <a:xfrm>
            <a:off x="6502400" y="24485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Style Dictionary</a:t>
            </a:r>
            <a:endParaRPr lang="en-US" sz="1600" dirty="0"/>
          </a:p>
        </p:txBody>
      </p:sp>
      <p:sp>
        <p:nvSpPr>
          <p:cNvPr id="18" name="Text 16"/>
          <p:cNvSpPr/>
          <p:nvPr/>
        </p:nvSpPr>
        <p:spPr>
          <a:xfrm>
            <a:off x="6502400" y="27431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Transforms tokens for every target.</a:t>
            </a:r>
            <a:endParaRPr lang="en-US" sz="1200" dirty="0"/>
          </a:p>
        </p:txBody>
      </p:sp>
      <p:sp>
        <p:nvSpPr>
          <p:cNvPr id="19" name="Shape 17"/>
          <p:cNvSpPr/>
          <p:nvPr/>
        </p:nvSpPr>
        <p:spPr>
          <a:xfrm>
            <a:off x="9118600" y="2032000"/>
            <a:ext cx="2260600" cy="1524000"/>
          </a:xfrm>
          <a:prstGeom prst="roundRect">
            <a:avLst>
              <a:gd name="adj" fmla="val 1667"/>
            </a:avLst>
          </a:prstGeom>
          <a:solidFill>
            <a:srgbClr val="22262B"/>
          </a:solidFill>
          <a:ln/>
        </p:spPr>
      </p:sp>
      <p:sp>
        <p:nvSpPr>
          <p:cNvPr id="20" name="Shape 18"/>
          <p:cNvSpPr/>
          <p:nvPr/>
        </p:nvSpPr>
        <p:spPr>
          <a:xfrm>
            <a:off x="9118600" y="20320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C4A57A"/>
          </a:solidFill>
          <a:ln/>
        </p:spPr>
      </p:sp>
      <p:sp>
        <p:nvSpPr>
          <p:cNvPr id="21" name="Text 19"/>
          <p:cNvSpPr/>
          <p:nvPr/>
        </p:nvSpPr>
        <p:spPr>
          <a:xfrm>
            <a:off x="9271000" y="21844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04 · Output</a:t>
            </a:r>
            <a:endParaRPr lang="en-US" sz="1200" dirty="0"/>
          </a:p>
        </p:txBody>
      </p:sp>
      <p:sp>
        <p:nvSpPr>
          <p:cNvPr id="22" name="Text 20"/>
          <p:cNvSpPr/>
          <p:nvPr/>
        </p:nvSpPr>
        <p:spPr>
          <a:xfrm>
            <a:off x="9271000" y="24485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Themes</a:t>
            </a:r>
            <a:endParaRPr lang="en-US" sz="1600" dirty="0"/>
          </a:p>
        </p:txBody>
      </p:sp>
      <p:sp>
        <p:nvSpPr>
          <p:cNvPr id="23" name="Text 21"/>
          <p:cNvSpPr/>
          <p:nvPr/>
        </p:nvSpPr>
        <p:spPr>
          <a:xfrm>
            <a:off x="9271000" y="27431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CSS variables and TypeScript, light and dark.</a:t>
            </a:r>
            <a:endParaRPr lang="en-US" sz="1200" dirty="0"/>
          </a:p>
        </p:txBody>
      </p:sp>
      <p:sp>
        <p:nvSpPr>
          <p:cNvPr id="24" name="Shape 22"/>
          <p:cNvSpPr/>
          <p:nvPr/>
        </p:nvSpPr>
        <p:spPr>
          <a:xfrm>
            <a:off x="9118600" y="3873500"/>
            <a:ext cx="2260600" cy="1524000"/>
          </a:xfrm>
          <a:prstGeom prst="roundRect">
            <a:avLst>
              <a:gd name="adj" fmla="val 1667"/>
            </a:avLst>
          </a:prstGeom>
          <a:solidFill>
            <a:srgbClr val="22262B"/>
          </a:solidFill>
          <a:ln/>
        </p:spPr>
      </p:sp>
      <p:sp>
        <p:nvSpPr>
          <p:cNvPr id="25" name="Shape 23"/>
          <p:cNvSpPr/>
          <p:nvPr/>
        </p:nvSpPr>
        <p:spPr>
          <a:xfrm>
            <a:off x="9118600" y="38735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8B9198"/>
          </a:solidFill>
          <a:ln/>
        </p:spPr>
      </p:sp>
      <p:sp>
        <p:nvSpPr>
          <p:cNvPr id="26" name="Text 24"/>
          <p:cNvSpPr/>
          <p:nvPr/>
        </p:nvSpPr>
        <p:spPr>
          <a:xfrm>
            <a:off x="9271000" y="40259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05 · Library</a:t>
            </a:r>
            <a:endParaRPr lang="en-US" sz="1200" dirty="0"/>
          </a:p>
        </p:txBody>
      </p:sp>
      <p:sp>
        <p:nvSpPr>
          <p:cNvPr id="27" name="Text 25"/>
          <p:cNvSpPr/>
          <p:nvPr/>
        </p:nvSpPr>
        <p:spPr>
          <a:xfrm>
            <a:off x="9271000" y="42900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Web Components</a:t>
            </a:r>
            <a:endParaRPr lang="en-US" sz="1600" dirty="0"/>
          </a:p>
        </p:txBody>
      </p:sp>
      <p:sp>
        <p:nvSpPr>
          <p:cNvPr id="28" name="Text 26"/>
          <p:cNvSpPr/>
          <p:nvPr/>
        </p:nvSpPr>
        <p:spPr>
          <a:xfrm>
            <a:off x="9271000" y="45846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Framework-agnostic, so any stack can adopt.</a:t>
            </a:r>
            <a:endParaRPr lang="en-US" sz="1200" dirty="0"/>
          </a:p>
        </p:txBody>
      </p:sp>
      <p:sp>
        <p:nvSpPr>
          <p:cNvPr id="29" name="Shape 27"/>
          <p:cNvSpPr/>
          <p:nvPr/>
        </p:nvSpPr>
        <p:spPr>
          <a:xfrm>
            <a:off x="6350000" y="3873500"/>
            <a:ext cx="2260600" cy="1524000"/>
          </a:xfrm>
          <a:prstGeom prst="roundRect">
            <a:avLst>
              <a:gd name="adj" fmla="val 1667"/>
            </a:avLst>
          </a:prstGeom>
          <a:solidFill>
            <a:srgbClr val="22262B"/>
          </a:solidFill>
          <a:ln/>
        </p:spPr>
      </p:sp>
      <p:sp>
        <p:nvSpPr>
          <p:cNvPr id="30" name="Shape 28"/>
          <p:cNvSpPr/>
          <p:nvPr/>
        </p:nvSpPr>
        <p:spPr>
          <a:xfrm>
            <a:off x="6350000" y="38735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8B9198"/>
          </a:solidFill>
          <a:ln/>
        </p:spPr>
      </p:sp>
      <p:sp>
        <p:nvSpPr>
          <p:cNvPr id="31" name="Text 29"/>
          <p:cNvSpPr/>
          <p:nvPr/>
        </p:nvSpPr>
        <p:spPr>
          <a:xfrm>
            <a:off x="6502400" y="40259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06 · Bindings</a:t>
            </a:r>
            <a:endParaRPr lang="en-US" sz="1200" dirty="0"/>
          </a:p>
        </p:txBody>
      </p:sp>
      <p:sp>
        <p:nvSpPr>
          <p:cNvPr id="32" name="Text 30"/>
          <p:cNvSpPr/>
          <p:nvPr/>
        </p:nvSpPr>
        <p:spPr>
          <a:xfrm>
            <a:off x="6502400" y="42900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Wrappers</a:t>
            </a:r>
            <a:endParaRPr lang="en-US" sz="1600" dirty="0"/>
          </a:p>
        </p:txBody>
      </p:sp>
      <p:sp>
        <p:nvSpPr>
          <p:cNvPr id="33" name="Text 31"/>
          <p:cNvSpPr/>
          <p:nvPr/>
        </p:nvSpPr>
        <p:spPr>
          <a:xfrm>
            <a:off x="6502400" y="45846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Thin layers for each framework we run.</a:t>
            </a:r>
            <a:endParaRPr lang="en-US" sz="1200" dirty="0"/>
          </a:p>
        </p:txBody>
      </p:sp>
      <p:sp>
        <p:nvSpPr>
          <p:cNvPr id="34" name="Shape 32"/>
          <p:cNvSpPr/>
          <p:nvPr/>
        </p:nvSpPr>
        <p:spPr>
          <a:xfrm>
            <a:off x="3581400" y="3873500"/>
            <a:ext cx="2260600" cy="1524000"/>
          </a:xfrm>
          <a:prstGeom prst="roundRect">
            <a:avLst>
              <a:gd name="adj" fmla="val 1667"/>
            </a:avLst>
          </a:prstGeom>
          <a:solidFill>
            <a:srgbClr val="22262B"/>
          </a:solidFill>
          <a:ln/>
        </p:spPr>
      </p:sp>
      <p:sp>
        <p:nvSpPr>
          <p:cNvPr id="35" name="Shape 33"/>
          <p:cNvSpPr/>
          <p:nvPr/>
        </p:nvSpPr>
        <p:spPr>
          <a:xfrm>
            <a:off x="3581400" y="38735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8B9198"/>
          </a:solidFill>
          <a:ln/>
        </p:spPr>
      </p:sp>
      <p:sp>
        <p:nvSpPr>
          <p:cNvPr id="36" name="Text 34"/>
          <p:cNvSpPr/>
          <p:nvPr/>
        </p:nvSpPr>
        <p:spPr>
          <a:xfrm>
            <a:off x="3733800" y="40259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07 · Docs</a:t>
            </a:r>
            <a:endParaRPr lang="en-US" sz="1200" dirty="0"/>
          </a:p>
        </p:txBody>
      </p:sp>
      <p:sp>
        <p:nvSpPr>
          <p:cNvPr id="37" name="Text 35"/>
          <p:cNvSpPr/>
          <p:nvPr/>
        </p:nvSpPr>
        <p:spPr>
          <a:xfrm>
            <a:off x="3733800" y="42900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Storybook</a:t>
            </a:r>
            <a:endParaRPr lang="en-US" sz="1600" dirty="0"/>
          </a:p>
        </p:txBody>
      </p:sp>
      <p:sp>
        <p:nvSpPr>
          <p:cNvPr id="38" name="Text 36"/>
          <p:cNvSpPr/>
          <p:nvPr/>
        </p:nvSpPr>
        <p:spPr>
          <a:xfrm>
            <a:off x="3733800" y="45846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Live examples, usage rules, a11y notes.</a:t>
            </a:r>
            <a:endParaRPr lang="en-US" sz="1200" dirty="0"/>
          </a:p>
        </p:txBody>
      </p:sp>
      <p:sp>
        <p:nvSpPr>
          <p:cNvPr id="39" name="Shape 37"/>
          <p:cNvSpPr/>
          <p:nvPr/>
        </p:nvSpPr>
        <p:spPr>
          <a:xfrm>
            <a:off x="812800" y="3873500"/>
            <a:ext cx="2260600" cy="1524000"/>
          </a:xfrm>
          <a:prstGeom prst="roundRect">
            <a:avLst>
              <a:gd name="adj" fmla="val 1667"/>
            </a:avLst>
          </a:prstGeom>
          <a:solidFill>
            <a:srgbClr val="2C2A24"/>
          </a:solidFill>
          <a:ln/>
        </p:spPr>
      </p:sp>
      <p:sp>
        <p:nvSpPr>
          <p:cNvPr id="40" name="Shape 38"/>
          <p:cNvSpPr/>
          <p:nvPr/>
        </p:nvSpPr>
        <p:spPr>
          <a:xfrm>
            <a:off x="812800" y="3873500"/>
            <a:ext cx="2260600" cy="1524000"/>
          </a:xfrm>
          <a:custGeom>
            <a:avLst/>
            <a:gdLst/>
            <a:ahLst/>
            <a:cxnLst/>
            <a:rect l="l" t="t" r="r" b="b"/>
            <a:pathLst>
              <a:path w="2260600" h="1524000">
                <a:moveTo>
                  <a:pt x="0" y="25400"/>
                </a:moveTo>
                <a:lnTo>
                  <a:pt x="0" y="25400"/>
                </a:lnTo>
                <a:arcTo hR="25400" wR="25400" stAng="10800000" swAng="5400000"/>
                <a:lnTo>
                  <a:pt x="2235200" y="0"/>
                </a:lnTo>
                <a:arcTo hR="25400" wR="25400" stAng="16200000" swAng="5400000"/>
                <a:lnTo>
                  <a:pt x="2260600" y="25400"/>
                </a:lnTo>
                <a:lnTo>
                  <a:pt x="0" y="25400"/>
                </a:lnTo>
                <a:close/>
              </a:path>
            </a:pathLst>
          </a:custGeom>
          <a:solidFill>
            <a:srgbClr val="C4A57A"/>
          </a:solidFill>
          <a:ln/>
        </p:spPr>
      </p:sp>
      <p:sp>
        <p:nvSpPr>
          <p:cNvPr id="41" name="Text 39"/>
          <p:cNvSpPr/>
          <p:nvPr/>
        </p:nvSpPr>
        <p:spPr>
          <a:xfrm>
            <a:off x="965200" y="40259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A57A"/>
                </a:solidFill>
                <a:latin typeface="JetBrains Mono" pitchFamily="49" charset="0"/>
                <a:ea typeface="JetBrains Mono" pitchFamily="49" charset="-122"/>
                <a:cs typeface="JetBrains Mono" pitchFamily="49" charset="-120"/>
              </a:rPr>
              <a:t>08 · Delivery</a:t>
            </a:r>
            <a:endParaRPr lang="en-US" sz="1200" dirty="0"/>
          </a:p>
        </p:txBody>
      </p:sp>
      <p:sp>
        <p:nvSpPr>
          <p:cNvPr id="42" name="Text 40"/>
          <p:cNvSpPr/>
          <p:nvPr/>
        </p:nvSpPr>
        <p:spPr>
          <a:xfrm>
            <a:off x="965200" y="4290020"/>
            <a:ext cx="201447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Every app</a:t>
            </a:r>
            <a:endParaRPr lang="en-US" sz="1600" dirty="0"/>
          </a:p>
        </p:txBody>
      </p:sp>
      <p:sp>
        <p:nvSpPr>
          <p:cNvPr id="43" name="Text 41"/>
          <p:cNvSpPr/>
          <p:nvPr/>
        </p:nvSpPr>
        <p:spPr>
          <a:xfrm>
            <a:off x="965200" y="458465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Versioned packages via Nitro and Platforma.</a:t>
            </a:r>
            <a:endParaRPr lang="en-US" sz="1200" dirty="0"/>
          </a:p>
        </p:txBody>
      </p:sp>
      <p:pic>
        <p:nvPicPr>
          <p:cNvPr id="44" name="Image 0" descr="connector">    </p:cNvPr>
          <p:cNvPicPr>
            <a:picLocks noChangeAspect="1"/>
          </p:cNvPicPr>
          <p:nvPr/>
        </p:nvPicPr>
        <p:blipFill>
          <a:blip r:embed="rId1"/>
          <a:srcRect l="0" r="0" t="0" b="0"/>
          <a:stretch/>
        </p:blipFill>
        <p:spPr>
          <a:xfrm>
            <a:off x="3022600" y="2743200"/>
            <a:ext cx="609600" cy="101600"/>
          </a:xfrm>
          <a:prstGeom prst="rect">
            <a:avLst/>
          </a:prstGeom>
        </p:spPr>
      </p:pic>
      <p:pic>
        <p:nvPicPr>
          <p:cNvPr id="45" name="Image 1" descr="connector">    </p:cNvPr>
          <p:cNvPicPr>
            <a:picLocks noChangeAspect="1"/>
          </p:cNvPicPr>
          <p:nvPr/>
        </p:nvPicPr>
        <p:blipFill>
          <a:blip r:embed="rId2"/>
          <a:srcRect l="0" r="0" t="0" b="0"/>
          <a:stretch/>
        </p:blipFill>
        <p:spPr>
          <a:xfrm>
            <a:off x="5791200" y="2743200"/>
            <a:ext cx="609600" cy="101600"/>
          </a:xfrm>
          <a:prstGeom prst="rect">
            <a:avLst/>
          </a:prstGeom>
        </p:spPr>
      </p:pic>
      <p:pic>
        <p:nvPicPr>
          <p:cNvPr id="46" name="Image 2" descr="connector">    </p:cNvPr>
          <p:cNvPicPr>
            <a:picLocks noChangeAspect="1"/>
          </p:cNvPicPr>
          <p:nvPr/>
        </p:nvPicPr>
        <p:blipFill>
          <a:blip r:embed="rId3"/>
          <a:srcRect l="0" r="0" t="0" b="0"/>
          <a:stretch/>
        </p:blipFill>
        <p:spPr>
          <a:xfrm>
            <a:off x="8559800" y="2743200"/>
            <a:ext cx="609600" cy="101600"/>
          </a:xfrm>
          <a:prstGeom prst="rect">
            <a:avLst/>
          </a:prstGeom>
        </p:spPr>
      </p:pic>
      <p:pic>
        <p:nvPicPr>
          <p:cNvPr id="47" name="Image 3" descr="connector">    </p:cNvPr>
          <p:cNvPicPr>
            <a:picLocks noChangeAspect="1"/>
          </p:cNvPicPr>
          <p:nvPr/>
        </p:nvPicPr>
        <p:blipFill>
          <a:blip r:embed="rId4"/>
          <a:srcRect l="0" r="0" t="0" b="0"/>
          <a:stretch/>
        </p:blipFill>
        <p:spPr>
          <a:xfrm>
            <a:off x="10198100" y="3505200"/>
            <a:ext cx="101600" cy="419100"/>
          </a:xfrm>
          <a:prstGeom prst="rect">
            <a:avLst/>
          </a:prstGeom>
        </p:spPr>
      </p:pic>
      <p:pic>
        <p:nvPicPr>
          <p:cNvPr id="48" name="Image 4" descr="connector">    </p:cNvPr>
          <p:cNvPicPr>
            <a:picLocks noChangeAspect="1"/>
          </p:cNvPicPr>
          <p:nvPr/>
        </p:nvPicPr>
        <p:blipFill>
          <a:blip r:embed="rId5"/>
          <a:srcRect l="0" r="0" t="0" b="0"/>
          <a:stretch/>
        </p:blipFill>
        <p:spPr>
          <a:xfrm>
            <a:off x="8559800" y="4584700"/>
            <a:ext cx="609600" cy="101600"/>
          </a:xfrm>
          <a:prstGeom prst="rect">
            <a:avLst/>
          </a:prstGeom>
        </p:spPr>
      </p:pic>
      <p:pic>
        <p:nvPicPr>
          <p:cNvPr id="49" name="Image 5" descr="connector">    </p:cNvPr>
          <p:cNvPicPr>
            <a:picLocks noChangeAspect="1"/>
          </p:cNvPicPr>
          <p:nvPr/>
        </p:nvPicPr>
        <p:blipFill>
          <a:blip r:embed="rId6"/>
          <a:srcRect l="0" r="0" t="0" b="0"/>
          <a:stretch/>
        </p:blipFill>
        <p:spPr>
          <a:xfrm>
            <a:off x="5791200" y="4584700"/>
            <a:ext cx="609600" cy="101600"/>
          </a:xfrm>
          <a:prstGeom prst="rect">
            <a:avLst/>
          </a:prstGeom>
        </p:spPr>
      </p:pic>
      <p:pic>
        <p:nvPicPr>
          <p:cNvPr id="50" name="Image 6" descr="connector">    </p:cNvPr>
          <p:cNvPicPr>
            <a:picLocks noChangeAspect="1"/>
          </p:cNvPicPr>
          <p:nvPr/>
        </p:nvPicPr>
        <p:blipFill>
          <a:blip r:embed="rId7"/>
          <a:srcRect l="0" r="0" t="0" b="0"/>
          <a:stretch/>
        </p:blipFill>
        <p:spPr>
          <a:xfrm>
            <a:off x="3022600" y="4584700"/>
            <a:ext cx="609600" cy="101600"/>
          </a:xfrm>
          <a:prstGeom prst="rect">
            <a:avLst/>
          </a:prstGeom>
        </p:spPr>
      </p:pic>
      <p:sp>
        <p:nvSpPr>
          <p:cNvPr id="51" name="Text 4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TRENCHCOAT · BRAND BOOK v0.1 · ALL OPEN SOURCE, ALL SELF-HOSTED</a:t>
            </a:r>
            <a:endParaRPr lang="en-US" sz="1200" dirty="0"/>
          </a:p>
        </p:txBody>
      </p:sp>
      <p:sp>
        <p:nvSpPr>
          <p:cNvPr id="52" name="Text 4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05 · MAKING IT REAL · GOVERNANCE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Federated: a small core, many contributors.</a:t>
            </a:r>
            <a:endParaRPr lang="en-US" sz="3600" dirty="0"/>
          </a:p>
        </p:txBody>
      </p:sp>
      <p:sp>
        <p:nvSpPr>
          <p:cNvPr id="4" name="Shape 2"/>
          <p:cNvSpPr/>
          <p:nvPr/>
        </p:nvSpPr>
        <p:spPr>
          <a:xfrm>
            <a:off x="815975" y="1938586"/>
            <a:ext cx="3380284" cy="1421061"/>
          </a:xfrm>
          <a:prstGeom prst="roundRect">
            <a:avLst>
              <a:gd name="adj" fmla="val 3351"/>
            </a:avLst>
          </a:prstGeom>
          <a:solidFill>
            <a:srgbClr val="FBF9F4"/>
          </a:solidFill>
          <a:ln w="6350">
            <a:solidFill>
              <a:srgbClr val="DCDAD3"/>
            </a:solidFill>
            <a:prstDash val="solid"/>
          </a:ln>
        </p:spPr>
      </p:sp>
      <p:sp>
        <p:nvSpPr>
          <p:cNvPr id="5" name="Text 3"/>
          <p:cNvSpPr/>
          <p:nvPr/>
        </p:nvSpPr>
        <p:spPr>
          <a:xfrm>
            <a:off x="1022350" y="2144961"/>
            <a:ext cx="30565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Core team</a:t>
            </a:r>
            <a:endParaRPr lang="en-US" sz="1600" dirty="0"/>
          </a:p>
        </p:txBody>
      </p:sp>
      <p:sp>
        <p:nvSpPr>
          <p:cNvPr id="6" name="Text 4"/>
          <p:cNvSpPr/>
          <p:nvPr/>
        </p:nvSpPr>
        <p:spPr>
          <a:xfrm>
            <a:off x="1022350" y="2490391"/>
            <a:ext cx="305656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Owns tokens, core components, documentation and releases. Small, dedicated, accountable.</a:t>
            </a:r>
            <a:endParaRPr lang="en-US" sz="1200" dirty="0"/>
          </a:p>
        </p:txBody>
      </p:sp>
      <p:sp>
        <p:nvSpPr>
          <p:cNvPr id="7" name="Shape 5"/>
          <p:cNvSpPr/>
          <p:nvPr/>
        </p:nvSpPr>
        <p:spPr>
          <a:xfrm>
            <a:off x="4405809" y="1938586"/>
            <a:ext cx="3380333" cy="1421061"/>
          </a:xfrm>
          <a:prstGeom prst="roundRect">
            <a:avLst>
              <a:gd name="adj" fmla="val 3351"/>
            </a:avLst>
          </a:prstGeom>
          <a:solidFill>
            <a:srgbClr val="FBF9F4"/>
          </a:solidFill>
          <a:ln w="6350">
            <a:solidFill>
              <a:srgbClr val="DCDAD3"/>
            </a:solidFill>
            <a:prstDash val="solid"/>
          </a:ln>
        </p:spPr>
      </p:sp>
      <p:sp>
        <p:nvSpPr>
          <p:cNvPr id="8" name="Text 6"/>
          <p:cNvSpPr/>
          <p:nvPr/>
        </p:nvSpPr>
        <p:spPr>
          <a:xfrm>
            <a:off x="4612184" y="2144961"/>
            <a:ext cx="30566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App teams</a:t>
            </a:r>
            <a:endParaRPr lang="en-US" sz="1600" dirty="0"/>
          </a:p>
        </p:txBody>
      </p:sp>
      <p:sp>
        <p:nvSpPr>
          <p:cNvPr id="9" name="Text 7"/>
          <p:cNvSpPr/>
          <p:nvPr/>
        </p:nvSpPr>
        <p:spPr>
          <a:xfrm>
            <a:off x="4612184" y="2490391"/>
            <a:ext cx="30566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Propose and build new components and patterns. The core team reviews and merges.</a:t>
            </a:r>
            <a:endParaRPr lang="en-US" sz="1200" dirty="0"/>
          </a:p>
        </p:txBody>
      </p:sp>
      <p:sp>
        <p:nvSpPr>
          <p:cNvPr id="10" name="Shape 8"/>
          <p:cNvSpPr/>
          <p:nvPr/>
        </p:nvSpPr>
        <p:spPr>
          <a:xfrm>
            <a:off x="7995692" y="1938586"/>
            <a:ext cx="3380333" cy="1421061"/>
          </a:xfrm>
          <a:prstGeom prst="roundRect">
            <a:avLst>
              <a:gd name="adj" fmla="val 3351"/>
            </a:avLst>
          </a:prstGeom>
          <a:solidFill>
            <a:srgbClr val="FBF9F4"/>
          </a:solidFill>
          <a:ln w="6350">
            <a:solidFill>
              <a:srgbClr val="DCDAD3"/>
            </a:solidFill>
            <a:prstDash val="solid"/>
          </a:ln>
        </p:spPr>
      </p:sp>
      <p:sp>
        <p:nvSpPr>
          <p:cNvPr id="11" name="Text 9"/>
          <p:cNvSpPr/>
          <p:nvPr/>
        </p:nvSpPr>
        <p:spPr>
          <a:xfrm>
            <a:off x="8202067" y="2144961"/>
            <a:ext cx="30566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AERB</a:t>
            </a:r>
            <a:endParaRPr lang="en-US" sz="1600" dirty="0"/>
          </a:p>
        </p:txBody>
      </p:sp>
      <p:sp>
        <p:nvSpPr>
          <p:cNvPr id="12" name="Text 10"/>
          <p:cNvSpPr/>
          <p:nvPr/>
        </p:nvSpPr>
        <p:spPr>
          <a:xfrm>
            <a:off x="8202067" y="2490391"/>
            <a:ext cx="30566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Ratifies Trenchcoat as an engineering standard and settles disputes that teams can’t.</a:t>
            </a:r>
            <a:endParaRPr lang="en-US" sz="1200" dirty="0"/>
          </a:p>
        </p:txBody>
      </p:sp>
      <p:sp>
        <p:nvSpPr>
          <p:cNvPr id="13" name="Text 11"/>
          <p:cNvSpPr/>
          <p:nvPr/>
        </p:nvSpPr>
        <p:spPr>
          <a:xfrm>
            <a:off x="812800" y="425206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CONTRIBUTION FLOW</a:t>
            </a:r>
            <a:endParaRPr lang="en-US" sz="1200" dirty="0"/>
          </a:p>
        </p:txBody>
      </p:sp>
      <p:sp>
        <p:nvSpPr>
          <p:cNvPr id="14" name="Shape 12"/>
          <p:cNvSpPr/>
          <p:nvPr/>
        </p:nvSpPr>
        <p:spPr>
          <a:xfrm>
            <a:off x="812800" y="4566989"/>
            <a:ext cx="1910060" cy="749250"/>
          </a:xfrm>
          <a:prstGeom prst="roundRect">
            <a:avLst>
              <a:gd name="adj" fmla="val 6780"/>
            </a:avLst>
          </a:prstGeom>
          <a:solidFill>
            <a:srgbClr val="15181C"/>
          </a:solidFill>
          <a:ln/>
        </p:spPr>
      </p:sp>
      <p:sp>
        <p:nvSpPr>
          <p:cNvPr id="15" name="Text 13"/>
          <p:cNvSpPr/>
          <p:nvPr/>
        </p:nvSpPr>
        <p:spPr>
          <a:xfrm>
            <a:off x="965200" y="4693989"/>
            <a:ext cx="1656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Propose</a:t>
            </a:r>
            <a:endParaRPr lang="en-US" sz="1600" dirty="0"/>
          </a:p>
        </p:txBody>
      </p:sp>
      <p:sp>
        <p:nvSpPr>
          <p:cNvPr id="16" name="Text 14"/>
          <p:cNvSpPr/>
          <p:nvPr/>
        </p:nvSpPr>
        <p:spPr>
          <a:xfrm>
            <a:off x="965200" y="4975920"/>
            <a:ext cx="1656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RFC with a use case</a:t>
            </a:r>
            <a:endParaRPr lang="en-US" sz="1200" dirty="0"/>
          </a:p>
        </p:txBody>
      </p:sp>
      <p:pic>
        <p:nvPicPr>
          <p:cNvPr id="17" name="Image 0" descr="connector">    </p:cNvPr>
          <p:cNvPicPr>
            <a:picLocks noChangeAspect="1"/>
          </p:cNvPicPr>
          <p:nvPr/>
        </p:nvPicPr>
        <p:blipFill>
          <a:blip r:embed="rId1"/>
          <a:srcRect l="0" r="0" t="0" b="0"/>
          <a:stretch/>
        </p:blipFill>
        <p:spPr>
          <a:xfrm>
            <a:off x="2684760" y="4890790"/>
            <a:ext cx="330200" cy="101600"/>
          </a:xfrm>
          <a:prstGeom prst="rect">
            <a:avLst/>
          </a:prstGeom>
        </p:spPr>
      </p:pic>
      <p:sp>
        <p:nvSpPr>
          <p:cNvPr id="18" name="Shape 15"/>
          <p:cNvSpPr/>
          <p:nvPr/>
        </p:nvSpPr>
        <p:spPr>
          <a:xfrm>
            <a:off x="2976860" y="4566989"/>
            <a:ext cx="1910110" cy="749250"/>
          </a:xfrm>
          <a:prstGeom prst="roundRect">
            <a:avLst>
              <a:gd name="adj" fmla="val 6780"/>
            </a:avLst>
          </a:prstGeom>
          <a:solidFill>
            <a:srgbClr val="15181C"/>
          </a:solidFill>
          <a:ln/>
        </p:spPr>
      </p:sp>
      <p:sp>
        <p:nvSpPr>
          <p:cNvPr id="19" name="Text 16"/>
          <p:cNvSpPr/>
          <p:nvPr/>
        </p:nvSpPr>
        <p:spPr>
          <a:xfrm>
            <a:off x="3129260" y="4693989"/>
            <a:ext cx="1656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Review</a:t>
            </a:r>
            <a:endParaRPr lang="en-US" sz="1600" dirty="0"/>
          </a:p>
        </p:txBody>
      </p:sp>
      <p:sp>
        <p:nvSpPr>
          <p:cNvPr id="20" name="Text 17"/>
          <p:cNvSpPr/>
          <p:nvPr/>
        </p:nvSpPr>
        <p:spPr>
          <a:xfrm>
            <a:off x="3129260" y="4975920"/>
            <a:ext cx="1656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Design, code, a11y</a:t>
            </a:r>
            <a:endParaRPr lang="en-US" sz="1200" dirty="0"/>
          </a:p>
        </p:txBody>
      </p:sp>
      <p:pic>
        <p:nvPicPr>
          <p:cNvPr id="21" name="Image 1" descr="connector">    </p:cNvPr>
          <p:cNvPicPr>
            <a:picLocks noChangeAspect="1"/>
          </p:cNvPicPr>
          <p:nvPr/>
        </p:nvPicPr>
        <p:blipFill>
          <a:blip r:embed="rId2"/>
          <a:srcRect l="0" r="0" t="0" b="0"/>
          <a:stretch/>
        </p:blipFill>
        <p:spPr>
          <a:xfrm>
            <a:off x="4848870" y="4890790"/>
            <a:ext cx="330200" cy="101600"/>
          </a:xfrm>
          <a:prstGeom prst="rect">
            <a:avLst/>
          </a:prstGeom>
        </p:spPr>
      </p:pic>
      <p:sp>
        <p:nvSpPr>
          <p:cNvPr id="22" name="Shape 18"/>
          <p:cNvSpPr/>
          <p:nvPr/>
        </p:nvSpPr>
        <p:spPr>
          <a:xfrm>
            <a:off x="5140970" y="4566989"/>
            <a:ext cx="1910060" cy="749250"/>
          </a:xfrm>
          <a:prstGeom prst="roundRect">
            <a:avLst>
              <a:gd name="adj" fmla="val 6780"/>
            </a:avLst>
          </a:prstGeom>
          <a:solidFill>
            <a:srgbClr val="15181C"/>
          </a:solidFill>
          <a:ln/>
        </p:spPr>
      </p:sp>
      <p:sp>
        <p:nvSpPr>
          <p:cNvPr id="23" name="Text 19"/>
          <p:cNvSpPr/>
          <p:nvPr/>
        </p:nvSpPr>
        <p:spPr>
          <a:xfrm>
            <a:off x="5293370" y="4693989"/>
            <a:ext cx="1656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Build</a:t>
            </a:r>
            <a:endParaRPr lang="en-US" sz="1600" dirty="0"/>
          </a:p>
        </p:txBody>
      </p:sp>
      <p:sp>
        <p:nvSpPr>
          <p:cNvPr id="24" name="Text 20"/>
          <p:cNvSpPr/>
          <p:nvPr/>
        </p:nvSpPr>
        <p:spPr>
          <a:xfrm>
            <a:off x="5293370" y="4975920"/>
            <a:ext cx="1656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In the shared repo</a:t>
            </a:r>
            <a:endParaRPr lang="en-US" sz="1200" dirty="0"/>
          </a:p>
        </p:txBody>
      </p:sp>
      <p:pic>
        <p:nvPicPr>
          <p:cNvPr id="25" name="Image 2" descr="connector">    </p:cNvPr>
          <p:cNvPicPr>
            <a:picLocks noChangeAspect="1"/>
          </p:cNvPicPr>
          <p:nvPr/>
        </p:nvPicPr>
        <p:blipFill>
          <a:blip r:embed="rId3"/>
          <a:srcRect l="0" r="0" t="0" b="0"/>
          <a:stretch/>
        </p:blipFill>
        <p:spPr>
          <a:xfrm>
            <a:off x="7012930" y="4890790"/>
            <a:ext cx="330200" cy="101600"/>
          </a:xfrm>
          <a:prstGeom prst="rect">
            <a:avLst/>
          </a:prstGeom>
        </p:spPr>
      </p:pic>
      <p:sp>
        <p:nvSpPr>
          <p:cNvPr id="26" name="Shape 21"/>
          <p:cNvSpPr/>
          <p:nvPr/>
        </p:nvSpPr>
        <p:spPr>
          <a:xfrm>
            <a:off x="7305030" y="4566989"/>
            <a:ext cx="1910110" cy="749250"/>
          </a:xfrm>
          <a:prstGeom prst="roundRect">
            <a:avLst>
              <a:gd name="adj" fmla="val 6780"/>
            </a:avLst>
          </a:prstGeom>
          <a:solidFill>
            <a:srgbClr val="15181C"/>
          </a:solidFill>
          <a:ln/>
        </p:spPr>
      </p:sp>
      <p:sp>
        <p:nvSpPr>
          <p:cNvPr id="27" name="Text 22"/>
          <p:cNvSpPr/>
          <p:nvPr/>
        </p:nvSpPr>
        <p:spPr>
          <a:xfrm>
            <a:off x="7457430" y="4693989"/>
            <a:ext cx="1656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Release</a:t>
            </a:r>
            <a:endParaRPr lang="en-US" sz="1600" dirty="0"/>
          </a:p>
        </p:txBody>
      </p:sp>
      <p:sp>
        <p:nvSpPr>
          <p:cNvPr id="28" name="Text 23"/>
          <p:cNvSpPr/>
          <p:nvPr/>
        </p:nvSpPr>
        <p:spPr>
          <a:xfrm>
            <a:off x="7457430" y="4975920"/>
            <a:ext cx="1656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Semver, changelog</a:t>
            </a:r>
            <a:endParaRPr lang="en-US" sz="1200" dirty="0"/>
          </a:p>
        </p:txBody>
      </p:sp>
      <p:pic>
        <p:nvPicPr>
          <p:cNvPr id="29" name="Image 3" descr="connector">    </p:cNvPr>
          <p:cNvPicPr>
            <a:picLocks noChangeAspect="1"/>
          </p:cNvPicPr>
          <p:nvPr/>
        </p:nvPicPr>
        <p:blipFill>
          <a:blip r:embed="rId4"/>
          <a:srcRect l="0" r="0" t="0" b="0"/>
          <a:stretch/>
        </p:blipFill>
        <p:spPr>
          <a:xfrm>
            <a:off x="9177040" y="4890790"/>
            <a:ext cx="330200" cy="101600"/>
          </a:xfrm>
          <a:prstGeom prst="rect">
            <a:avLst/>
          </a:prstGeom>
        </p:spPr>
      </p:pic>
      <p:sp>
        <p:nvSpPr>
          <p:cNvPr id="30" name="Shape 24"/>
          <p:cNvSpPr/>
          <p:nvPr/>
        </p:nvSpPr>
        <p:spPr>
          <a:xfrm>
            <a:off x="9469140" y="4566989"/>
            <a:ext cx="1910060" cy="749250"/>
          </a:xfrm>
          <a:prstGeom prst="roundRect">
            <a:avLst>
              <a:gd name="adj" fmla="val 6780"/>
            </a:avLst>
          </a:prstGeom>
          <a:solidFill>
            <a:srgbClr val="15181C"/>
          </a:solidFill>
          <a:ln/>
        </p:spPr>
      </p:sp>
      <p:sp>
        <p:nvSpPr>
          <p:cNvPr id="31" name="Text 25"/>
          <p:cNvSpPr/>
          <p:nvPr/>
        </p:nvSpPr>
        <p:spPr>
          <a:xfrm>
            <a:off x="9621540" y="4693989"/>
            <a:ext cx="1656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Archivo" pitchFamily="34" charset="0"/>
                <a:ea typeface="Archivo" pitchFamily="34" charset="-122"/>
                <a:cs typeface="Archivo" pitchFamily="34" charset="-120"/>
              </a:rPr>
              <a:t>Adopt</a:t>
            </a:r>
            <a:endParaRPr lang="en-US" sz="1600" dirty="0"/>
          </a:p>
        </p:txBody>
      </p:sp>
      <p:sp>
        <p:nvSpPr>
          <p:cNvPr id="32" name="Text 26"/>
          <p:cNvSpPr/>
          <p:nvPr/>
        </p:nvSpPr>
        <p:spPr>
          <a:xfrm>
            <a:off x="9621540" y="4975920"/>
            <a:ext cx="1656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Inter" pitchFamily="34" charset="0"/>
                <a:ea typeface="Inter" pitchFamily="34" charset="-122"/>
                <a:cs typeface="Inter" pitchFamily="34" charset="-120"/>
              </a:rPr>
              <a:t>Apps update via Nitro</a:t>
            </a:r>
            <a:endParaRPr lang="en-US" sz="1200" dirty="0"/>
          </a:p>
        </p:txBody>
      </p:sp>
      <p:sp>
        <p:nvSpPr>
          <p:cNvPr id="33" name="Text 27"/>
          <p:cNvSpPr/>
          <p:nvPr/>
        </p:nvSpPr>
        <p:spPr>
          <a:xfrm>
            <a:off x="812800" y="5621040"/>
            <a:ext cx="10883392"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81C"/>
                </a:solidFill>
                <a:latin typeface="Inter" pitchFamily="34" charset="0"/>
                <a:ea typeface="Inter" pitchFamily="34" charset="-122"/>
                <a:cs typeface="Inter" pitchFamily="34" charset="-120"/>
              </a:rPr>
              <a:t>Release policy:</a:t>
            </a:r>
            <a:r>
              <a:rPr lang="en-US" sz="1200" dirty="0">
                <a:solidFill>
                  <a:srgbClr val="4A5159"/>
                </a:solidFill>
                <a:latin typeface="Inter" pitchFamily="34" charset="0"/>
                <a:ea typeface="Inter" pitchFamily="34" charset="-122"/>
                <a:cs typeface="Inter" pitchFamily="34" charset="-120"/>
              </a:rPr>
              <a:t> breaking changes ship only in major versions, always with a migration guide and a [__]-month deprecation window.</a:t>
            </a:r>
            <a:endParaRPr lang="en-US" sz="1200" dirty="0"/>
          </a:p>
        </p:txBody>
      </p:sp>
      <p:sp>
        <p:nvSpPr>
          <p:cNvPr id="34" name="Text 2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35"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05 · MAKING IT REAL · ROADMAP</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Four milestones, built on work already under way.</a:t>
            </a:r>
            <a:endParaRPr lang="en-US" sz="3600" dirty="0"/>
          </a:p>
        </p:txBody>
      </p:sp>
      <p:sp>
        <p:nvSpPr>
          <p:cNvPr id="4" name="Shape 2"/>
          <p:cNvSpPr/>
          <p:nvPr/>
        </p:nvSpPr>
        <p:spPr>
          <a:xfrm>
            <a:off x="812800" y="2984500"/>
            <a:ext cx="2489200" cy="0"/>
          </a:xfrm>
          <a:prstGeom prst="line">
            <a:avLst/>
          </a:prstGeom>
          <a:noFill/>
          <a:ln w="50800">
            <a:solidFill>
              <a:srgbClr val="7A5C30"/>
            </a:solidFill>
            <a:prstDash val="solid"/>
          </a:ln>
        </p:spPr>
      </p:sp>
      <p:sp>
        <p:nvSpPr>
          <p:cNvPr id="5" name="Text 3"/>
          <p:cNvSpPr/>
          <p:nvPr/>
        </p:nvSpPr>
        <p:spPr>
          <a:xfrm>
            <a:off x="812800" y="318770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M1 · Under way</a:t>
            </a:r>
            <a:endParaRPr lang="en-US" sz="1200" dirty="0"/>
          </a:p>
        </p:txBody>
      </p:sp>
      <p:sp>
        <p:nvSpPr>
          <p:cNvPr id="6" name="Text 4"/>
          <p:cNvSpPr/>
          <p:nvPr/>
        </p:nvSpPr>
        <p:spPr>
          <a:xfrm>
            <a:off x="812800" y="350262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Inventory</a:t>
            </a:r>
            <a:endParaRPr lang="en-US" sz="1600" dirty="0"/>
          </a:p>
        </p:txBody>
      </p:sp>
      <p:sp>
        <p:nvSpPr>
          <p:cNvPr id="7" name="Text 5"/>
          <p:cNvSpPr/>
          <p:nvPr/>
        </p:nvSpPr>
        <p:spPr>
          <a:xfrm>
            <a:off x="812800" y="3848050"/>
            <a:ext cx="2563876"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Interface, component and pattern inventories across every app. The baseline we measure against.</a:t>
            </a:r>
            <a:endParaRPr lang="en-US" sz="1200" dirty="0"/>
          </a:p>
        </p:txBody>
      </p:sp>
      <p:sp>
        <p:nvSpPr>
          <p:cNvPr id="8" name="Shape 6"/>
          <p:cNvSpPr/>
          <p:nvPr/>
        </p:nvSpPr>
        <p:spPr>
          <a:xfrm>
            <a:off x="3505200" y="2984500"/>
            <a:ext cx="2489200" cy="0"/>
          </a:xfrm>
          <a:prstGeom prst="line">
            <a:avLst/>
          </a:prstGeom>
          <a:noFill/>
          <a:ln w="50800">
            <a:solidFill>
              <a:srgbClr val="C4A57A"/>
            </a:solidFill>
            <a:prstDash val="solid"/>
          </a:ln>
        </p:spPr>
      </p:sp>
      <p:sp>
        <p:nvSpPr>
          <p:cNvPr id="9" name="Text 7"/>
          <p:cNvSpPr/>
          <p:nvPr/>
        </p:nvSpPr>
        <p:spPr>
          <a:xfrm>
            <a:off x="3505200" y="318770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M2 · Q4 2026</a:t>
            </a:r>
            <a:endParaRPr lang="en-US" sz="1200" dirty="0"/>
          </a:p>
        </p:txBody>
      </p:sp>
      <p:sp>
        <p:nvSpPr>
          <p:cNvPr id="10" name="Text 8"/>
          <p:cNvSpPr/>
          <p:nvPr/>
        </p:nvSpPr>
        <p:spPr>
          <a:xfrm>
            <a:off x="3505200" y="350262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Foundations</a:t>
            </a:r>
            <a:endParaRPr lang="en-US" sz="1600" dirty="0"/>
          </a:p>
        </p:txBody>
      </p:sp>
      <p:sp>
        <p:nvSpPr>
          <p:cNvPr id="11" name="Text 9"/>
          <p:cNvSpPr/>
          <p:nvPr/>
        </p:nvSpPr>
        <p:spPr>
          <a:xfrm>
            <a:off x="3505200" y="3848050"/>
            <a:ext cx="256387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Tokens, type, color, icons and the Penpot library, plus the token pipeline. Runs alongside MACH1 foundation work.</a:t>
            </a:r>
            <a:endParaRPr lang="en-US" sz="1200" dirty="0"/>
          </a:p>
        </p:txBody>
      </p:sp>
      <p:sp>
        <p:nvSpPr>
          <p:cNvPr id="12" name="Shape 10"/>
          <p:cNvSpPr/>
          <p:nvPr/>
        </p:nvSpPr>
        <p:spPr>
          <a:xfrm>
            <a:off x="6197600" y="2984500"/>
            <a:ext cx="2489200" cy="0"/>
          </a:xfrm>
          <a:prstGeom prst="line">
            <a:avLst/>
          </a:prstGeom>
          <a:noFill/>
          <a:ln w="50800">
            <a:solidFill>
              <a:srgbClr val="B9BDC1"/>
            </a:solidFill>
            <a:prstDash val="solid"/>
          </a:ln>
        </p:spPr>
      </p:sp>
      <p:sp>
        <p:nvSpPr>
          <p:cNvPr id="13" name="Text 11"/>
          <p:cNvSpPr/>
          <p:nvPr/>
        </p:nvSpPr>
        <p:spPr>
          <a:xfrm>
            <a:off x="6197600" y="318770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M3 · [Q_ 2027]</a:t>
            </a:r>
            <a:endParaRPr lang="en-US" sz="1200" dirty="0"/>
          </a:p>
        </p:txBody>
      </p:sp>
      <p:sp>
        <p:nvSpPr>
          <p:cNvPr id="14" name="Text 12"/>
          <p:cNvSpPr/>
          <p:nvPr/>
        </p:nvSpPr>
        <p:spPr>
          <a:xfrm>
            <a:off x="6197600" y="350262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Core components</a:t>
            </a:r>
            <a:endParaRPr lang="en-US" sz="1600" dirty="0"/>
          </a:p>
        </p:txBody>
      </p:sp>
      <p:sp>
        <p:nvSpPr>
          <p:cNvPr id="15" name="Text 13"/>
          <p:cNvSpPr/>
          <p:nvPr/>
        </p:nvSpPr>
        <p:spPr>
          <a:xfrm>
            <a:off x="6197600" y="3848050"/>
            <a:ext cx="256387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The [__] most-used components from the Phase 2 inventory, coded, documented and live in Storybook.</a:t>
            </a:r>
            <a:endParaRPr lang="en-US" sz="1200" dirty="0"/>
          </a:p>
        </p:txBody>
      </p:sp>
      <p:sp>
        <p:nvSpPr>
          <p:cNvPr id="16" name="Shape 14"/>
          <p:cNvSpPr/>
          <p:nvPr/>
        </p:nvSpPr>
        <p:spPr>
          <a:xfrm>
            <a:off x="8890000" y="2984500"/>
            <a:ext cx="2489200" cy="0"/>
          </a:xfrm>
          <a:prstGeom prst="line">
            <a:avLst/>
          </a:prstGeom>
          <a:noFill/>
          <a:ln w="50800">
            <a:solidFill>
              <a:srgbClr val="B9BDC1"/>
            </a:solidFill>
            <a:prstDash val="solid"/>
          </a:ln>
        </p:spPr>
      </p:sp>
      <p:sp>
        <p:nvSpPr>
          <p:cNvPr id="17" name="Text 15"/>
          <p:cNvSpPr/>
          <p:nvPr/>
        </p:nvSpPr>
        <p:spPr>
          <a:xfrm>
            <a:off x="8890000" y="318770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M4 · [Q_ 2027]</a:t>
            </a:r>
            <a:endParaRPr lang="en-US" sz="1200" dirty="0"/>
          </a:p>
        </p:txBody>
      </p:sp>
      <p:sp>
        <p:nvSpPr>
          <p:cNvPr id="18" name="Text 16"/>
          <p:cNvSpPr/>
          <p:nvPr/>
        </p:nvSpPr>
        <p:spPr>
          <a:xfrm>
            <a:off x="8890000" y="350262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Adoption</a:t>
            </a:r>
            <a:endParaRPr lang="en-US" sz="1600" dirty="0"/>
          </a:p>
        </p:txBody>
      </p:sp>
      <p:sp>
        <p:nvSpPr>
          <p:cNvPr id="19" name="Text 17"/>
          <p:cNvSpPr/>
          <p:nvPr/>
        </p:nvSpPr>
        <p:spPr>
          <a:xfrm>
            <a:off x="8890000" y="3848050"/>
            <a:ext cx="2563876"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SuperApps launch on Trenchcoat. Existing apps adopt tokens at their next major release.</a:t>
            </a:r>
            <a:endParaRPr lang="en-US" sz="1200" dirty="0"/>
          </a:p>
        </p:txBody>
      </p:sp>
      <p:sp>
        <p:nvSpPr>
          <p:cNvPr id="20" name="Text 18"/>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5181C"/>
                </a:solidFill>
                <a:latin typeface="Inter" pitchFamily="34" charset="0"/>
                <a:ea typeface="Inter" pitchFamily="34" charset="-122"/>
                <a:cs typeface="Inter" pitchFamily="34" charset="-120"/>
              </a:rPr>
              <a:t>No big-bang rewrite: </a:t>
            </a:r>
            <a:r>
              <a:rPr lang="en-US" sz="1600" dirty="0">
                <a:solidFill>
                  <a:srgbClr val="7A5C30"/>
                </a:solidFill>
                <a:latin typeface="Inter" pitchFamily="34" charset="0"/>
                <a:ea typeface="Inter" pitchFamily="34" charset="-122"/>
                <a:cs typeface="Inter" pitchFamily="34" charset="-120"/>
              </a:rPr>
              <a:t>new work starts on Trenchcoat, existing work converges as it ships.</a:t>
            </a:r>
            <a:endParaRPr lang="en-US" sz="16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A5C30"/>
                </a:solidFill>
                <a:latin typeface="JetBrains Mono" pitchFamily="49" charset="0"/>
                <a:ea typeface="JetBrains Mono" pitchFamily="49" charset="-122"/>
                <a:cs typeface="JetBrains Mono" pitchFamily="49" charset="-120"/>
              </a:rPr>
              <a:t>05 · MAKING IT REAL · MEASURES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5181C"/>
                </a:solidFill>
                <a:latin typeface="Archivo" pitchFamily="34" charset="0"/>
                <a:ea typeface="Archivo" pitchFamily="34" charset="-122"/>
                <a:cs typeface="Archivo" pitchFamily="34" charset="-120"/>
              </a:rPr>
              <a:t>We measure outcomes, not activity.</a:t>
            </a:r>
            <a:endParaRPr lang="en-US" sz="3600" dirty="0"/>
          </a:p>
        </p:txBody>
      </p:sp>
      <p:sp>
        <p:nvSpPr>
          <p:cNvPr id="4" name="Shape 2"/>
          <p:cNvSpPr/>
          <p:nvPr/>
        </p:nvSpPr>
        <p:spPr>
          <a:xfrm>
            <a:off x="815975" y="2423220"/>
            <a:ext cx="1984970" cy="2405211"/>
          </a:xfrm>
          <a:prstGeom prst="roundRect">
            <a:avLst>
              <a:gd name="adj" fmla="val 3679"/>
            </a:avLst>
          </a:prstGeom>
          <a:solidFill>
            <a:srgbClr val="FBF9F4"/>
          </a:solidFill>
          <a:ln w="6350">
            <a:solidFill>
              <a:srgbClr val="DCDAD3"/>
            </a:solidFill>
            <a:prstDash val="solid"/>
          </a:ln>
        </p:spPr>
      </p:sp>
      <p:sp>
        <p:nvSpPr>
          <p:cNvPr id="5" name="Text 3"/>
          <p:cNvSpPr/>
          <p:nvPr/>
        </p:nvSpPr>
        <p:spPr>
          <a:xfrm>
            <a:off x="996950" y="2604195"/>
            <a:ext cx="1673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96950" y="2919115"/>
            <a:ext cx="16738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Adoption</a:t>
            </a:r>
            <a:endParaRPr lang="en-US" sz="1600" dirty="0"/>
          </a:p>
        </p:txBody>
      </p:sp>
      <p:sp>
        <p:nvSpPr>
          <p:cNvPr id="7" name="Text 5"/>
          <p:cNvSpPr/>
          <p:nvPr/>
        </p:nvSpPr>
        <p:spPr>
          <a:xfrm>
            <a:off x="996950" y="3264545"/>
            <a:ext cx="167382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Share of apps consuming Trenchcoat tokens</a:t>
            </a:r>
            <a:endParaRPr lang="en-US" sz="1200" dirty="0"/>
          </a:p>
        </p:txBody>
      </p:sp>
      <p:sp>
        <p:nvSpPr>
          <p:cNvPr id="8" name="Shape 6"/>
          <p:cNvSpPr/>
          <p:nvPr/>
        </p:nvSpPr>
        <p:spPr>
          <a:xfrm>
            <a:off x="996950" y="4354761"/>
            <a:ext cx="1623020" cy="0"/>
          </a:xfrm>
          <a:prstGeom prst="line">
            <a:avLst/>
          </a:prstGeom>
          <a:noFill/>
          <a:ln w="6350">
            <a:solidFill>
              <a:srgbClr val="DCDAD3"/>
            </a:solidFill>
            <a:prstDash val="solid"/>
          </a:ln>
        </p:spPr>
      </p:sp>
      <p:sp>
        <p:nvSpPr>
          <p:cNvPr id="9" name="Text 7"/>
          <p:cNvSpPr/>
          <p:nvPr/>
        </p:nvSpPr>
        <p:spPr>
          <a:xfrm>
            <a:off x="996950" y="4434136"/>
            <a:ext cx="1673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Target [__]%</a:t>
            </a:r>
            <a:endParaRPr lang="en-US" sz="1200" dirty="0"/>
          </a:p>
        </p:txBody>
      </p:sp>
      <p:sp>
        <p:nvSpPr>
          <p:cNvPr id="10" name="Shape 8"/>
          <p:cNvSpPr/>
          <p:nvPr/>
        </p:nvSpPr>
        <p:spPr>
          <a:xfrm>
            <a:off x="2959695" y="2423220"/>
            <a:ext cx="1985020" cy="2405211"/>
          </a:xfrm>
          <a:prstGeom prst="roundRect">
            <a:avLst>
              <a:gd name="adj" fmla="val 3679"/>
            </a:avLst>
          </a:prstGeom>
          <a:solidFill>
            <a:srgbClr val="FBF9F4"/>
          </a:solidFill>
          <a:ln w="6350">
            <a:solidFill>
              <a:srgbClr val="DCDAD3"/>
            </a:solidFill>
            <a:prstDash val="solid"/>
          </a:ln>
        </p:spPr>
      </p:sp>
      <p:sp>
        <p:nvSpPr>
          <p:cNvPr id="11" name="Text 9"/>
          <p:cNvSpPr/>
          <p:nvPr/>
        </p:nvSpPr>
        <p:spPr>
          <a:xfrm>
            <a:off x="3140670" y="2604195"/>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02</a:t>
            </a:r>
            <a:endParaRPr lang="en-US" sz="1200" dirty="0"/>
          </a:p>
        </p:txBody>
      </p:sp>
      <p:sp>
        <p:nvSpPr>
          <p:cNvPr id="12" name="Text 10"/>
          <p:cNvSpPr/>
          <p:nvPr/>
        </p:nvSpPr>
        <p:spPr>
          <a:xfrm>
            <a:off x="3140670" y="2919115"/>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Reuse</a:t>
            </a:r>
            <a:endParaRPr lang="en-US" sz="1600" dirty="0"/>
          </a:p>
        </p:txBody>
      </p:sp>
      <p:sp>
        <p:nvSpPr>
          <p:cNvPr id="13" name="Text 11"/>
          <p:cNvSpPr/>
          <p:nvPr/>
        </p:nvSpPr>
        <p:spPr>
          <a:xfrm>
            <a:off x="3140670" y="3264545"/>
            <a:ext cx="167387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Share of UI built from Trenchcoat components, scanned from code</a:t>
            </a:r>
            <a:endParaRPr lang="en-US" sz="1200" dirty="0"/>
          </a:p>
        </p:txBody>
      </p:sp>
      <p:sp>
        <p:nvSpPr>
          <p:cNvPr id="14" name="Shape 12"/>
          <p:cNvSpPr/>
          <p:nvPr/>
        </p:nvSpPr>
        <p:spPr>
          <a:xfrm>
            <a:off x="3140670" y="4354761"/>
            <a:ext cx="1623070" cy="0"/>
          </a:xfrm>
          <a:prstGeom prst="line">
            <a:avLst/>
          </a:prstGeom>
          <a:noFill/>
          <a:ln w="6350">
            <a:solidFill>
              <a:srgbClr val="DCDAD3"/>
            </a:solidFill>
            <a:prstDash val="solid"/>
          </a:ln>
        </p:spPr>
      </p:sp>
      <p:sp>
        <p:nvSpPr>
          <p:cNvPr id="15" name="Text 13"/>
          <p:cNvSpPr/>
          <p:nvPr/>
        </p:nvSpPr>
        <p:spPr>
          <a:xfrm>
            <a:off x="3140670" y="4434136"/>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Target [__]%</a:t>
            </a:r>
            <a:endParaRPr lang="en-US" sz="1200" dirty="0"/>
          </a:p>
        </p:txBody>
      </p:sp>
      <p:sp>
        <p:nvSpPr>
          <p:cNvPr id="16" name="Shape 14"/>
          <p:cNvSpPr/>
          <p:nvPr/>
        </p:nvSpPr>
        <p:spPr>
          <a:xfrm>
            <a:off x="5103465" y="2423220"/>
            <a:ext cx="1985020" cy="2405211"/>
          </a:xfrm>
          <a:prstGeom prst="roundRect">
            <a:avLst>
              <a:gd name="adj" fmla="val 3679"/>
            </a:avLst>
          </a:prstGeom>
          <a:solidFill>
            <a:srgbClr val="FBF9F4"/>
          </a:solidFill>
          <a:ln w="6350">
            <a:solidFill>
              <a:srgbClr val="DCDAD3"/>
            </a:solidFill>
            <a:prstDash val="solid"/>
          </a:ln>
        </p:spPr>
      </p:sp>
      <p:sp>
        <p:nvSpPr>
          <p:cNvPr id="17" name="Text 15"/>
          <p:cNvSpPr/>
          <p:nvPr/>
        </p:nvSpPr>
        <p:spPr>
          <a:xfrm>
            <a:off x="5284440" y="2604195"/>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03</a:t>
            </a:r>
            <a:endParaRPr lang="en-US" sz="1200" dirty="0"/>
          </a:p>
        </p:txBody>
      </p:sp>
      <p:sp>
        <p:nvSpPr>
          <p:cNvPr id="18" name="Text 16"/>
          <p:cNvSpPr/>
          <p:nvPr/>
        </p:nvSpPr>
        <p:spPr>
          <a:xfrm>
            <a:off x="5284440" y="2919115"/>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Velocity</a:t>
            </a:r>
            <a:endParaRPr lang="en-US" sz="1600" dirty="0"/>
          </a:p>
        </p:txBody>
      </p:sp>
      <p:sp>
        <p:nvSpPr>
          <p:cNvPr id="19" name="Text 17"/>
          <p:cNvSpPr/>
          <p:nvPr/>
        </p:nvSpPr>
        <p:spPr>
          <a:xfrm>
            <a:off x="5284440" y="3264545"/>
            <a:ext cx="16738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Time from approved design to production</a:t>
            </a:r>
            <a:endParaRPr lang="en-US" sz="1200" dirty="0"/>
          </a:p>
        </p:txBody>
      </p:sp>
      <p:sp>
        <p:nvSpPr>
          <p:cNvPr id="20" name="Shape 18"/>
          <p:cNvSpPr/>
          <p:nvPr/>
        </p:nvSpPr>
        <p:spPr>
          <a:xfrm>
            <a:off x="5284440" y="4354761"/>
            <a:ext cx="1623070" cy="0"/>
          </a:xfrm>
          <a:prstGeom prst="line">
            <a:avLst/>
          </a:prstGeom>
          <a:noFill/>
          <a:ln w="6350">
            <a:solidFill>
              <a:srgbClr val="DCDAD3"/>
            </a:solidFill>
            <a:prstDash val="solid"/>
          </a:ln>
        </p:spPr>
      </p:sp>
      <p:sp>
        <p:nvSpPr>
          <p:cNvPr id="21" name="Text 19"/>
          <p:cNvSpPr/>
          <p:nvPr/>
        </p:nvSpPr>
        <p:spPr>
          <a:xfrm>
            <a:off x="5284440" y="4434136"/>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Target −[__]%</a:t>
            </a:r>
            <a:endParaRPr lang="en-US" sz="1200" dirty="0"/>
          </a:p>
        </p:txBody>
      </p:sp>
      <p:sp>
        <p:nvSpPr>
          <p:cNvPr id="22" name="Shape 20"/>
          <p:cNvSpPr/>
          <p:nvPr/>
        </p:nvSpPr>
        <p:spPr>
          <a:xfrm>
            <a:off x="7247235" y="2423220"/>
            <a:ext cx="1985020" cy="2405211"/>
          </a:xfrm>
          <a:prstGeom prst="roundRect">
            <a:avLst>
              <a:gd name="adj" fmla="val 3679"/>
            </a:avLst>
          </a:prstGeom>
          <a:solidFill>
            <a:srgbClr val="FBF9F4"/>
          </a:solidFill>
          <a:ln w="6350">
            <a:solidFill>
              <a:srgbClr val="DCDAD3"/>
            </a:solidFill>
            <a:prstDash val="solid"/>
          </a:ln>
        </p:spPr>
      </p:sp>
      <p:sp>
        <p:nvSpPr>
          <p:cNvPr id="23" name="Text 21"/>
          <p:cNvSpPr/>
          <p:nvPr/>
        </p:nvSpPr>
        <p:spPr>
          <a:xfrm>
            <a:off x="7428210" y="2604195"/>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04</a:t>
            </a:r>
            <a:endParaRPr lang="en-US" sz="1200" dirty="0"/>
          </a:p>
        </p:txBody>
      </p:sp>
      <p:sp>
        <p:nvSpPr>
          <p:cNvPr id="24" name="Text 22"/>
          <p:cNvSpPr/>
          <p:nvPr/>
        </p:nvSpPr>
        <p:spPr>
          <a:xfrm>
            <a:off x="7428210" y="2919115"/>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Quality</a:t>
            </a:r>
            <a:endParaRPr lang="en-US" sz="1600" dirty="0"/>
          </a:p>
        </p:txBody>
      </p:sp>
      <p:sp>
        <p:nvSpPr>
          <p:cNvPr id="25" name="Text 23"/>
          <p:cNvSpPr/>
          <p:nvPr/>
        </p:nvSpPr>
        <p:spPr>
          <a:xfrm>
            <a:off x="7428210" y="3264545"/>
            <a:ext cx="167387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Accessibility defects per release</a:t>
            </a:r>
            <a:endParaRPr lang="en-US" sz="1200" dirty="0"/>
          </a:p>
        </p:txBody>
      </p:sp>
      <p:sp>
        <p:nvSpPr>
          <p:cNvPr id="26" name="Shape 24"/>
          <p:cNvSpPr/>
          <p:nvPr/>
        </p:nvSpPr>
        <p:spPr>
          <a:xfrm>
            <a:off x="7428210" y="4354761"/>
            <a:ext cx="1623070" cy="0"/>
          </a:xfrm>
          <a:prstGeom prst="line">
            <a:avLst/>
          </a:prstGeom>
          <a:noFill/>
          <a:ln w="6350">
            <a:solidFill>
              <a:srgbClr val="DCDAD3"/>
            </a:solidFill>
            <a:prstDash val="solid"/>
          </a:ln>
        </p:spPr>
      </p:sp>
      <p:sp>
        <p:nvSpPr>
          <p:cNvPr id="27" name="Text 25"/>
          <p:cNvSpPr/>
          <p:nvPr/>
        </p:nvSpPr>
        <p:spPr>
          <a:xfrm>
            <a:off x="7428210" y="4434136"/>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Target −[__]%</a:t>
            </a:r>
            <a:endParaRPr lang="en-US" sz="1200" dirty="0"/>
          </a:p>
        </p:txBody>
      </p:sp>
      <p:sp>
        <p:nvSpPr>
          <p:cNvPr id="28" name="Shape 26"/>
          <p:cNvSpPr/>
          <p:nvPr/>
        </p:nvSpPr>
        <p:spPr>
          <a:xfrm>
            <a:off x="9391005" y="2423220"/>
            <a:ext cx="1985020" cy="2405211"/>
          </a:xfrm>
          <a:prstGeom prst="roundRect">
            <a:avLst>
              <a:gd name="adj" fmla="val 3679"/>
            </a:avLst>
          </a:prstGeom>
          <a:solidFill>
            <a:srgbClr val="FBF9F4"/>
          </a:solidFill>
          <a:ln w="6350">
            <a:solidFill>
              <a:srgbClr val="DCDAD3"/>
            </a:solidFill>
            <a:prstDash val="solid"/>
          </a:ln>
        </p:spPr>
      </p:sp>
      <p:sp>
        <p:nvSpPr>
          <p:cNvPr id="29" name="Text 27"/>
          <p:cNvSpPr/>
          <p:nvPr/>
        </p:nvSpPr>
        <p:spPr>
          <a:xfrm>
            <a:off x="9571980" y="2604195"/>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C30"/>
                </a:solidFill>
                <a:latin typeface="JetBrains Mono" pitchFamily="49" charset="0"/>
                <a:ea typeface="JetBrains Mono" pitchFamily="49" charset="-122"/>
                <a:cs typeface="JetBrains Mono" pitchFamily="49" charset="-120"/>
              </a:rPr>
              <a:t>05</a:t>
            </a:r>
            <a:endParaRPr lang="en-US" sz="1200" dirty="0"/>
          </a:p>
        </p:txBody>
      </p:sp>
      <p:sp>
        <p:nvSpPr>
          <p:cNvPr id="30" name="Text 28"/>
          <p:cNvSpPr/>
          <p:nvPr/>
        </p:nvSpPr>
        <p:spPr>
          <a:xfrm>
            <a:off x="9571980" y="2919115"/>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181C"/>
                </a:solidFill>
                <a:latin typeface="Archivo" pitchFamily="34" charset="0"/>
                <a:ea typeface="Archivo" pitchFamily="34" charset="-122"/>
                <a:cs typeface="Archivo" pitchFamily="34" charset="-120"/>
              </a:rPr>
              <a:t>Experience</a:t>
            </a:r>
            <a:endParaRPr lang="en-US" sz="1600" dirty="0"/>
          </a:p>
        </p:txBody>
      </p:sp>
      <p:sp>
        <p:nvSpPr>
          <p:cNvPr id="31" name="Text 29"/>
          <p:cNvSpPr/>
          <p:nvPr/>
        </p:nvSpPr>
        <p:spPr>
          <a:xfrm>
            <a:off x="9571980" y="3264545"/>
            <a:ext cx="167387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159"/>
                </a:solidFill>
                <a:latin typeface="Inter" pitchFamily="34" charset="0"/>
                <a:ea typeface="Inter" pitchFamily="34" charset="-122"/>
                <a:cs typeface="Inter" pitchFamily="34" charset="-120"/>
              </a:rPr>
              <a:t>Task success and SUS scores in user testing</a:t>
            </a:r>
            <a:endParaRPr lang="en-US" sz="1200" dirty="0"/>
          </a:p>
        </p:txBody>
      </p:sp>
      <p:sp>
        <p:nvSpPr>
          <p:cNvPr id="32" name="Shape 30"/>
          <p:cNvSpPr/>
          <p:nvPr/>
        </p:nvSpPr>
        <p:spPr>
          <a:xfrm>
            <a:off x="9571980" y="4354761"/>
            <a:ext cx="1623070" cy="0"/>
          </a:xfrm>
          <a:prstGeom prst="line">
            <a:avLst/>
          </a:prstGeom>
          <a:noFill/>
          <a:ln w="6350">
            <a:solidFill>
              <a:srgbClr val="DCDAD3"/>
            </a:solidFill>
            <a:prstDash val="solid"/>
          </a:ln>
        </p:spPr>
      </p:sp>
      <p:sp>
        <p:nvSpPr>
          <p:cNvPr id="33" name="Text 31"/>
          <p:cNvSpPr/>
          <p:nvPr/>
        </p:nvSpPr>
        <p:spPr>
          <a:xfrm>
            <a:off x="9571980" y="4434136"/>
            <a:ext cx="16738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181C"/>
                </a:solidFill>
                <a:latin typeface="JetBrains Mono" pitchFamily="49" charset="0"/>
                <a:ea typeface="JetBrains Mono" pitchFamily="49" charset="-122"/>
                <a:cs typeface="JetBrains Mono" pitchFamily="49" charset="-120"/>
              </a:rPr>
              <a:t>Target SUS [__]</a:t>
            </a:r>
            <a:endParaRPr lang="en-US" sz="1200" dirty="0"/>
          </a:p>
        </p:txBody>
      </p:sp>
      <p:sp>
        <p:nvSpPr>
          <p:cNvPr id="34" name="Text 32"/>
          <p:cNvSpPr/>
          <p:nvPr/>
        </p:nvSpPr>
        <p:spPr>
          <a:xfrm>
            <a:off x="812800" y="5621040"/>
            <a:ext cx="10883392"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181C"/>
                </a:solidFill>
                <a:latin typeface="Inter" pitchFamily="34" charset="0"/>
                <a:ea typeface="Inter" pitchFamily="34" charset="-122"/>
                <a:cs typeface="Inter" pitchFamily="34" charset="-120"/>
              </a:rPr>
              <a:t>From the toolchain we already run:</a:t>
            </a:r>
            <a:r>
              <a:rPr lang="en-US" sz="1200" dirty="0">
                <a:solidFill>
                  <a:srgbClr val="4A5159"/>
                </a:solidFill>
                <a:latin typeface="Inter" pitchFamily="34" charset="0"/>
                <a:ea typeface="Inter" pitchFamily="34" charset="-122"/>
                <a:cs typeface="Inter" pitchFamily="34" charset="-120"/>
              </a:rPr>
              <a:t> code scans in CI, Jira and Elastic. These measures feed directly into the Metrics that Matter strategy.</a:t>
            </a:r>
            <a:endParaRPr lang="en-US" sz="1200" dirty="0"/>
          </a:p>
        </p:txBody>
      </p:sp>
      <p:sp>
        <p:nvSpPr>
          <p:cNvPr id="35" name="Text 3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TRENCHCOAT · BRAND BOOK v0.1</a:t>
            </a:r>
            <a:endParaRPr lang="en-US" sz="1200" dirty="0"/>
          </a:p>
        </p:txBody>
      </p:sp>
      <p:sp>
        <p:nvSpPr>
          <p:cNvPr id="36" name="Text 3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6E"/>
                </a:solidFill>
                <a:latin typeface="JetBrains Mono" pitchFamily="49" charset="0"/>
                <a:ea typeface="JetBrains Mono" pitchFamily="49" charset="-122"/>
                <a:cs typeface="JetBrains Mono" pitchFamily="49"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518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05 · MAKING IT REAL · THE ASK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3EFE6"/>
                </a:solidFill>
                <a:latin typeface="Archivo" pitchFamily="34" charset="0"/>
                <a:ea typeface="Archivo" pitchFamily="34" charset="-122"/>
                <a:cs typeface="Archivo" pitchFamily="34" charset="-120"/>
              </a:rPr>
              <a:t>Three decisions we need today.</a:t>
            </a:r>
            <a:endParaRPr lang="en-US" sz="3600" dirty="0"/>
          </a:p>
        </p:txBody>
      </p:sp>
      <p:sp>
        <p:nvSpPr>
          <p:cNvPr id="4" name="Shape 2"/>
          <p:cNvSpPr/>
          <p:nvPr/>
        </p:nvSpPr>
        <p:spPr>
          <a:xfrm>
            <a:off x="812800" y="2385665"/>
            <a:ext cx="10566400" cy="0"/>
          </a:xfrm>
          <a:prstGeom prst="line">
            <a:avLst/>
          </a:prstGeom>
          <a:noFill/>
          <a:ln w="12700">
            <a:solidFill>
              <a:srgbClr val="C4A57A"/>
            </a:solidFill>
            <a:prstDash val="solid"/>
          </a:ln>
        </p:spPr>
      </p:sp>
      <p:sp>
        <p:nvSpPr>
          <p:cNvPr id="5" name="Text 3"/>
          <p:cNvSpPr/>
          <p:nvPr/>
        </p:nvSpPr>
        <p:spPr>
          <a:xfrm>
            <a:off x="812800" y="2569815"/>
            <a:ext cx="749300"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C4A57A"/>
                </a:solidFill>
                <a:latin typeface="Archivo" pitchFamily="34" charset="0"/>
                <a:ea typeface="Archivo" pitchFamily="34" charset="-122"/>
                <a:cs typeface="Archivo" pitchFamily="34" charset="-120"/>
              </a:rPr>
              <a:t>1</a:t>
            </a:r>
            <a:endParaRPr lang="en-US" sz="3600" dirty="0"/>
          </a:p>
        </p:txBody>
      </p:sp>
      <p:sp>
        <p:nvSpPr>
          <p:cNvPr id="6" name="Text 4"/>
          <p:cNvSpPr/>
          <p:nvPr/>
        </p:nvSpPr>
        <p:spPr>
          <a:xfrm>
            <a:off x="1816100" y="2586335"/>
            <a:ext cx="9849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EFE6"/>
                </a:solidFill>
                <a:latin typeface="Archivo" pitchFamily="34" charset="0"/>
                <a:ea typeface="Archivo" pitchFamily="34" charset="-122"/>
                <a:cs typeface="Archivo" pitchFamily="34" charset="-120"/>
              </a:rPr>
              <a:t>Adopt Trenchcoat as the standard</a:t>
            </a:r>
            <a:endParaRPr lang="en-US" sz="2200" dirty="0"/>
          </a:p>
        </p:txBody>
      </p:sp>
      <p:sp>
        <p:nvSpPr>
          <p:cNvPr id="7" name="Text 5"/>
          <p:cNvSpPr/>
          <p:nvPr/>
        </p:nvSpPr>
        <p:spPr>
          <a:xfrm>
            <a:off x="1816100" y="2972395"/>
            <a:ext cx="984999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For all new user interface work, ratified through the AERB.</a:t>
            </a:r>
            <a:endParaRPr lang="en-US" sz="1200" dirty="0"/>
          </a:p>
        </p:txBody>
      </p:sp>
      <p:sp>
        <p:nvSpPr>
          <p:cNvPr id="8" name="Shape 6"/>
          <p:cNvSpPr/>
          <p:nvPr/>
        </p:nvSpPr>
        <p:spPr>
          <a:xfrm>
            <a:off x="812800" y="3390850"/>
            <a:ext cx="10566400" cy="0"/>
          </a:xfrm>
          <a:prstGeom prst="line">
            <a:avLst/>
          </a:prstGeom>
          <a:noFill/>
          <a:ln w="6350">
            <a:solidFill>
              <a:srgbClr val="343A41"/>
            </a:solidFill>
            <a:prstDash val="solid"/>
          </a:ln>
        </p:spPr>
      </p:sp>
      <p:sp>
        <p:nvSpPr>
          <p:cNvPr id="9" name="Text 7"/>
          <p:cNvSpPr/>
          <p:nvPr/>
        </p:nvSpPr>
        <p:spPr>
          <a:xfrm>
            <a:off x="812800" y="3571825"/>
            <a:ext cx="749300"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C4A57A"/>
                </a:solidFill>
                <a:latin typeface="Archivo" pitchFamily="34" charset="0"/>
                <a:ea typeface="Archivo" pitchFamily="34" charset="-122"/>
                <a:cs typeface="Archivo" pitchFamily="34" charset="-120"/>
              </a:rPr>
              <a:t>2</a:t>
            </a:r>
            <a:endParaRPr lang="en-US" sz="3600" dirty="0"/>
          </a:p>
        </p:txBody>
      </p:sp>
      <p:sp>
        <p:nvSpPr>
          <p:cNvPr id="10" name="Text 8"/>
          <p:cNvSpPr/>
          <p:nvPr/>
        </p:nvSpPr>
        <p:spPr>
          <a:xfrm>
            <a:off x="1816100" y="3588345"/>
            <a:ext cx="9849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EFE6"/>
                </a:solidFill>
                <a:latin typeface="Archivo" pitchFamily="34" charset="0"/>
                <a:ea typeface="Archivo" pitchFamily="34" charset="-122"/>
                <a:cs typeface="Archivo" pitchFamily="34" charset="-120"/>
              </a:rPr>
              <a:t>Fund a dedicated core team</a:t>
            </a:r>
            <a:endParaRPr lang="en-US" sz="2200" dirty="0"/>
          </a:p>
        </p:txBody>
      </p:sp>
      <p:sp>
        <p:nvSpPr>
          <p:cNvPr id="11" name="Text 9"/>
          <p:cNvSpPr/>
          <p:nvPr/>
        </p:nvSpPr>
        <p:spPr>
          <a:xfrm>
            <a:off x="1816100" y="3974405"/>
            <a:ext cx="984999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[__] designers, [__] engineers and an accessibility lead, starting [date].</a:t>
            </a:r>
            <a:endParaRPr lang="en-US" sz="1200" dirty="0"/>
          </a:p>
        </p:txBody>
      </p:sp>
      <p:sp>
        <p:nvSpPr>
          <p:cNvPr id="12" name="Shape 10"/>
          <p:cNvSpPr/>
          <p:nvPr/>
        </p:nvSpPr>
        <p:spPr>
          <a:xfrm>
            <a:off x="812800" y="4392861"/>
            <a:ext cx="10566400" cy="0"/>
          </a:xfrm>
          <a:prstGeom prst="line">
            <a:avLst/>
          </a:prstGeom>
          <a:noFill/>
          <a:ln w="6350">
            <a:solidFill>
              <a:srgbClr val="343A41"/>
            </a:solidFill>
            <a:prstDash val="solid"/>
          </a:ln>
        </p:spPr>
      </p:sp>
      <p:sp>
        <p:nvSpPr>
          <p:cNvPr id="13" name="Shape 11"/>
          <p:cNvSpPr/>
          <p:nvPr/>
        </p:nvSpPr>
        <p:spPr>
          <a:xfrm>
            <a:off x="812800" y="5394871"/>
            <a:ext cx="10566400" cy="0"/>
          </a:xfrm>
          <a:prstGeom prst="line">
            <a:avLst/>
          </a:prstGeom>
          <a:noFill/>
          <a:ln w="6350">
            <a:solidFill>
              <a:srgbClr val="343A41"/>
            </a:solidFill>
            <a:prstDash val="solid"/>
          </a:ln>
        </p:spPr>
      </p:sp>
      <p:sp>
        <p:nvSpPr>
          <p:cNvPr id="14" name="Text 12"/>
          <p:cNvSpPr/>
          <p:nvPr/>
        </p:nvSpPr>
        <p:spPr>
          <a:xfrm>
            <a:off x="812800" y="4573836"/>
            <a:ext cx="749300"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C4A57A"/>
                </a:solidFill>
                <a:latin typeface="Archivo" pitchFamily="34" charset="0"/>
                <a:ea typeface="Archivo" pitchFamily="34" charset="-122"/>
                <a:cs typeface="Archivo" pitchFamily="34" charset="-120"/>
              </a:rPr>
              <a:t>3</a:t>
            </a:r>
            <a:endParaRPr lang="en-US" sz="3600" dirty="0"/>
          </a:p>
        </p:txBody>
      </p:sp>
      <p:sp>
        <p:nvSpPr>
          <p:cNvPr id="15" name="Text 13"/>
          <p:cNvSpPr/>
          <p:nvPr/>
        </p:nvSpPr>
        <p:spPr>
          <a:xfrm>
            <a:off x="1816100" y="4590355"/>
            <a:ext cx="9849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EFE6"/>
                </a:solidFill>
                <a:latin typeface="Archivo" pitchFamily="34" charset="0"/>
                <a:ea typeface="Archivo" pitchFamily="34" charset="-122"/>
                <a:cs typeface="Archivo" pitchFamily="34" charset="-120"/>
              </a:rPr>
              <a:t>Launch every SuperApp on Trenchcoat</a:t>
            </a:r>
            <a:endParaRPr lang="en-US" sz="2200" dirty="0"/>
          </a:p>
        </p:txBody>
      </p:sp>
      <p:sp>
        <p:nvSpPr>
          <p:cNvPr id="16" name="Text 14"/>
          <p:cNvSpPr/>
          <p:nvPr/>
        </p:nvSpPr>
        <p:spPr>
          <a:xfrm>
            <a:off x="1816100" y="4976416"/>
            <a:ext cx="984999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4A8"/>
                </a:solidFill>
                <a:latin typeface="Inter" pitchFamily="34" charset="0"/>
                <a:ea typeface="Inter" pitchFamily="34" charset="-122"/>
                <a:cs typeface="Inter" pitchFamily="34" charset="-120"/>
              </a:rPr>
              <a:t>MACH1 SuperApps ship on Trenchcoat from day one, so the unified experience is built in, not retrofitted.</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TRENCHCOAT · BRAND BOOK v0.1</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68C"/>
                </a:solidFill>
                <a:latin typeface="JetBrains Mono" pitchFamily="49" charset="0"/>
                <a:ea typeface="JetBrains Mono" pitchFamily="49" charset="-122"/>
                <a:cs typeface="JetBrains Mono" pitchFamily="49"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5181C"/>
        </a:solidFill>
      </p:bgPr>
    </p:bg>
    <p:spTree>
      <p:nvGrpSpPr>
        <p:cNvPr id="1" name=""/>
        <p:cNvGrpSpPr/>
        <p:nvPr/>
      </p:nvGrpSpPr>
      <p:grpSpPr>
        <a:xfrm>
          <a:off x="0" y="0"/>
          <a:ext cx="0" cy="0"/>
          <a:chOff x="0" y="0"/>
          <a:chExt cx="0" cy="0"/>
        </a:xfrm>
      </p:grpSpPr>
      <p:pic>
        <p:nvPicPr>
          <p:cNvPr id="2" name="Image 0" descr="Abstract trench coat front: khaki panel with lapels, double-breasted buttons and a belt">    </p:cNvPr>
          <p:cNvPicPr>
            <a:picLocks noChangeAspect="1"/>
          </p:cNvPicPr>
          <p:nvPr/>
        </p:nvPicPr>
        <p:blipFill>
          <a:blip r:embed="rId1"/>
          <a:srcRect l="-12" r="-12" t="0" b="0"/>
          <a:stretch/>
        </p:blipFill>
        <p:spPr>
          <a:xfrm>
            <a:off x="8839200" y="0"/>
            <a:ext cx="33528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4A57A"/>
                </a:solidFill>
                <a:latin typeface="JetBrains Mono" pitchFamily="49" charset="0"/>
                <a:ea typeface="JetBrains Mono" pitchFamily="49" charset="-122"/>
                <a:cs typeface="JetBrains Mono" pitchFamily="49" charset="-120"/>
              </a:rPr>
              <a:t>TRENCHCOAT</a:t>
            </a:r>
            <a:endParaRPr lang="en-US" sz="1200" dirty="0"/>
          </a:p>
        </p:txBody>
      </p:sp>
      <p:sp>
        <p:nvSpPr>
          <p:cNvPr id="4" name="Text 1"/>
          <p:cNvSpPr/>
          <p:nvPr>
            <p:ph type="title"/>
          </p:nvPr>
        </p:nvSpPr>
        <p:spPr>
          <a:xfrm>
            <a:off x="812800" y="2451150"/>
            <a:ext cx="7586980" cy="1041400"/>
          </a:xfrm>
          <a:prstGeom prst="rect">
            <a:avLst/>
          </a:prstGeom>
          <a:noFill/>
          <a:ln/>
        </p:spPr>
        <p:txBody>
          <a:bodyPr wrap="square" lIns="0" tIns="0" rIns="0" bIns="0" rtlCol="0" anchor="t">
            <a:normAutofit/>
          </a:bodyPr>
          <a:lstStyle/>
          <a:p>
            <a:pPr algn="l" indent="0" marL="0">
              <a:lnSpc>
                <a:spcPts val="8000"/>
              </a:lnSpc>
              <a:buNone/>
            </a:pPr>
            <a:r>
              <a:rPr lang="en-US" sz="8000" b="1" i="0" spc="-150" kern="0" dirty="0">
                <a:solidFill>
                  <a:srgbClr val="F3EFE6"/>
                </a:solidFill>
                <a:latin typeface="Archivo" pitchFamily="34" charset="0"/>
                <a:ea typeface="Archivo" pitchFamily="34" charset="-122"/>
                <a:cs typeface="Archivo" pitchFamily="34" charset="-120"/>
              </a:rPr>
              <a:t>One coat.</a:t>
            </a:r>
            <a:endParaRPr lang="en-US" sz="8000" dirty="0"/>
          </a:p>
        </p:txBody>
      </p:sp>
      <p:sp>
        <p:nvSpPr>
          <p:cNvPr id="5" name="Text 2"/>
          <p:cNvSpPr/>
          <p:nvPr/>
        </p:nvSpPr>
        <p:spPr>
          <a:xfrm>
            <a:off x="812800" y="3568750"/>
            <a:ext cx="758698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C4A57A"/>
                </a:solidFill>
                <a:latin typeface="Archivo" pitchFamily="34" charset="0"/>
                <a:ea typeface="Archivo" pitchFamily="34" charset="-122"/>
                <a:cs typeface="Archivo" pitchFamily="34" charset="-120"/>
              </a:rPr>
              <a:t>Every app. Every mission.</a:t>
            </a:r>
            <a:endParaRPr lang="en-US" sz="3600" dirty="0"/>
          </a:p>
        </p:txBody>
      </p:sp>
      <p:sp>
        <p:nvSpPr>
          <p:cNvPr id="6" name="Text 3"/>
          <p:cNvSpPr/>
          <p:nvPr/>
        </p:nvSpPr>
        <p:spPr>
          <a:xfrm>
            <a:off x="812800" y="5496620"/>
            <a:ext cx="75869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EFE6"/>
                </a:solidFill>
                <a:latin typeface="Inter" pitchFamily="34" charset="0"/>
                <a:ea typeface="Inter" pitchFamily="34" charset="-122"/>
                <a:cs typeface="Inter" pitchFamily="34" charset="-120"/>
              </a:rPr>
              <a:t>Adam Z. Stavely, M.S. · Technical Director</a:t>
            </a:r>
            <a:endParaRPr lang="en-US" sz="1600" dirty="0"/>
          </a:p>
        </p:txBody>
      </p:sp>
      <p:sp>
        <p:nvSpPr>
          <p:cNvPr id="7" name="Text 4"/>
          <p:cNvSpPr/>
          <p:nvPr/>
        </p:nvSpPr>
        <p:spPr>
          <a:xfrm>
            <a:off x="812800" y="5831880"/>
            <a:ext cx="75869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4A8"/>
                </a:solidFill>
                <a:latin typeface="JetBrains Mono" pitchFamily="49" charset="0"/>
                <a:ea typeface="JetBrains Mono" pitchFamily="49" charset="-122"/>
                <a:cs typeface="JetBrains Mono" pitchFamily="49" charset="-120"/>
              </a:rPr>
              <a:t>Questions and discussion</a:t>
            </a:r>
            <a:endParaRPr lang="en-US" sz="1200" dirty="0"/>
          </a:p>
        </p:txBody>
      </p:sp>
    </p:spTree>
  </p:cSld>
  <p:clrMapOvr>
    <a:masterClrMapping/>
  </p:clrMapOvr>
</p:sld>
</file>

<file path=ppt/theme/theme1.xml><?xml version="1.0" encoding="utf-8"?>
<a:theme xmlns:a="http://schemas.openxmlformats.org/drawingml/2006/main" name="Trenchcoat Brand Book">
  <a:themeElements>
    <a:clrScheme name="Trenchcoat Brand Book">
      <a:dk1>
        <a:srgbClr val="15181C"/>
      </a:dk1>
      <a:lt1>
        <a:srgbClr val="F3EFE6"/>
      </a:lt1>
      <a:dk2>
        <a:srgbClr val="4D4E4F"/>
      </a:dk2>
      <a:lt2>
        <a:srgbClr val="DDDAD2"/>
      </a:lt2>
      <a:accent1>
        <a:srgbClr val="7A5C30"/>
      </a:accent1>
      <a:accent2>
        <a:srgbClr val="C4A57A"/>
      </a:accent2>
      <a:accent3>
        <a:srgbClr val="2F5FD0"/>
      </a:accent3>
      <a:accent4>
        <a:srgbClr val="C2362B"/>
      </a:accent4>
      <a:accent5>
        <a:srgbClr val="2B4A7E"/>
      </a:accent5>
      <a:accent6>
        <a:srgbClr val="3E6B48"/>
      </a:accent6>
      <a:hlink>
        <a:srgbClr val="0563C1"/>
      </a:hlink>
      <a:folHlink>
        <a:srgbClr val="954F72"/>
      </a:folHlink>
    </a:clrScheme>
    <a:fontScheme name="Trenchcoat Brand Book">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Trenchcoat Brand Book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Archivo
Copyright 2020 The Archivo Project Authors (https://github.com/Omnibus-Type/Archivo)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2026-10-27T12:18:19Z</dcterms:created>
  <dcterms:modified xsi:type="dcterms:W3CDTF">2026-10-27T12:18:19Z</dcterms:modified>
</cp:coreProperties>
</file>